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58" r:id="rId4"/>
    <p:sldId id="260" r:id="rId5"/>
    <p:sldId id="266" r:id="rId6"/>
    <p:sldId id="267" r:id="rId7"/>
    <p:sldId id="262" r:id="rId8"/>
    <p:sldId id="263" r:id="rId9"/>
    <p:sldId id="268" r:id="rId10"/>
    <p:sldId id="269" r:id="rId11"/>
    <p:sldId id="270" r:id="rId12"/>
    <p:sldId id="271" r:id="rId13"/>
    <p:sldId id="273" r:id="rId14"/>
    <p:sldId id="272" r:id="rId15"/>
    <p:sldId id="264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JsF6YUxcF5H5Aw1r24jNpCZVz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D91"/>
    <a:srgbClr val="FFD932"/>
    <a:srgbClr val="D7014D"/>
    <a:srgbClr val="1E3A5F"/>
    <a:srgbClr val="F5F7FA"/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66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04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49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61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41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20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3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45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57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60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77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95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info@ucu.ac.ug" TargetMode="External"/><Relationship Id="rId5" Type="http://schemas.openxmlformats.org/officeDocument/2006/relationships/hyperlink" Target="https://ucu.ac.ug/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>
  <p:cSld name="Last Sli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18"/>
          <p:cNvGrpSpPr/>
          <p:nvPr/>
        </p:nvGrpSpPr>
        <p:grpSpPr>
          <a:xfrm>
            <a:off x="888267" y="4604423"/>
            <a:ext cx="5551131" cy="1360803"/>
            <a:chOff x="3063490" y="4400284"/>
            <a:chExt cx="5551131" cy="1360803"/>
          </a:xfrm>
        </p:grpSpPr>
        <p:grpSp>
          <p:nvGrpSpPr>
            <p:cNvPr id="73" name="Google Shape;73;p18"/>
            <p:cNvGrpSpPr/>
            <p:nvPr/>
          </p:nvGrpSpPr>
          <p:grpSpPr>
            <a:xfrm>
              <a:off x="4215162" y="4400284"/>
              <a:ext cx="4399459" cy="1360286"/>
              <a:chOff x="3595675" y="3836538"/>
              <a:chExt cx="5247402" cy="1632365"/>
            </a:xfrm>
          </p:grpSpPr>
          <p:pic>
            <p:nvPicPr>
              <p:cNvPr id="74" name="Google Shape;74;p18" descr="facebook instagram whatsapp PNG image with transparent background | TOPpng"/>
              <p:cNvPicPr preferRelativeResize="0"/>
              <p:nvPr/>
            </p:nvPicPr>
            <p:blipFill rotWithShape="1">
              <a:blip r:embed="rId2">
                <a:alphaModFix/>
              </a:blip>
              <a:srcRect r="66494" b="67238"/>
              <a:stretch/>
            </p:blipFill>
            <p:spPr>
              <a:xfrm>
                <a:off x="3693167" y="4915321"/>
                <a:ext cx="249211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18" descr="facebook instagram whatsapp PNG image with transparent background | TOPpng"/>
              <p:cNvPicPr preferRelativeResize="0"/>
              <p:nvPr/>
            </p:nvPicPr>
            <p:blipFill rotWithShape="1">
              <a:blip r:embed="rId3">
                <a:alphaModFix/>
              </a:blip>
              <a:srcRect l="67402" b="69905"/>
              <a:stretch/>
            </p:blipFill>
            <p:spPr>
              <a:xfrm>
                <a:off x="3685804" y="5173122"/>
                <a:ext cx="263933" cy="2591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8" descr="Round black telephone logo, Telephone Icon, Phone File, electronics, logo,  black And White png | PNGWi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693167" y="4579064"/>
                <a:ext cx="249209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8"/>
              <p:cNvSpPr txBox="1"/>
              <p:nvPr/>
            </p:nvSpPr>
            <p:spPr>
              <a:xfrm>
                <a:off x="3943860" y="4840719"/>
                <a:ext cx="296423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@ugandachristianuniversity</a:t>
                </a:r>
                <a:endParaRPr sz="1200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8" name="Google Shape;78;p18"/>
              <p:cNvSpPr txBox="1"/>
              <p:nvPr/>
            </p:nvSpPr>
            <p:spPr>
              <a:xfrm>
                <a:off x="6724749" y="4848559"/>
                <a:ext cx="1781016" cy="36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</a:t>
                </a:r>
                <a:r>
                  <a:rPr lang="en-GB" sz="12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UCUniversity</a:t>
                </a:r>
                <a:endParaRPr sz="135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9" name="Google Shape;79;p18"/>
              <p:cNvSpPr txBox="1"/>
              <p:nvPr/>
            </p:nvSpPr>
            <p:spPr>
              <a:xfrm>
                <a:off x="3961223" y="5136500"/>
                <a:ext cx="324006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@UgandaChristianUniversity</a:t>
                </a:r>
                <a:endParaRPr sz="12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0" name="Google Shape;80;p18"/>
              <p:cNvSpPr txBox="1"/>
              <p:nvPr/>
            </p:nvSpPr>
            <p:spPr>
              <a:xfrm>
                <a:off x="3619181" y="4118017"/>
                <a:ext cx="5223896" cy="720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P.O. Box 4 Mukono, Uganda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Tel: 256-312-350800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100"/>
                  <a:buFont typeface="Trebuchet MS"/>
                  <a:buNone/>
                </a:pPr>
                <a:r>
                  <a:rPr lang="en-GB" sz="1100" u="sng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     https://ucu.ac.ug/</a:t>
                </a:r>
                <a:r>
                  <a:rPr lang="en-GB" sz="1100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</a:t>
                </a:r>
                <a:r>
                  <a:rPr lang="en-GB"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  Email: </a:t>
                </a:r>
                <a:r>
                  <a:rPr lang="en-GB" sz="1100" u="sng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info@ucu.ac.ug</a:t>
                </a:r>
                <a:r>
                  <a:rPr lang="en-GB" sz="1100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.   </a:t>
                </a:r>
                <a:endParaRPr/>
              </a:p>
            </p:txBody>
          </p:sp>
          <p:sp>
            <p:nvSpPr>
              <p:cNvPr id="81" name="Google Shape;81;p18"/>
              <p:cNvSpPr txBox="1"/>
              <p:nvPr/>
            </p:nvSpPr>
            <p:spPr>
              <a:xfrm>
                <a:off x="3595675" y="3836538"/>
                <a:ext cx="4174870" cy="4062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1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Uganda Christian University</a:t>
                </a:r>
                <a:endParaRPr sz="16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pic>
            <p:nvPicPr>
              <p:cNvPr id="82" name="Google Shape;82;p18" descr="facebook instagram whatsapp PNG image with transparent background | TOPpng"/>
              <p:cNvPicPr preferRelativeResize="0"/>
              <p:nvPr/>
            </p:nvPicPr>
            <p:blipFill rotWithShape="1">
              <a:blip r:embed="rId3">
                <a:alphaModFix/>
              </a:blip>
              <a:srcRect t="34921" r="64675" b="31937"/>
              <a:stretch/>
            </p:blipFill>
            <p:spPr>
              <a:xfrm>
                <a:off x="6492923" y="4908033"/>
                <a:ext cx="260459" cy="2599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3" name="Google Shape;83;p18"/>
            <p:cNvPicPr preferRelativeResize="0"/>
            <p:nvPr/>
          </p:nvPicPr>
          <p:blipFill rotWithShape="1">
            <a:blip r:embed="rId7">
              <a:alphaModFix/>
            </a:blip>
            <a:srcRect l="4177" t="16271" r="77310" b="16736"/>
            <a:stretch/>
          </p:blipFill>
          <p:spPr>
            <a:xfrm>
              <a:off x="3063490" y="4440462"/>
              <a:ext cx="1197778" cy="1320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Google Shape;84;p18" descr="Red button thank you icon Royalty Free Vector Image"/>
          <p:cNvPicPr preferRelativeResize="0"/>
          <p:nvPr/>
        </p:nvPicPr>
        <p:blipFill rotWithShape="1">
          <a:blip r:embed="rId8">
            <a:alphaModFix/>
          </a:blip>
          <a:srcRect b="13042"/>
          <a:stretch/>
        </p:blipFill>
        <p:spPr>
          <a:xfrm>
            <a:off x="5409985" y="1899157"/>
            <a:ext cx="1825644" cy="17041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8"/>
          <p:cNvGrpSpPr/>
          <p:nvPr/>
        </p:nvGrpSpPr>
        <p:grpSpPr>
          <a:xfrm>
            <a:off x="8223082" y="4505034"/>
            <a:ext cx="4710416" cy="1774757"/>
            <a:chOff x="4261082" y="3159912"/>
            <a:chExt cx="5618294" cy="2129734"/>
          </a:xfrm>
        </p:grpSpPr>
        <p:pic>
          <p:nvPicPr>
            <p:cNvPr id="86" name="Google Shape;86;p18" descr="facebook instagram whatsapp PNG image with transparent background | TOPpng"/>
            <p:cNvPicPr preferRelativeResize="0"/>
            <p:nvPr/>
          </p:nvPicPr>
          <p:blipFill rotWithShape="1">
            <a:blip r:embed="rId2">
              <a:alphaModFix/>
            </a:blip>
            <a:srcRect r="66494" b="67238"/>
            <a:stretch/>
          </p:blipFill>
          <p:spPr>
            <a:xfrm>
              <a:off x="4333142" y="4196730"/>
              <a:ext cx="277638" cy="288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8" descr="Round black telephone logo, Telephone Icon, Phone File, electronics, logo,  black And White png | PNGWi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62423" y="4497666"/>
              <a:ext cx="245303" cy="2550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8"/>
            <p:cNvSpPr txBox="1"/>
            <p:nvPr/>
          </p:nvSpPr>
          <p:spPr>
            <a:xfrm>
              <a:off x="4629313" y="4929543"/>
              <a:ext cx="2964236" cy="360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9" name="Google Shape;89;p18"/>
            <p:cNvSpPr txBox="1"/>
            <p:nvPr/>
          </p:nvSpPr>
          <p:spPr>
            <a:xfrm>
              <a:off x="4547946" y="4468247"/>
              <a:ext cx="1959178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https://cse.ucu.ac.ug/</a:t>
              </a:r>
              <a:endParaRPr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" name="Google Shape;90;p18"/>
            <p:cNvSpPr txBox="1"/>
            <p:nvPr/>
          </p:nvSpPr>
          <p:spPr>
            <a:xfrm>
              <a:off x="6285518" y="4170852"/>
              <a:ext cx="1750610" cy="332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@ucu_ComputEng</a:t>
              </a:r>
              <a:endParaRPr sz="1200">
                <a:solidFill>
                  <a:srgbClr val="0C0C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1" name="Google Shape;91;p18"/>
            <p:cNvSpPr txBox="1"/>
            <p:nvPr/>
          </p:nvSpPr>
          <p:spPr>
            <a:xfrm>
              <a:off x="4547946" y="4152767"/>
              <a:ext cx="1581881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@ucucomputeng</a:t>
              </a:r>
              <a:endParaRPr sz="1100">
                <a:solidFill>
                  <a:srgbClr val="0C0C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4281392" y="3800378"/>
              <a:ext cx="5597984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Tel: +256 (0) 312 350 863 | WhatsApp: +256 (0) 708 114 300</a:t>
              </a:r>
              <a:endParaRPr/>
            </a:p>
          </p:txBody>
        </p:sp>
        <p:sp>
          <p:nvSpPr>
            <p:cNvPr id="93" name="Google Shape;93;p18"/>
            <p:cNvSpPr txBox="1"/>
            <p:nvPr/>
          </p:nvSpPr>
          <p:spPr>
            <a:xfrm>
              <a:off x="4261082" y="3159912"/>
              <a:ext cx="5597985" cy="627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Department of Computing &amp; Technology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C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FACULTY OF ENGINEERING, DESIGN AND TECHNOLOGY</a:t>
              </a:r>
              <a:endParaRPr sz="120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94" name="Google Shape;94;p18" descr="facebook instagram whatsapp PNG image with transparent background | TOPpng"/>
            <p:cNvPicPr preferRelativeResize="0"/>
            <p:nvPr/>
          </p:nvPicPr>
          <p:blipFill rotWithShape="1">
            <a:blip r:embed="rId3">
              <a:alphaModFix/>
            </a:blip>
            <a:srcRect t="34921" r="64675" b="31937"/>
            <a:stretch/>
          </p:blipFill>
          <p:spPr>
            <a:xfrm>
              <a:off x="6070315" y="4226614"/>
              <a:ext cx="301120" cy="3004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8"/>
          <p:cNvSpPr txBox="1"/>
          <p:nvPr/>
        </p:nvSpPr>
        <p:spPr>
          <a:xfrm>
            <a:off x="10081508" y="5598486"/>
            <a:ext cx="200074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E4E79"/>
                </a:solidFill>
                <a:latin typeface="Trebuchet MS"/>
                <a:ea typeface="Trebuchet MS"/>
                <a:cs typeface="Trebuchet MS"/>
                <a:sym typeface="Trebuchet MS"/>
              </a:rPr>
              <a:t>Email: dct-</a:t>
            </a:r>
            <a:r>
              <a:rPr lang="en-GB" sz="11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info@ucu.ac.ug</a:t>
            </a:r>
            <a:endParaRPr sz="11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7631107" y="4473507"/>
            <a:ext cx="634564" cy="1407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8"/>
          <p:cNvCxnSpPr/>
          <p:nvPr/>
        </p:nvCxnSpPr>
        <p:spPr>
          <a:xfrm flipH="1">
            <a:off x="345989" y="4505034"/>
            <a:ext cx="11846011" cy="10501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 rot="5400000">
            <a:off x="3851275" y="-1325561"/>
            <a:ext cx="448945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74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ucu.ac.ug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mailto:info@ucu.ac.ug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76791" y="0"/>
            <a:ext cx="2415209" cy="73588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rgbClr val="1F497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7014D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733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B3D91"/>
              </a:buClr>
              <a:buSzPts val="228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8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2918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584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2689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931"/>
              </a:buClr>
              <a:buSzPts val="1548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Google Shape;14;p10"/>
          <p:cNvSpPr/>
          <p:nvPr/>
        </p:nvSpPr>
        <p:spPr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/>
          <p:nvPr/>
        </p:nvSpPr>
        <p:spPr>
          <a:xfrm>
            <a:off x="2116899" y="6356350"/>
            <a:ext cx="75174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u="none" strike="noStrike" cap="none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rPr>
              <a:t>A Complete Education for A Complete Person</a:t>
            </a:r>
            <a:b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P.O. Box 4, Mukono, Uganda, Plot 67-173, Bishop Tucker Road, Mukono Hill | Tel: +256 (0) 312 350 800 Email: 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info@ucu.ac.ug</a:t>
            </a:r>
            <a:r>
              <a:rPr lang="en-GB" sz="700" b="0" i="0" u="none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Web: 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ucu.ac.ug</a:t>
            </a:r>
            <a:endParaRPr sz="700" b="0" i="0" u="sng" strike="noStrike" cap="non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Founded by the Province of the Church of Uganda. Chartered by the Government of Uganda</a:t>
            </a:r>
            <a:endParaRPr sz="65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9" name="Google Shape;19;p10"/>
          <p:cNvCxnSpPr/>
          <p:nvPr/>
        </p:nvCxnSpPr>
        <p:spPr>
          <a:xfrm>
            <a:off x="0" y="6395027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70167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" name="Google Shape;20;p10"/>
          <p:cNvPicPr preferRelativeResize="0"/>
          <p:nvPr/>
        </p:nvPicPr>
        <p:blipFill rotWithShape="1">
          <a:blip r:embed="rId14">
            <a:alphaModFix/>
          </a:blip>
          <a:srcRect b="42643"/>
          <a:stretch/>
        </p:blipFill>
        <p:spPr>
          <a:xfrm>
            <a:off x="0" y="5412967"/>
            <a:ext cx="1162289" cy="14450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>
            <a:spLocks noGrp="1"/>
          </p:cNvSpPr>
          <p:nvPr>
            <p:ph type="subTitle" idx="1"/>
          </p:nvPr>
        </p:nvSpPr>
        <p:spPr>
          <a:xfrm>
            <a:off x="1543928" y="4304301"/>
            <a:ext cx="9144000" cy="4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dirty="0"/>
              <a:t>Thesis Defence</a:t>
            </a:r>
          </a:p>
        </p:txBody>
      </p:sp>
      <p:sp>
        <p:nvSpPr>
          <p:cNvPr id="128" name="Google Shape;128;p1"/>
          <p:cNvSpPr txBox="1"/>
          <p:nvPr/>
        </p:nvSpPr>
        <p:spPr>
          <a:xfrm>
            <a:off x="956603" y="5261318"/>
            <a:ext cx="4206240" cy="1110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956603" y="5359603"/>
            <a:ext cx="4121583" cy="83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rPr lang="en-US" sz="1800" b="0" u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Galiwango Charles Jovans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rPr lang="en-US" sz="1800" b="0" u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J24M19/002, MSDS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Trebuchet MS"/>
              <a:buNone/>
            </a:pPr>
            <a:r>
              <a:rPr lang="en-GB" sz="1400" b="1" u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Computing &amp; Technology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Trebuchet MS"/>
              <a:buNone/>
            </a:pPr>
            <a:r>
              <a:rPr lang="en-GB" sz="1400" b="0" u="none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Faculty of Engineering, Design &amp; Technology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1" y="1941341"/>
            <a:ext cx="12191999" cy="2053883"/>
          </a:xfrm>
          <a:prstGeom prst="rect">
            <a:avLst/>
          </a:prstGeom>
          <a:solidFill>
            <a:srgbClr val="0A3D91"/>
          </a:solidFill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endParaRPr sz="2800" b="0" u="none">
              <a:solidFill>
                <a:srgbClr val="FFFF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0" y="2337033"/>
            <a:ext cx="12191999" cy="889481"/>
          </a:xfrm>
          <a:prstGeom prst="rect">
            <a:avLst/>
          </a:prstGeom>
          <a:noFill/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</a:pPr>
            <a:endParaRPr lang="en-US" sz="3600" b="0" u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</a:pPr>
            <a:r>
              <a:rPr lang="en-US" sz="3600" b="0" u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 Predictive Model for Identifying At-Risk Pupils and Recommending Support Strategies: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</a:pPr>
            <a:r>
              <a:rPr lang="en-US" sz="2800" b="0" u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 Case Study of Primary Schools in Mukono District, Uganda </a:t>
            </a:r>
          </a:p>
        </p:txBody>
      </p:sp>
      <p:sp>
        <p:nvSpPr>
          <p:cNvPr id="133" name="Google Shape;133;p1"/>
          <p:cNvSpPr txBox="1"/>
          <p:nvPr/>
        </p:nvSpPr>
        <p:spPr>
          <a:xfrm>
            <a:off x="9656407" y="5971302"/>
            <a:ext cx="2535593" cy="4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Trebuchet MS"/>
              <a:buNone/>
            </a:pPr>
            <a:r>
              <a:rPr lang="en-GB" sz="1600" b="0" u="none" dirty="0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Mon 11</a:t>
            </a:r>
            <a:r>
              <a:rPr lang="en-GB" sz="1600" b="0" u="none" baseline="30000" dirty="0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th</a:t>
            </a:r>
            <a:r>
              <a:rPr lang="en-GB" sz="1600" b="0" u="none" dirty="0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May 202</a:t>
            </a:r>
            <a:r>
              <a:rPr lang="en-GB" sz="1600" dirty="0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48B89D3B-10DD-7806-719A-68BFDC4DDCBA}"/>
              </a:ext>
            </a:extLst>
          </p:cNvPr>
          <p:cNvSpPr/>
          <p:nvPr/>
        </p:nvSpPr>
        <p:spPr>
          <a:xfrm>
            <a:off x="6495369" y="2321107"/>
            <a:ext cx="5053421" cy="3369129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319768" y="357595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7913" y="2276475"/>
            <a:ext cx="5053421" cy="3369129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0565" y="2242729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Uganda's Education Challenge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7183" y="2724870"/>
            <a:ext cx="4754880" cy="2659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91% enrolment rate since the introduction of Uganda Primary Leaving Education
</a:t>
            </a:r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867" b="1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60%</a:t>
            </a:r>
            <a:r>
              <a:rPr lang="en-US" sz="18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 of the pupils fail to complete P.7
</a:t>
            </a:r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8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P4 to P6 identified as critical risk period
</a:t>
            </a:r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867" b="1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Only 42.7%</a:t>
            </a:r>
            <a:r>
              <a:rPr lang="en-US" sz="18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 achieve literacy proficiency</a:t>
            </a:r>
          </a:p>
          <a:p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8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Only 58% achieve numeracy proficiency</a:t>
            </a:r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17287" y="2242729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93909" y="2714215"/>
            <a:ext cx="4876799" cy="2920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Schools identify struggling pupils after failure</a:t>
            </a:r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8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No structured early warning systems in place</a:t>
            </a:r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8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Existing tools lack predictive capability</a:t>
            </a:r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8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Limited Machine Learning(ML) research in Ugandan primary schools</a:t>
            </a:r>
            <a:endParaRPr lang="en-US" sz="1867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50819" y="6072322"/>
            <a:ext cx="98903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Sources: (Uganda Bureau of Statistics, 2023), MoES (2023), (Uganda National Examinations Board, 2023) NAPE Report (2023)</a:t>
            </a:r>
            <a:endParaRPr lang="en-US" sz="1333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4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236" y="243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0972800" cy="1706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853440" y="1341120"/>
            <a:ext cx="1048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Despite Uganda's 91% primary school enrolment rate (MoES, 2023), 60% of pupils fail to complete Primary 7 (National Planning Authority, 2025), particularly during the critical P4-P6 years. Schools detect failure only after it occurs, with no proactive system to identify at-risk pupils early enough for effective intervention.</a:t>
            </a:r>
            <a:endParaRPr lang="en-US" sz="2000" dirty="0">
              <a:latin typeface="Trebuchet MS" panose="020B06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31699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Research Gaps Addressed</a:t>
            </a:r>
            <a:endParaRPr lang="en-US" sz="2667" dirty="0">
              <a:latin typeface="Trebuchet MS" panose="020B0603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3901440"/>
            <a:ext cx="3535680" cy="24384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4023360"/>
            <a:ext cx="487680" cy="48768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67" dirty="0">
              <a:latin typeface="Trebuchet MS" panose="020B0603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1120" y="402336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Geographical Gap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46329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Limited ML models exist for Ugandan primary schools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28160" y="3901440"/>
            <a:ext cx="3535680" cy="24384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50080" y="4023360"/>
            <a:ext cx="487680" cy="48768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67" dirty="0">
              <a:latin typeface="Trebuchet MS" panose="020B0603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59680" y="402336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Practical Utility Gap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50080" y="46329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Focus on accuracy metrics over teacher usability and interpretability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3901440"/>
            <a:ext cx="3535680" cy="24384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68640" y="4023360"/>
            <a:ext cx="487680" cy="48768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67" dirty="0">
              <a:latin typeface="Trebuchet MS" panose="020B0603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78240" y="402336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Implementation Gap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68640" y="46329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Predictions rarely linked to actionable intervention strategies</a:t>
            </a:r>
            <a:endParaRPr lang="en-US" sz="1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54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0315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Research Objectives &amp; Questions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58240"/>
            <a:ext cx="1097280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19200"/>
            <a:ext cx="104851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Main Objective: Develop a predictive model that identifies academically at-risk pupils and informs support strategies in primary schools </a:t>
            </a:r>
            <a:endParaRPr lang="en-US" sz="2000" dirty="0">
              <a:latin typeface="Trebuchet MS" panose="020B0603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2560320"/>
            <a:ext cx="5486400" cy="609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2560320"/>
            <a:ext cx="5486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Specific Objective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0" y="2560320"/>
            <a:ext cx="5486400" cy="609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0" y="2560320"/>
            <a:ext cx="5486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3169920"/>
            <a:ext cx="5486400" cy="10972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30880"/>
            <a:ext cx="52425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1. Identify key indicators and risk factors for academic vulnerability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0" y="3169920"/>
            <a:ext cx="54864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230880"/>
            <a:ext cx="52425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What are the key indicators and risk factors that can reliably predict academic vulnerability among pupils?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4267200"/>
            <a:ext cx="54864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28160"/>
            <a:ext cx="52425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2. Evaluate, compare, and validate the performance of predictive modeling approaches for detecting at-risk pupils.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0" y="4267200"/>
            <a:ext cx="5486400" cy="10972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4328160"/>
            <a:ext cx="52425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Which predictive modeling approach most accurately and reliably identifies at-risk pupils, and how does it perform upon validation?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5364480"/>
            <a:ext cx="5486400" cy="10972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425440"/>
            <a:ext cx="52425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3. Propose evidence-based support strategies aligned with the model’s outputs for timely and targeted intervention.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0" y="5364480"/>
            <a:ext cx="54864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5425440"/>
            <a:ext cx="52425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How can the model’s outputs be used to inform practical support strategies for at-risk pupils?</a:t>
            </a:r>
            <a:endParaRPr lang="en-US" sz="1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486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4" y="289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Early Warning Systems in Education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645920"/>
            <a:ext cx="5364480" cy="17068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2480" y="1767840"/>
            <a:ext cx="5059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467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Herodotou et al. (2019): </a:t>
            </a:r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Predictive analytics in Open University UK improved student retention</a:t>
            </a:r>
            <a:endParaRPr lang="en-US" sz="1467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67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Gottfried (2019): </a:t>
            </a:r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Chronic absenteeism linked to academic disengagement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0" y="115824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ML for Dropout Prediction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64480" cy="17068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686950"/>
            <a:ext cx="5364480" cy="1665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Mnyawami et al. (2022): </a:t>
            </a:r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AutoML achieved 99.8% accuracy in Tanzania</a:t>
            </a:r>
            <a:endParaRPr lang="en-US" sz="1467" dirty="0">
              <a:latin typeface="Trebuchet MS" panose="020B0603020202020204" pitchFamily="34" charset="0"/>
            </a:endParaRPr>
          </a:p>
          <a:p>
            <a:r>
              <a:rPr lang="en-US" sz="1467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Krüger et al. (2023): </a:t>
            </a:r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Explainable ML in Brazil; AUC-PR 89.5%</a:t>
            </a:r>
          </a:p>
          <a:p>
            <a:r>
              <a:rPr lang="en-US" sz="1467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67" b="1" dirty="0">
                <a:latin typeface="Trebuchet MS" panose="020B0603020202020204" pitchFamily="34" charset="0"/>
              </a:rPr>
              <a:t>Khatun et al. (2025): </a:t>
            </a:r>
            <a:r>
              <a:rPr lang="en-US" sz="1467" dirty="0">
                <a:latin typeface="Trebuchet MS" panose="020B0603020202020204" pitchFamily="34" charset="0"/>
              </a:rPr>
              <a:t>XGBoost achieved 94.4% in Bangladesh but required post-hoc SHAP/LIME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353568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Studies in African Context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600" y="4023360"/>
            <a:ext cx="5364480" cy="17068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2480" y="4145280"/>
            <a:ext cx="5059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467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Ahmed &amp; Warsame (2024): </a:t>
            </a:r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Random Forest for Somaliland (secondary level), 95% accuracy</a:t>
            </a:r>
            <a:endParaRPr lang="en-US" sz="1467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67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Alfred et al. (2023): </a:t>
            </a:r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Trend analysis of PLE in Kiryandongo, Uganda (descriptive, not predictive)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353568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Gaps Identified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64480" cy="17068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145280"/>
            <a:ext cx="5059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1. Limited ML models for Ugandan PRIMARY schools 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2. Focus on accuracy over teacher interpretability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3. Predictions not linked to actionable interventions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185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317674"/>
            <a:ext cx="4325814" cy="28768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4548" y="1176998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2133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102" y="1720949"/>
            <a:ext cx="4051494" cy="2173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This study adopted an explanatory sequential mixed-methods design (Creswell &amp; Plano Clark, 2018).</a:t>
            </a:r>
          </a:p>
          <a:p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467" b="1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Phase 1: Quantitative Data</a:t>
            </a:r>
            <a:endParaRPr lang="en-US" sz="1467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Collected from pupil academic records.</a:t>
            </a:r>
          </a:p>
          <a:p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467" b="1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Phase 2: Qualitative Data</a:t>
            </a:r>
            <a:endParaRPr lang="en-US" sz="1467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Gathered through semi-structured interviews with teachers and school administrators 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66956" y="1233267"/>
            <a:ext cx="3219160" cy="26822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11040" y="1240302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Sampling Strategy</a:t>
            </a:r>
            <a:endParaRPr lang="en-US" sz="2133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06814" y="1788942"/>
            <a:ext cx="3179302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409 pupils from Primary 4 to Primary 6
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2 schools in Mukono District
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10 teachers/administrators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7258" y="1207476"/>
            <a:ext cx="3964742" cy="30503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86800" y="1125413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133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7258" y="1481796"/>
            <a:ext cx="3964742" cy="2661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Chi-square tests for categorical associations, ANOVA for continuous variables,</a:t>
            </a:r>
          </a:p>
          <a:p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Compared four machine learning algorithms, and Applied SHAP for model interpretation.</a:t>
            </a:r>
          </a:p>
          <a:p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</a:rPr>
              <a:t>Qualitative Data was analysed using Braun and Clarke's (2006) six-phase thematic analysis. 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4257822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Variables Analysed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" y="4754880"/>
            <a:ext cx="2682240" cy="426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475488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467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5242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Attendance, Homework Completion rate, Disciplinary issues</a:t>
            </a:r>
            <a:endParaRPr lang="en-US" sz="1333" dirty="0">
              <a:latin typeface="Trebuchet MS" panose="020B0603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74720" y="4754880"/>
            <a:ext cx="2682240" cy="426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475488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467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35680" y="519097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Age, Gender, Class level, Day/boarding status</a:t>
            </a:r>
            <a:endParaRPr lang="en-US" sz="1333" dirty="0">
              <a:latin typeface="Trebuchet MS" panose="020B0603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4754880"/>
            <a:ext cx="2682240" cy="426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6339840" y="475488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Socioeconomic</a:t>
            </a:r>
            <a:endParaRPr lang="en-US" sz="1467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5242560"/>
            <a:ext cx="2560320" cy="862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Family income level categorized as low, middle, or high</a:t>
            </a:r>
            <a:endParaRPr lang="en-US" sz="1333" dirty="0">
              <a:latin typeface="Trebuchet MS" panose="020B0603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04960" y="4754880"/>
            <a:ext cx="2682240" cy="426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9204960" y="4754880"/>
            <a:ext cx="26822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67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265920" y="5242560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Academic Risk Status (Yes/No)</a:t>
            </a:r>
            <a:endParaRPr lang="en-US" sz="1333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56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Machine Learning Pipeline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19200" y="1341120"/>
            <a:ext cx="609600" cy="6096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1219200" y="140208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>
              <a:latin typeface="Trebuchet MS" panose="020B06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011680"/>
            <a:ext cx="1828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438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Standardisation,</a:t>
            </a:r>
            <a:endParaRPr lang="en-US" sz="1200" dirty="0">
              <a:latin typeface="Trebuchet MS" panose="020B0603020202020204" pitchFamily="34" charset="0"/>
            </a:endParaRPr>
          </a:p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108960" y="1341120"/>
            <a:ext cx="609600" cy="6096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40208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 dirty="0">
              <a:latin typeface="Trebuchet MS" panose="020B0603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37858" y="2042160"/>
            <a:ext cx="1828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80560" y="2438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SMOTE on</a:t>
            </a:r>
            <a:endParaRPr lang="en-US" sz="1200" dirty="0">
              <a:latin typeface="Trebuchet MS" panose="020B0603020202020204" pitchFamily="34" charset="0"/>
            </a:endParaRPr>
          </a:p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training data only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98720" y="1341120"/>
            <a:ext cx="609600" cy="6096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4998720" y="140208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 dirty="0">
              <a:latin typeface="Trebuchet MS" panose="020B0603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99360" y="2042160"/>
            <a:ext cx="1828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65862" y="2407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70% train</a:t>
            </a:r>
            <a:endParaRPr lang="en-US" sz="1200" dirty="0">
              <a:latin typeface="Trebuchet MS" panose="020B0603020202020204" pitchFamily="34" charset="0"/>
            </a:endParaRPr>
          </a:p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15% val / 15% test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88480" y="1341120"/>
            <a:ext cx="609600" cy="6096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888480" y="140208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33" dirty="0">
              <a:latin typeface="Trebuchet MS" panose="020B0603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78880" y="2011680"/>
            <a:ext cx="1828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78880" y="2438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4 algorithms</a:t>
            </a:r>
            <a:endParaRPr lang="en-US" sz="1200" dirty="0">
              <a:latin typeface="Trebuchet MS" panose="020B0603020202020204" pitchFamily="34" charset="0"/>
            </a:endParaRPr>
          </a:p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778240" y="1341120"/>
            <a:ext cx="609600" cy="6096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0" y="140208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33" dirty="0">
              <a:latin typeface="Trebuchet MS" panose="020B0603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68640" y="2011680"/>
            <a:ext cx="1828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168640" y="2438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GridSearchCV,</a:t>
            </a:r>
            <a:endParaRPr lang="en-US" sz="1200" dirty="0">
              <a:latin typeface="Trebuchet MS" panose="020B0603020202020204" pitchFamily="34" charset="0"/>
            </a:endParaRPr>
          </a:p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668000" y="1341120"/>
            <a:ext cx="609600" cy="6096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0" y="140208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133" dirty="0">
              <a:latin typeface="Trebuchet MS" panose="020B0603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058400" y="2011680"/>
            <a:ext cx="1828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E3A5F"/>
                </a:solidFill>
                <a:latin typeface="Trebuchet MS" panose="020B0603020202020204" pitchFamily="34" charset="0"/>
                <a:cs typeface="Calibri" pitchFamily="34" charset="-120"/>
              </a:rPr>
              <a:t>Evaluation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058400" y="2438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cs typeface="Calibri" pitchFamily="34" charset="-120"/>
              </a:rPr>
              <a:t>Recall, F1 Score, ROC AUC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9600" y="34137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Models Compared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9600" y="4023360"/>
            <a:ext cx="2682240" cy="2316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9600" y="4023360"/>
            <a:ext cx="26822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609600" y="402336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1520" y="469392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Foundational baseline in EDM due to transparency (Seo et al., 2024; Ahmed &amp; Warsame, 2024)</a:t>
            </a:r>
            <a:endParaRPr lang="en-US" sz="1333" dirty="0">
              <a:latin typeface="Trebuchet MS" panose="020B0603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474720" y="4023360"/>
            <a:ext cx="2682240" cy="2316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0" y="4023360"/>
            <a:ext cx="26822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0" y="402336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596640" y="469392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Handles non-linear relationships with feature importance (</a:t>
            </a:r>
            <a:r>
              <a:rPr lang="en-US" sz="1333" dirty="0" err="1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Mnyawami</a:t>
            </a:r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 et al., 2022)</a:t>
            </a:r>
            <a:endParaRPr lang="en-US" sz="1333" dirty="0">
              <a:latin typeface="Trebuchet MS" panose="020B0603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39840" y="4023360"/>
            <a:ext cx="2682240" cy="2316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39840" y="4023360"/>
            <a:ext cx="26822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6339840" y="402336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61760" y="469392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State-of-the-art for tabular data classification (Khatun et al., 2025; Krüger et al., 2023</a:t>
            </a:r>
            <a:endParaRPr lang="en-US" sz="1333" dirty="0">
              <a:latin typeface="Trebuchet MS" panose="020B0603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204960" y="4023360"/>
            <a:ext cx="2682240" cy="2316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204960" y="4023360"/>
            <a:ext cx="26822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9204960" y="402336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326880" y="469392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Effective in high-dimensional spaces (Villar &amp; de Andrade, 2024)</a:t>
            </a:r>
            <a:endParaRPr lang="en-US" sz="1333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88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57" y="36576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Results: Key Risk Indicators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63200" y="780777"/>
            <a:ext cx="1828800" cy="48768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6291" y="4708800"/>
            <a:ext cx="78864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Non-Significant Factors (p &gt; 0.05): </a:t>
            </a: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Gender (χ²=0.12, p=0.728) • Class Level (χ²=0.24, p=0.886) • Age (F=0.09, p=0.763)</a:t>
            </a:r>
            <a:endParaRPr lang="en-US" sz="16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6"/>
          <p:cNvSpPr/>
          <p:nvPr/>
        </p:nvSpPr>
        <p:spPr>
          <a:xfrm>
            <a:off x="1086121" y="5180239"/>
            <a:ext cx="10911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Key Finding:</a:t>
            </a:r>
          </a:p>
          <a:p>
            <a:r>
              <a:rPr lang="en-US" sz="1800" b="1" dirty="0">
                <a:solidFill>
                  <a:schemeClr val="tx1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Behavioural indicators (discipline, attendance, homework) were identified as key risk factors</a:t>
            </a:r>
            <a:endParaRPr lang="en-US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AFBF26-807C-C785-D787-40A20E118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28626"/>
              </p:ext>
            </p:extLst>
          </p:nvPr>
        </p:nvGraphicFramePr>
        <p:xfrm>
          <a:off x="530951" y="1820170"/>
          <a:ext cx="8151767" cy="2032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89860">
                  <a:extLst>
                    <a:ext uri="{9D8B030D-6E8A-4147-A177-3AD203B41FA5}">
                      <a16:colId xmlns:a16="http://schemas.microsoft.com/office/drawing/2014/main" val="1104331506"/>
                    </a:ext>
                  </a:extLst>
                </a:gridCol>
                <a:gridCol w="1787978">
                  <a:extLst>
                    <a:ext uri="{9D8B030D-6E8A-4147-A177-3AD203B41FA5}">
                      <a16:colId xmlns:a16="http://schemas.microsoft.com/office/drawing/2014/main" val="1714292629"/>
                    </a:ext>
                  </a:extLst>
                </a:gridCol>
                <a:gridCol w="2122715">
                  <a:extLst>
                    <a:ext uri="{9D8B030D-6E8A-4147-A177-3AD203B41FA5}">
                      <a16:colId xmlns:a16="http://schemas.microsoft.com/office/drawing/2014/main" val="2594790168"/>
                    </a:ext>
                  </a:extLst>
                </a:gridCol>
                <a:gridCol w="1551214">
                  <a:extLst>
                    <a:ext uri="{9D8B030D-6E8A-4147-A177-3AD203B41FA5}">
                      <a16:colId xmlns:a16="http://schemas.microsoft.com/office/drawing/2014/main" val="128510968"/>
                    </a:ext>
                  </a:extLst>
                </a:gridCol>
              </a:tblGrid>
              <a:tr h="3371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dirty="0">
                          <a:effectLst/>
                        </a:rPr>
                        <a:t>Factor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dirty="0">
                          <a:effectLst/>
                        </a:rPr>
                        <a:t>At-Risk Pupils (n=35)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dirty="0">
                          <a:effectLst/>
                        </a:rPr>
                        <a:t>Not-At-Risk Pupils (n=374)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Test Statistic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315502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Average Academic Score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41.2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69.1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Δ = 27.9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points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958057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Attendance Rate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62.3%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86.7%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Δ = 24.4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pp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8060632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Homework Completion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3.2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4.0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Δ = 0.8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8418887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Disciplinary Record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28.6%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0.8%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χ²=71.4,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p&lt;0.001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0019009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Low-Income Households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48.6%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30.8%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χ²=10.2,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p=0.006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450804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8256A8B-125C-FA1D-43E8-F31DA5E1531C}"/>
              </a:ext>
            </a:extLst>
          </p:cNvPr>
          <p:cNvSpPr txBox="1"/>
          <p:nvPr/>
        </p:nvSpPr>
        <p:spPr>
          <a:xfrm>
            <a:off x="763633" y="4021830"/>
            <a:ext cx="80088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3A5F"/>
                </a:solidFill>
                <a:latin typeface="Trebuchet MS" panose="020B0603020202020204" pitchFamily="34" charset="0"/>
              </a:rPr>
              <a:t>Strongest Predictor: </a:t>
            </a:r>
            <a:r>
              <a:rPr lang="en-US" dirty="0">
                <a:latin typeface="Trebuchet MS" panose="020B0603020202020204" pitchFamily="34" charset="0"/>
              </a:rPr>
              <a:t>At-risk pupils were 35× more likely to have disciplinary issues than their peers</a:t>
            </a:r>
          </a:p>
        </p:txBody>
      </p:sp>
    </p:spTree>
    <p:extLst>
      <p:ext uri="{BB962C8B-B14F-4D97-AF65-F5344CB8AC3E}">
        <p14:creationId xmlns:p14="http://schemas.microsoft.com/office/powerpoint/2010/main" val="1515559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90965"/>
            <a:ext cx="750297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Results: Model Performance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63200" y="833868"/>
            <a:ext cx="1828800" cy="48768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028371"/>
              </p:ext>
            </p:extLst>
          </p:nvPr>
        </p:nvGraphicFramePr>
        <p:xfrm>
          <a:off x="387762" y="2267522"/>
          <a:ext cx="6717212" cy="18540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75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Model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Recall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ROC-AUC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Accuracy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Logistic Regression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0.60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0.821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0.79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6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Random Forest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0.00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0.671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0.84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XGBoost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0.00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0.596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0.85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5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SVM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0.20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0.650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0.84</a:t>
                      </a:r>
                      <a:endParaRPr lang="en-US" sz="1600" dirty="0">
                        <a:latin typeface="Trebuchet MS" panose="020B0603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92086" y="1764323"/>
            <a:ext cx="3779520" cy="2260209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BDB533-CF08-4764-CEAE-230516591001}"/>
              </a:ext>
            </a:extLst>
          </p:cNvPr>
          <p:cNvGrpSpPr/>
          <p:nvPr/>
        </p:nvGrpSpPr>
        <p:grpSpPr>
          <a:xfrm>
            <a:off x="8192086" y="1979442"/>
            <a:ext cx="3779520" cy="1706880"/>
            <a:chOff x="7680960" y="1219200"/>
            <a:chExt cx="3779520" cy="1706880"/>
          </a:xfrm>
        </p:grpSpPr>
        <p:sp>
          <p:nvSpPr>
            <p:cNvPr id="6" name="Text 3"/>
            <p:cNvSpPr/>
            <p:nvPr/>
          </p:nvSpPr>
          <p:spPr>
            <a:xfrm>
              <a:off x="7680960" y="1219200"/>
              <a:ext cx="3779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800" b="1" dirty="0">
                  <a:solidFill>
                    <a:srgbClr val="1E3A5F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Final Model – Tuned Logistic Regression (Test Set)</a:t>
              </a:r>
            </a:p>
          </p:txBody>
        </p:sp>
        <p:sp>
          <p:nvSpPr>
            <p:cNvPr id="7" name="Text 4"/>
            <p:cNvSpPr/>
            <p:nvPr/>
          </p:nvSpPr>
          <p:spPr>
            <a:xfrm>
              <a:off x="7680960" y="1950720"/>
              <a:ext cx="182880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3733" b="1" dirty="0">
                  <a:solidFill>
                    <a:schemeClr val="tx1"/>
                  </a:solidFill>
                  <a:latin typeface="Trebuchet MS" panose="020B0603020202020204" pitchFamily="34" charset="0"/>
                  <a:ea typeface="Georgia" pitchFamily="34" charset="-122"/>
                  <a:cs typeface="Georgia" pitchFamily="34" charset="-120"/>
                </a:rPr>
                <a:t>0.833</a:t>
              </a:r>
              <a:endParaRPr lang="en-US" sz="3733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7680960" y="256032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67" dirty="0">
                  <a:solidFill>
                    <a:srgbClr val="1E3A5F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Recall</a:t>
              </a:r>
              <a:endParaRPr lang="en-US" sz="1467" dirty="0">
                <a:solidFill>
                  <a:srgbClr val="1E3A5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9631680" y="1950720"/>
              <a:ext cx="182880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3733" b="1" dirty="0">
                  <a:solidFill>
                    <a:schemeClr val="tx1"/>
                  </a:solidFill>
                  <a:latin typeface="Trebuchet MS" panose="020B0603020202020204" pitchFamily="34" charset="0"/>
                  <a:ea typeface="Georgia" pitchFamily="34" charset="-122"/>
                  <a:cs typeface="Georgia" pitchFamily="34" charset="-120"/>
                </a:rPr>
                <a:t>0.941</a:t>
              </a:r>
              <a:endParaRPr lang="en-US" sz="3733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4" name="Text 7"/>
            <p:cNvSpPr/>
            <p:nvPr/>
          </p:nvSpPr>
          <p:spPr>
            <a:xfrm>
              <a:off x="9631680" y="256032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67" dirty="0">
                  <a:solidFill>
                    <a:srgbClr val="1E3A5F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ROC-AUC</a:t>
              </a:r>
              <a:endParaRPr lang="en-US" sz="1467" dirty="0">
                <a:solidFill>
                  <a:srgbClr val="1E3A5F"/>
                </a:solidFill>
                <a:latin typeface="Trebuchet MS" panose="020B0603020202020204" pitchFamily="34" charset="0"/>
              </a:endParaRPr>
            </a:p>
          </p:txBody>
        </p:sp>
      </p:grpSp>
      <p:sp>
        <p:nvSpPr>
          <p:cNvPr id="11" name="Text 8"/>
          <p:cNvSpPr/>
          <p:nvPr/>
        </p:nvSpPr>
        <p:spPr>
          <a:xfrm>
            <a:off x="609600" y="39014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98121" y="4438814"/>
            <a:ext cx="7670346" cy="18513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Why Logistic Regression?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 Highest recall: </a:t>
            </a:r>
            <a:r>
              <a:rPr lang="en-US" sz="18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catches the most at-risk pupils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 Interpretable: </a:t>
            </a:r>
            <a:r>
              <a:rPr lang="en-US" sz="18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teachers can understand WHY a pupil was flagged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 Ethical choice: </a:t>
            </a:r>
            <a:r>
              <a:rPr lang="en-US" sz="18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missing a struggling pupil is worse than a false alarm</a:t>
            </a:r>
            <a:endParaRPr lang="en-US" sz="1800" dirty="0">
              <a:latin typeface="Trebuchet MS" panose="020B06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EBDD9B-9BA6-7832-0C0A-698F8591C87B}"/>
              </a:ext>
            </a:extLst>
          </p:cNvPr>
          <p:cNvSpPr txBox="1"/>
          <p:nvPr/>
        </p:nvSpPr>
        <p:spPr>
          <a:xfrm>
            <a:off x="172022" y="1794776"/>
            <a:ext cx="5502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dirty="0">
                <a:latin typeface="Trebuchet MS" panose="020B0603020202020204" pitchFamily="34" charset="0"/>
              </a:rPr>
              <a:t>Comparative Model Performance (Validation Set)</a:t>
            </a:r>
            <a:endParaRPr lang="en-US" sz="1800" b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892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5350"/>
            <a:ext cx="915488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Results: Feature Importance (SHAP)</a:t>
            </a:r>
            <a:endParaRPr lang="en-US" sz="4000" dirty="0">
              <a:latin typeface="Trebuchet MS" panose="020B0603020202020204" pitchFamily="34" charset="0"/>
            </a:endParaRPr>
          </a:p>
        </p:txBody>
      </p:sp>
      <p:pic>
        <p:nvPicPr>
          <p:cNvPr id="23" name="image2.png">
            <a:extLst>
              <a:ext uri="{FF2B5EF4-FFF2-40B4-BE49-F238E27FC236}">
                <a16:creationId xmlns:a16="http://schemas.microsoft.com/office/drawing/2014/main" id="{6B3518DD-C5C9-D9D2-F68C-A50DCFD5D34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6701" y="1751240"/>
            <a:ext cx="5624216" cy="4137786"/>
          </a:xfrm>
          <a:prstGeom prst="rect">
            <a:avLst/>
          </a:prstGeom>
          <a:ln/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37B28C-4745-563F-808D-71F7FBAB5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234004"/>
              </p:ext>
            </p:extLst>
          </p:nvPr>
        </p:nvGraphicFramePr>
        <p:xfrm>
          <a:off x="5856314" y="4390467"/>
          <a:ext cx="6289031" cy="121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2422">
                  <a:extLst>
                    <a:ext uri="{9D8B030D-6E8A-4147-A177-3AD203B41FA5}">
                      <a16:colId xmlns:a16="http://schemas.microsoft.com/office/drawing/2014/main" val="1444366933"/>
                    </a:ext>
                  </a:extLst>
                </a:gridCol>
                <a:gridCol w="3645353">
                  <a:extLst>
                    <a:ext uri="{9D8B030D-6E8A-4147-A177-3AD203B41FA5}">
                      <a16:colId xmlns:a16="http://schemas.microsoft.com/office/drawing/2014/main" val="80655343"/>
                    </a:ext>
                  </a:extLst>
                </a:gridCol>
                <a:gridCol w="1231256">
                  <a:extLst>
                    <a:ext uri="{9D8B030D-6E8A-4147-A177-3AD203B41FA5}">
                      <a16:colId xmlns:a16="http://schemas.microsoft.com/office/drawing/2014/main" val="2044902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rebuchet MS" panose="020B0603020202020204" pitchFamily="34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rebuchet MS" panose="020B0603020202020204" pitchFamily="34" charset="0"/>
                        </a:rPr>
                        <a:t>Top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rebuchet MS" panose="020B0603020202020204" pitchFamily="34" charset="0"/>
                        </a:rPr>
                        <a:t>Influence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983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rebuchet MS" panose="020B0603020202020204" pitchFamily="34" charset="0"/>
                        </a:rPr>
                        <a:t>Behavioural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rebuchet MS" panose="020B0603020202020204" pitchFamily="34" charset="0"/>
                        </a:rPr>
                        <a:t>Disciplinary Issues, Homework, 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rebuchet MS" panose="020B0603020202020204" pitchFamily="34" charset="0"/>
                        </a:rPr>
                        <a:t>Highest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385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rebuchet MS" panose="020B0603020202020204" pitchFamily="34" charset="0"/>
                        </a:rPr>
                        <a:t>Socioeconomic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rebuchet MS" panose="020B0603020202020204" pitchFamily="34" charset="0"/>
                        </a:rPr>
                        <a:t>Family Income, Day/Boarding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rebuchet MS" panose="020B0603020202020204" pitchFamily="34" charset="0"/>
                        </a:rPr>
                        <a:t>Moderate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493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rebuchet MS" panose="020B0603020202020204" pitchFamily="34" charset="0"/>
                        </a:rPr>
                        <a:t>Demographic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rebuchet MS" panose="020B0603020202020204" pitchFamily="34" charset="0"/>
                        </a:rPr>
                        <a:t>Gender, Age, Class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rebuchet MS" panose="020B0603020202020204" pitchFamily="34" charset="0"/>
                        </a:rPr>
                        <a:t>Minimal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7247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0CECE8-6C3A-DFD6-E0B6-9759878BDB4C}"/>
              </a:ext>
            </a:extLst>
          </p:cNvPr>
          <p:cNvSpPr txBox="1"/>
          <p:nvPr/>
        </p:nvSpPr>
        <p:spPr>
          <a:xfrm>
            <a:off x="6018826" y="2236204"/>
            <a:ext cx="6208938" cy="13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rebuchet MS" panose="020B0603020202020204" pitchFamily="34" charset="0"/>
              </a:rPr>
              <a:t>Key Insight:</a:t>
            </a:r>
            <a:endParaRPr lang="en-US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rebuchet MS" panose="020B0603020202020204" pitchFamily="34" charset="0"/>
              </a:rPr>
              <a:t>Schools cannot change demographics, but they can monitor and respond to discipline, homework, and attendance, the factors that actually drive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661799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336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Results: Intervention Framework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63200" y="804204"/>
            <a:ext cx="1828800" cy="48768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867" dirty="0">
              <a:latin typeface="Trebuchet MS" panose="020B0603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B9B0A6-1838-9187-06EB-FB6BC4A5C8EF}"/>
              </a:ext>
            </a:extLst>
          </p:cNvPr>
          <p:cNvGrpSpPr/>
          <p:nvPr/>
        </p:nvGrpSpPr>
        <p:grpSpPr>
          <a:xfrm>
            <a:off x="422030" y="2226213"/>
            <a:ext cx="3657600" cy="3413760"/>
            <a:chOff x="609600" y="1203960"/>
            <a:chExt cx="3657600" cy="3413760"/>
          </a:xfrm>
        </p:grpSpPr>
        <p:sp>
          <p:nvSpPr>
            <p:cNvPr id="4" name="Shape 2"/>
            <p:cNvSpPr/>
            <p:nvPr/>
          </p:nvSpPr>
          <p:spPr>
            <a:xfrm>
              <a:off x="609600" y="1203960"/>
              <a:ext cx="3657600" cy="3413760"/>
            </a:xfrm>
            <a:prstGeom prst="rect">
              <a:avLst/>
            </a:prstGeom>
            <a:solidFill>
              <a:srgbClr val="F5F7FA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609600" y="1341120"/>
              <a:ext cx="3657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133" b="1" dirty="0">
                  <a:solidFill>
                    <a:srgbClr val="1E3A5F"/>
                  </a:solidFill>
                  <a:latin typeface="Trebuchet MS" panose="020B0603020202020204" pitchFamily="34" charset="0"/>
                  <a:ea typeface="Georgia" pitchFamily="34" charset="-122"/>
                  <a:cs typeface="Georgia" pitchFamily="34" charset="-120"/>
                </a:rPr>
                <a:t>HIGH RISK</a:t>
              </a:r>
              <a:endParaRPr lang="en-US" sz="2133" dirty="0">
                <a:solidFill>
                  <a:srgbClr val="1E3A5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609600" y="182880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8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P ≥ 0.7</a:t>
              </a:r>
              <a:endParaRPr lang="en-US" sz="18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731520" y="2926080"/>
              <a:ext cx="3413760" cy="1584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Intensive support:</a:t>
              </a:r>
              <a:endParaRPr lang="en-US" sz="14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Weekly check-ins</a:t>
              </a:r>
              <a:endParaRPr lang="en-US" sz="14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Parental engagement</a:t>
              </a:r>
              <a:endParaRPr lang="en-US" sz="14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Psychosocial support referral </a:t>
              </a:r>
              <a:endParaRPr lang="en-US" sz="14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Academic tutoring</a:t>
              </a:r>
              <a:endParaRPr lang="en-US" sz="14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518C559-8199-5F59-3CEB-C4BF06AD9F2A}"/>
              </a:ext>
            </a:extLst>
          </p:cNvPr>
          <p:cNvGrpSpPr/>
          <p:nvPr/>
        </p:nvGrpSpPr>
        <p:grpSpPr>
          <a:xfrm>
            <a:off x="4450080" y="2196905"/>
            <a:ext cx="3840480" cy="3413760"/>
            <a:chOff x="4450080" y="1341120"/>
            <a:chExt cx="3840480" cy="3413760"/>
          </a:xfrm>
        </p:grpSpPr>
        <p:sp>
          <p:nvSpPr>
            <p:cNvPr id="9" name="Shape 7"/>
            <p:cNvSpPr/>
            <p:nvPr/>
          </p:nvSpPr>
          <p:spPr>
            <a:xfrm>
              <a:off x="4450080" y="1341120"/>
              <a:ext cx="3657600" cy="3413760"/>
            </a:xfrm>
            <a:prstGeom prst="rect">
              <a:avLst/>
            </a:prstGeom>
            <a:solidFill>
              <a:srgbClr val="F5F7F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632960" y="1471247"/>
              <a:ext cx="3657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133" b="1" dirty="0">
                  <a:solidFill>
                    <a:srgbClr val="1E3A5F"/>
                  </a:solidFill>
                  <a:latin typeface="Trebuchet MS" panose="020B0603020202020204" pitchFamily="34" charset="0"/>
                  <a:ea typeface="Georgia" pitchFamily="34" charset="-122"/>
                  <a:cs typeface="Georgia" pitchFamily="34" charset="-120"/>
                </a:rPr>
                <a:t>MODERATE RISK</a:t>
              </a:r>
              <a:endParaRPr lang="en-US" sz="2133" dirty="0">
                <a:solidFill>
                  <a:srgbClr val="1E3A5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632960" y="1958927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867" dirty="0">
                  <a:solidFill>
                    <a:srgbClr val="1A1A2E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0.4 ≤ P &lt; 0.7</a:t>
              </a:r>
              <a:endParaRPr lang="en-US" sz="1867" dirty="0">
                <a:latin typeface="Trebuchet MS" panose="020B0603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754880" y="3056207"/>
              <a:ext cx="3413760" cy="1584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67" dirty="0">
                  <a:solidFill>
                    <a:srgbClr val="1A1A2E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Targeted monitoring &amp; support:</a:t>
              </a:r>
              <a:endParaRPr lang="en-US" sz="1467" dirty="0"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rgbClr val="1A1A2E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Bi-weekly reviews</a:t>
              </a:r>
              <a:endParaRPr lang="en-US" sz="1467" dirty="0"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rgbClr val="1A1A2E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Homework support</a:t>
              </a:r>
              <a:endParaRPr lang="en-US" sz="1467" dirty="0"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rgbClr val="1A1A2E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Peer mentoring</a:t>
              </a:r>
              <a:endParaRPr lang="en-US" sz="1467" dirty="0"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rgbClr val="1A1A2E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Teacher attention</a:t>
              </a:r>
              <a:endParaRPr lang="en-US" sz="1467" dirty="0">
                <a:latin typeface="Trebuchet MS" panose="020B0603020202020204" pitchFamily="34" charset="0"/>
              </a:endParaRPr>
            </a:p>
          </p:txBody>
        </p:sp>
      </p:grpSp>
      <p:sp>
        <p:nvSpPr>
          <p:cNvPr id="14" name="Shape 12"/>
          <p:cNvSpPr/>
          <p:nvPr/>
        </p:nvSpPr>
        <p:spPr>
          <a:xfrm>
            <a:off x="8356210" y="2226213"/>
            <a:ext cx="3291840" cy="3413760"/>
          </a:xfrm>
          <a:prstGeom prst="rect">
            <a:avLst/>
          </a:prstGeom>
          <a:solidFill>
            <a:srgbClr val="F5F7FA"/>
          </a:solidFill>
          <a:ln/>
        </p:spPr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BD40E5D-A11C-9F34-5C04-981DC230F54B}"/>
              </a:ext>
            </a:extLst>
          </p:cNvPr>
          <p:cNvGrpSpPr/>
          <p:nvPr/>
        </p:nvGrpSpPr>
        <p:grpSpPr>
          <a:xfrm>
            <a:off x="8290560" y="2385647"/>
            <a:ext cx="3291840" cy="3169920"/>
            <a:chOff x="8290560" y="1341120"/>
            <a:chExt cx="3291840" cy="3169920"/>
          </a:xfrm>
        </p:grpSpPr>
        <p:sp>
          <p:nvSpPr>
            <p:cNvPr id="15" name="Text 13"/>
            <p:cNvSpPr/>
            <p:nvPr/>
          </p:nvSpPr>
          <p:spPr>
            <a:xfrm>
              <a:off x="8290560" y="1341120"/>
              <a:ext cx="329184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133" b="1" dirty="0">
                  <a:solidFill>
                    <a:srgbClr val="1E3A5F"/>
                  </a:solidFill>
                  <a:latin typeface="Trebuchet MS" panose="020B0603020202020204" pitchFamily="34" charset="0"/>
                  <a:ea typeface="Georgia" pitchFamily="34" charset="-122"/>
                  <a:cs typeface="Georgia" pitchFamily="34" charset="-120"/>
                </a:rPr>
                <a:t>LOW RISK</a:t>
              </a:r>
              <a:endParaRPr lang="en-US" sz="2133" dirty="0">
                <a:solidFill>
                  <a:srgbClr val="1E3A5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8290560" y="18288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867" dirty="0">
                  <a:solidFill>
                    <a:srgbClr val="1E3A5F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P &lt; 0.4</a:t>
              </a:r>
              <a:endParaRPr lang="en-US" sz="1867" dirty="0">
                <a:solidFill>
                  <a:srgbClr val="1E3A5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8290560" y="2255520"/>
              <a:ext cx="329184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3733" b="1" dirty="0">
                  <a:solidFill>
                    <a:schemeClr val="tx1"/>
                  </a:solidFill>
                  <a:latin typeface="Trebuchet MS" panose="020B0603020202020204" pitchFamily="34" charset="0"/>
                  <a:ea typeface="Georgia" pitchFamily="34" charset="-122"/>
                  <a:cs typeface="Georgia" pitchFamily="34" charset="-120"/>
                </a:rPr>
                <a:t>79.0%</a:t>
              </a:r>
              <a:endParaRPr lang="en-US" sz="3733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8412480" y="2926080"/>
              <a:ext cx="3169920" cy="1584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Preventive monitoring:</a:t>
              </a:r>
              <a:endParaRPr lang="en-US" sz="14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Standard oversight</a:t>
              </a:r>
              <a:endParaRPr lang="en-US" sz="14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Periodic check-ins</a:t>
              </a:r>
              <a:endParaRPr lang="en-US" sz="14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  <a:p>
              <a:r>
                <a:rPr lang="en-US" sz="1467" dirty="0">
                  <a:solidFill>
                    <a:schemeClr val="tx1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• General support General support as needed</a:t>
              </a:r>
              <a:endParaRPr lang="en-US" sz="14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</p:grpSp>
      <p:sp>
        <p:nvSpPr>
          <p:cNvPr id="7" name="Text 5"/>
          <p:cNvSpPr/>
          <p:nvPr/>
        </p:nvSpPr>
        <p:spPr>
          <a:xfrm>
            <a:off x="356380" y="3294185"/>
            <a:ext cx="3657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chemeClr val="tx1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16.1%</a:t>
            </a:r>
            <a:endParaRPr lang="en-US" sz="3733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96972" y="3304737"/>
            <a:ext cx="3657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1A1A2E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4.8%</a:t>
            </a:r>
            <a:endParaRPr lang="en-US" sz="3733" dirty="0">
              <a:latin typeface="Trebuchet MS" panose="020B0603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8CED0E-B90F-2912-4ABD-2EEAD85F7A99}"/>
              </a:ext>
            </a:extLst>
          </p:cNvPr>
          <p:cNvSpPr txBox="1"/>
          <p:nvPr/>
        </p:nvSpPr>
        <p:spPr>
          <a:xfrm>
            <a:off x="356380" y="1729772"/>
            <a:ext cx="8717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rebuchet MS" panose="020B0603020202020204" pitchFamily="34" charset="0"/>
              </a:rPr>
              <a:t>Framework applied to 62 pupils in the test set (15% of total sample held out for final validation)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EB3510-8901-96E5-5BAB-EDB432CF0D96}"/>
              </a:ext>
            </a:extLst>
          </p:cNvPr>
          <p:cNvSpPr txBox="1"/>
          <p:nvPr/>
        </p:nvSpPr>
        <p:spPr>
          <a:xfrm>
            <a:off x="1398562" y="5764238"/>
            <a:ext cx="10671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Resource Insight: </a:t>
            </a:r>
            <a:r>
              <a:rPr lang="en-US" dirty="0"/>
              <a:t>Resource Efficiency: Intensive support needed for only 10 pupils (16.1%), allowing schools to concentrate resources on a manageable subset rather than spreading them thinly across all 409 pupils.</a:t>
            </a:r>
          </a:p>
        </p:txBody>
      </p:sp>
    </p:spTree>
    <p:extLst>
      <p:ext uri="{BB962C8B-B14F-4D97-AF65-F5344CB8AC3E}">
        <p14:creationId xmlns:p14="http://schemas.microsoft.com/office/powerpoint/2010/main" val="4258503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859489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Key Findings in Context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31851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Performance Comparison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2C69DD-E3E4-105D-6BC8-895C6ADBA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177982"/>
              </p:ext>
            </p:extLst>
          </p:nvPr>
        </p:nvGraphicFramePr>
        <p:xfrm>
          <a:off x="609600" y="1395799"/>
          <a:ext cx="10972800" cy="16459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349262">
                  <a:extLst>
                    <a:ext uri="{9D8B030D-6E8A-4147-A177-3AD203B41FA5}">
                      <a16:colId xmlns:a16="http://schemas.microsoft.com/office/drawing/2014/main" val="1543621103"/>
                    </a:ext>
                  </a:extLst>
                </a:gridCol>
                <a:gridCol w="6623538">
                  <a:extLst>
                    <a:ext uri="{9D8B030D-6E8A-4147-A177-3AD203B41FA5}">
                      <a16:colId xmlns:a16="http://schemas.microsoft.com/office/drawing/2014/main" val="3983855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Finding</a:t>
                      </a:r>
                      <a:endParaRPr lang="en-US" b="1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Literature Support</a:t>
                      </a:r>
                      <a:endParaRPr lang="en-US" b="1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156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1. Behavioural indicators predict risk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Aligns with Ahmed &amp; Warsame (2024), </a:t>
                      </a:r>
                      <a:r>
                        <a:rPr lang="en-US" dirty="0" err="1"/>
                        <a:t>Mnyawami</a:t>
                      </a:r>
                      <a:r>
                        <a:rPr lang="en-US" dirty="0"/>
                        <a:t> et al. (2022), Herodotou et al. (2019)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88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2. Simple models can outperform complex ones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Supports Seo et al. (2024), Krüger et al. (2023) on interpretability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307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3. Poverty works through behaviour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Schools can monitor behavioural signs even if they cannot fix poverty (UBOS, 2023)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1483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F300CD-CA38-E1DF-DA03-5D264B37C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242532"/>
              </p:ext>
            </p:extLst>
          </p:nvPr>
        </p:nvGraphicFramePr>
        <p:xfrm>
          <a:off x="609600" y="3672840"/>
          <a:ext cx="10515600" cy="24688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089602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124146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24410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29901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526234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Study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Context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Performance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Notes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000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This Study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Uganda Primary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Logistic Reg.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ROC-AUC: 0.941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First for P4-P6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63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Ahmed &amp; Warsame (2024)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Somaliland Secondary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Forest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Accuracy: 95%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Secondary level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124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Mnyawami et al. (2022)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Tanzania Secondary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Decision Tree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Accuracy: 99.8%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Regional data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899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Krüger et al. (2023)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Brazil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Explainable ML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AUC-PR: 89.5%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Required technical overhead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4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Khatun et al. (2025)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Bangladesh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 + SHAP</a:t>
                      </a:r>
                      <a:endParaRPr lang="en-US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Accuracy: 94.4%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Required post-hoc explanation</a:t>
                      </a:r>
                      <a:endParaRPr lang="en-US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430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AA3D6AB-0E47-2690-D865-092127F4886D}"/>
              </a:ext>
            </a:extLst>
          </p:cNvPr>
          <p:cNvSpPr txBox="1"/>
          <p:nvPr/>
        </p:nvSpPr>
        <p:spPr>
          <a:xfrm>
            <a:off x="5967046" y="770776"/>
            <a:ext cx="6224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insight:</a:t>
            </a:r>
            <a:r>
              <a:rPr lang="en-US" dirty="0"/>
              <a:t> This study achieved comparable performance with </a:t>
            </a:r>
            <a:r>
              <a:rPr lang="en-US" b="1" dirty="0"/>
              <a:t>inherently interpretable</a:t>
            </a:r>
            <a:r>
              <a:rPr lang="en-US" dirty="0"/>
              <a:t> Logistic Regression , no post-hoc explanation needed.</a:t>
            </a:r>
          </a:p>
        </p:txBody>
      </p:sp>
    </p:spTree>
    <p:extLst>
      <p:ext uri="{BB962C8B-B14F-4D97-AF65-F5344CB8AC3E}">
        <p14:creationId xmlns:p14="http://schemas.microsoft.com/office/powerpoint/2010/main" val="285291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273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1" y="1800664"/>
            <a:ext cx="3657600" cy="548640"/>
          </a:xfrm>
          <a:prstGeom prst="rect">
            <a:avLst/>
          </a:prstGeom>
          <a:solidFill>
            <a:srgbClr val="D7014D"/>
          </a:solidFill>
          <a:ln/>
        </p:spPr>
      </p:sp>
      <p:sp>
        <p:nvSpPr>
          <p:cNvPr id="5" name="Text 3"/>
          <p:cNvSpPr/>
          <p:nvPr/>
        </p:nvSpPr>
        <p:spPr>
          <a:xfrm>
            <a:off x="426721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For Schools &amp; Teachers</a:t>
            </a:r>
            <a:endParaRPr lang="en-US" sz="1733" dirty="0">
              <a:latin typeface="Trebuchet MS" panose="020B06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1" y="2166424"/>
            <a:ext cx="3413760" cy="1948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Use attendance/homework records as diagnostic tools
</a:t>
            </a:r>
            <a:endParaRPr lang="en-US" sz="1467" dirty="0"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Regular review in staff meetings</a:t>
            </a:r>
            <a:endParaRPr lang="en-US" sz="1467" dirty="0">
              <a:latin typeface="Trebuchet MS" panose="020B0603020202020204" pitchFamily="34" charset="0"/>
            </a:endParaRPr>
          </a:p>
          <a:p>
            <a:endParaRPr lang="en-US" sz="1467" dirty="0"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Apply the tiered framework to focus intensive support on high-risk pupils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89121" y="1800664"/>
            <a:ext cx="3657600" cy="548640"/>
          </a:xfrm>
          <a:prstGeom prst="rect">
            <a:avLst/>
          </a:prstGeom>
          <a:solidFill>
            <a:srgbClr val="FFD932"/>
          </a:solidFill>
          <a:ln/>
        </p:spPr>
      </p:sp>
      <p:sp>
        <p:nvSpPr>
          <p:cNvPr id="9" name="Text 7"/>
          <p:cNvSpPr/>
          <p:nvPr/>
        </p:nvSpPr>
        <p:spPr>
          <a:xfrm>
            <a:off x="4511041" y="18006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For Policymakers</a:t>
            </a:r>
            <a:endParaRPr lang="en-US" sz="1733" dirty="0">
              <a:latin typeface="Trebuchet MS" panose="020B0603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81379" y="2231488"/>
            <a:ext cx="3413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Support early warning systems in schools through policy and funding</a:t>
            </a:r>
          </a:p>
          <a:p>
            <a:endParaRPr lang="en-US" sz="1467" dirty="0"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Fund consistent data collection infrastructure
</a:t>
            </a:r>
            <a:endParaRPr lang="en-US" sz="1467" dirty="0">
              <a:latin typeface="Trebuchet MS" panose="020B0603020202020204" pitchFamily="34" charset="0"/>
            </a:endParaRPr>
          </a:p>
          <a:p>
            <a:r>
              <a:rPr lang="en-US" sz="1467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• Train staff to use data for preventive intervention</a:t>
            </a:r>
            <a:endParaRPr lang="en-US" sz="1467" dirty="0">
              <a:latin typeface="Trebuchet MS" panose="020B0603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90560" y="1810043"/>
            <a:ext cx="3291840" cy="54864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3" name="Text 11"/>
          <p:cNvSpPr/>
          <p:nvPr/>
        </p:nvSpPr>
        <p:spPr>
          <a:xfrm>
            <a:off x="8473439" y="1783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lang="en-US" sz="1733" dirty="0">
              <a:latin typeface="Trebuchet MS" panose="020B0603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40613" y="2226212"/>
            <a:ext cx="304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1. Validation across districts</a:t>
            </a:r>
            <a:endParaRPr lang="en-US" sz="1333" dirty="0">
              <a:latin typeface="Trebuchet MS" panose="020B0603020202020204" pitchFamily="34" charset="0"/>
            </a:endParaRPr>
          </a:p>
          <a:p>
            <a:endParaRPr lang="en-US" sz="1333" dirty="0">
              <a:latin typeface="Trebuchet MS" panose="020B0603020202020204" pitchFamily="34" charset="0"/>
            </a:endParaRPr>
          </a:p>
          <a:p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2. Longitudinal investigation: Track pupils across multiple years to see how risk develops</a:t>
            </a:r>
          </a:p>
          <a:p>
            <a:endParaRPr lang="en-US" sz="1333" dirty="0">
              <a:latin typeface="Trebuchet MS" panose="020B0603020202020204" pitchFamily="34" charset="0"/>
            </a:endParaRPr>
          </a:p>
          <a:p>
            <a:r>
              <a:rPr lang="en-US" sz="1333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3. Qualitative depth : Add absence reasons, teacher observations, pupil perspectives</a:t>
            </a:r>
            <a:endParaRPr lang="en-US" sz="1333" dirty="0">
              <a:latin typeface="Trebuchet MS" panose="020B0603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440" y="4964723"/>
            <a:ext cx="1048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i="1" dirty="0">
                <a:solidFill>
                  <a:schemeClr val="tx1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This study provides a feasible, evidence-based foundation for shifting pupil support from reactive to proactive in resource-constrained settings.</a:t>
            </a:r>
            <a:endParaRPr lang="en-US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84321" y="5900810"/>
            <a:ext cx="8731347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6B7280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Aligned with NDP IV priorities: improving access, equity, and quality of education</a:t>
            </a:r>
            <a:endParaRPr lang="en-US" sz="1467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43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366" y="335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267" dirty="0">
              <a:latin typeface="Trebuchet MS" panose="020B0603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70560" y="2164080"/>
            <a:ext cx="3535680" cy="155448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579120" y="176784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Objective 1 </a:t>
            </a:r>
            <a:endParaRPr lang="en-US" sz="1867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316480"/>
            <a:ext cx="34137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Behavioural indicators (discipline, homework, attendance) are the strongest predictors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11040" y="2164080"/>
            <a:ext cx="3291840" cy="155448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4450080" y="1699846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Objective 2 </a:t>
            </a:r>
            <a:endParaRPr lang="en-US" sz="1867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0" y="2255520"/>
            <a:ext cx="34137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Logistic Regression optimal: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algn="ctr"/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Recall 0.833, ROC-AUC 0.941,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algn="ctr"/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interpretable for teachers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90560" y="2164080"/>
            <a:ext cx="3048000" cy="155448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8290560" y="1732671"/>
            <a:ext cx="3291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1E3A5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867" dirty="0">
              <a:solidFill>
                <a:srgbClr val="1E3A5F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2480" y="2362200"/>
            <a:ext cx="30480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chemeClr val="tx1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Tiered framework converts predictions into personalised support</a:t>
            </a:r>
            <a:endParaRPr lang="en-US" sz="1467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7185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3A5F"/>
                </a:solidFill>
                <a:latin typeface="Trebuchet MS" panose="020B0603020202020204" pitchFamily="34" charset="0"/>
                <a:ea typeface="Georgia" pitchFamily="34" charset="-122"/>
                <a:cs typeface="Georgia" pitchFamily="34" charset="-120"/>
              </a:rPr>
              <a:t>Research Gaps Addressed</a:t>
            </a:r>
            <a:endParaRPr lang="en-US" sz="2000" dirty="0">
              <a:latin typeface="Trebuchet MS" panose="020B0603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4140591"/>
            <a:ext cx="10485120" cy="827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7D32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 Geographical: </a:t>
            </a:r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Machine Learning model for Ugandan primary schools </a:t>
            </a:r>
            <a:endParaRPr lang="en-US" sz="16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7D32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 Practical Utility: </a:t>
            </a:r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Prioritised interpretability so teachers can actually use it</a:t>
            </a:r>
            <a:endParaRPr lang="en-US" sz="16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7D32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 Implementation: </a:t>
            </a:r>
            <a:r>
              <a:rPr lang="en-US" sz="1600" dirty="0">
                <a:solidFill>
                  <a:srgbClr val="1A1A2E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Predictions linked to concrete, actionable interventions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BCA66-BD23-D5F9-5C4E-3BDF986112BF}"/>
              </a:ext>
            </a:extLst>
          </p:cNvPr>
          <p:cNvSpPr txBox="1"/>
          <p:nvPr/>
        </p:nvSpPr>
        <p:spPr>
          <a:xfrm>
            <a:off x="1490005" y="5508546"/>
            <a:ext cx="101674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2060"/>
                </a:solidFill>
                <a:latin typeface="Trebuchet MS" panose="020B0603020202020204" pitchFamily="34" charset="0"/>
              </a:rPr>
              <a:t>Significance:</a:t>
            </a:r>
          </a:p>
          <a:p>
            <a:pPr>
              <a:buNone/>
            </a:pPr>
            <a:r>
              <a:rPr lang="en-US" sz="1600" dirty="0">
                <a:latin typeface="Trebuchet MS" panose="020B0603020202020204" pitchFamily="34" charset="0"/>
              </a:rPr>
              <a:t>Through systematic use of existing school records, educators in resource-constrained settings can identify vulnerable pupils early, based on modifiable behaviours, before disengagement leads to dropout.</a:t>
            </a:r>
          </a:p>
        </p:txBody>
      </p:sp>
    </p:spTree>
    <p:extLst>
      <p:ext uri="{BB962C8B-B14F-4D97-AF65-F5344CB8AC3E}">
        <p14:creationId xmlns:p14="http://schemas.microsoft.com/office/powerpoint/2010/main" val="1454658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1680</Words>
  <Application>Microsoft Office PowerPoint</Application>
  <PresentationFormat>Widescreen</PresentationFormat>
  <Paragraphs>319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Noto Sans Symbols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Charles Jovans</cp:lastModifiedBy>
  <cp:revision>31</cp:revision>
  <dcterms:created xsi:type="dcterms:W3CDTF">2023-08-23T08:11:39Z</dcterms:created>
  <dcterms:modified xsi:type="dcterms:W3CDTF">2026-05-09T11:10:55Z</dcterms:modified>
</cp:coreProperties>
</file>