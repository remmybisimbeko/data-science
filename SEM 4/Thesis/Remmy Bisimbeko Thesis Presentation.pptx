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1" r:id="rId4"/>
    <p:sldId id="263" r:id="rId5"/>
    <p:sldId id="264" r:id="rId6"/>
    <p:sldId id="271" r:id="rId7"/>
    <p:sldId id="272" r:id="rId8"/>
    <p:sldId id="274" r:id="rId9"/>
    <p:sldId id="275" r:id="rId10"/>
    <p:sldId id="276" r:id="rId11"/>
    <p:sldId id="277" r:id="rId12"/>
    <p:sldId id="267" r:id="rId13"/>
    <p:sldId id="268" r:id="rId14"/>
    <p:sldId id="269" r:id="rId15"/>
    <p:sldId id="270" r:id="rId16"/>
    <p:sldId id="258"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518"/>
    <p:restoredTop sz="96512"/>
  </p:normalViewPr>
  <p:slideViewPr>
    <p:cSldViewPr snapToGrid="0" snapToObjects="1">
      <p:cViewPr varScale="1">
        <p:scale>
          <a:sx n="125" d="100"/>
          <a:sy n="125" d="100"/>
        </p:scale>
        <p:origin x="184" y="40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28E8715-1DB8-D84D-8220-A76E0A92EDF0}" type="datetimeFigureOut">
              <a:rPr lang="en-UG" smtClean="0"/>
              <a:t>22/07/2026</a:t>
            </a:fld>
            <a:endParaRPr lang="en-U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AE5ECF-7B7F-5944-B35C-91F1AF793846}" type="slidenum">
              <a:rPr lang="en-UG" smtClean="0"/>
              <a:t>‹#›</a:t>
            </a:fld>
            <a:endParaRPr lang="en-UG"/>
          </a:p>
        </p:txBody>
      </p:sp>
    </p:spTree>
    <p:extLst>
      <p:ext uri="{BB962C8B-B14F-4D97-AF65-F5344CB8AC3E}">
        <p14:creationId xmlns:p14="http://schemas.microsoft.com/office/powerpoint/2010/main" val="38391429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G" dirty="0"/>
              <a:t>Good morning, panel.</a:t>
            </a:r>
          </a:p>
          <a:p>
            <a:r>
              <a:rPr lang="en-UG" dirty="0"/>
              <a:t>My name is Bisimbeko Remmy, registration number J24MD19/007, a candidate for the Master of Science in Data Science and Analytics at Uganda Christian University, Department of Computing and Technology.</a:t>
            </a:r>
          </a:p>
          <a:p>
            <a:r>
              <a:rPr lang="en-UG" dirty="0"/>
              <a:t>The study I am presenting today is titled: </a:t>
            </a:r>
            <a:r>
              <a:rPr lang="en-UG" i="1" dirty="0"/>
              <a:t>Leveraging Machine Learning for Data-Driven and Personalised Voice Bundle Recommendations — Improving Customer Satisfaction and Informing Business Decisions for Revenue Optimisation — A Case Study of Airtel Uganda Limited.</a:t>
            </a:r>
            <a:endParaRPr lang="en-UG" dirty="0"/>
          </a:p>
          <a:p>
            <a:r>
              <a:rPr lang="en-UG" dirty="0"/>
              <a:t>This work was conducted under the supervision of Dr. Daphne Nyachaki Bitalo.</a:t>
            </a:r>
          </a:p>
          <a:p>
            <a:r>
              <a:rPr lang="en-UG" dirty="0"/>
              <a:t>I will take you through the study in approximately 12 minutes, covering the problem, methodology, results, recommendations, and contributions. I welcome your questions at the end.</a:t>
            </a:r>
          </a:p>
          <a:p>
            <a:br>
              <a:rPr lang="en-UG" dirty="0"/>
            </a:br>
            <a:endParaRPr lang="en-UG" dirty="0"/>
          </a:p>
          <a:p>
            <a:r>
              <a:rPr lang="en-UG" b="1" dirty="0"/>
              <a:t>Key points to land verbally:</a:t>
            </a:r>
            <a:endParaRPr lang="en-UG" dirty="0"/>
          </a:p>
          <a:p>
            <a:pPr lvl="0"/>
            <a:r>
              <a:rPr lang="en-UG" dirty="0"/>
              <a:t>Speak slowly and clearly on your name and registration number — the panel is writing it down</a:t>
            </a:r>
          </a:p>
          <a:p>
            <a:pPr lvl="0"/>
            <a:r>
              <a:rPr lang="en-UG" dirty="0"/>
              <a:t>Make eye contact with each panellist as you introduce yourself — not at the screen</a:t>
            </a:r>
          </a:p>
          <a:p>
            <a:pPr lvl="0"/>
            <a:r>
              <a:rPr lang="en-UG" dirty="0"/>
              <a:t>"I will take you through the study in approximately 12 minutes" — saying this upfront signals that you respect their time and are in control of your presentation</a:t>
            </a:r>
          </a:p>
          <a:p>
            <a:pPr lvl="0"/>
            <a:r>
              <a:rPr lang="en-UG" dirty="0"/>
              <a:t>Do not read the title off the slide — you know it, say it naturally</a:t>
            </a:r>
          </a:p>
          <a:p>
            <a:pPr lvl="0"/>
            <a:r>
              <a:rPr lang="en-UG" dirty="0"/>
              <a:t>The moment you say "I welcome your questions at the end" — smile. It sets a confident, open tone for the entire session</a:t>
            </a:r>
          </a:p>
          <a:p>
            <a:pPr lvl="0"/>
            <a:r>
              <a:rPr lang="en-UG" dirty="0"/>
              <a:t>Take one breath after this slide before moving to the next. Do not rush</a:t>
            </a:r>
          </a:p>
          <a:p>
            <a:endParaRPr lang="en-UG" dirty="0"/>
          </a:p>
        </p:txBody>
      </p:sp>
      <p:sp>
        <p:nvSpPr>
          <p:cNvPr id="4" name="Slide Number Placeholder 3"/>
          <p:cNvSpPr>
            <a:spLocks noGrp="1"/>
          </p:cNvSpPr>
          <p:nvPr>
            <p:ph type="sldNum" sz="quarter" idx="5"/>
          </p:nvPr>
        </p:nvSpPr>
        <p:spPr/>
        <p:txBody>
          <a:bodyPr/>
          <a:lstStyle/>
          <a:p>
            <a:fld id="{53AE5ECF-7B7F-5944-B35C-91F1AF793846}" type="slidenum">
              <a:rPr lang="en-UG" smtClean="0"/>
              <a:t>1</a:t>
            </a:fld>
            <a:endParaRPr lang="en-UG"/>
          </a:p>
        </p:txBody>
      </p:sp>
    </p:spTree>
    <p:extLst>
      <p:ext uri="{BB962C8B-B14F-4D97-AF65-F5344CB8AC3E}">
        <p14:creationId xmlns:p14="http://schemas.microsoft.com/office/powerpoint/2010/main" val="214353557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G" dirty="0"/>
              <a:t>Good morning panel. Let me start with the context that motivated this study.</a:t>
            </a:r>
          </a:p>
          <a:p>
            <a:r>
              <a:rPr lang="en-UG" dirty="0"/>
              <a:t>The telecom industry globally is shifting toward personalised, AI-driven customer experiences. Airtel Uganda sits right at the centre of that opportunity — 10.5 million subscribers, 47% market share — but faces 3 to 5% monthly churn in one of East Africa's most competitive prepaid markets.</a:t>
            </a:r>
          </a:p>
          <a:p>
            <a:r>
              <a:rPr lang="en-UG" dirty="0"/>
              <a:t>The product side makes it worse. Airtel offers over 150 voice bundle products, but customers navigate them through a USSD menu — essentially a text-based phone menu with no intelligence behind it. A customer who makes long calls at night gets the same generic offer as one who buys small bundles every two days. That mismatch leads to poor experience and, ultimately, lost revenue.</a:t>
            </a:r>
          </a:p>
          <a:p>
            <a:r>
              <a:rPr lang="en-UG" dirty="0"/>
              <a:t>Machine learning solves this by learning each subscriber's behavioural pattern — their call intensity, spending efficiency, device, purchase channel — and recommending the right bundle at the right moment, rather than broadcasting the same campaign to everyone.</a:t>
            </a:r>
          </a:p>
          <a:p>
            <a:r>
              <a:rPr lang="en-UG" dirty="0"/>
              <a:t>This study addressed that gap directly: using 150 million real transactions from 1.46 million Airtel Uganda subscribers, I developed and evaluated a full ML-based recommendation framework — the first of its kind validated on real Ugandan telecom data.</a:t>
            </a:r>
          </a:p>
          <a:p>
            <a:endParaRPr lang="en-UG" dirty="0"/>
          </a:p>
          <a:p>
            <a:pPr lvl="0"/>
            <a:r>
              <a:rPr lang="en-UG" dirty="0"/>
              <a:t>Say "47% market share" and "3–5% monthly churn" with confidence — panel may ask you to contextualise churn</a:t>
            </a:r>
          </a:p>
          <a:p>
            <a:pPr lvl="0"/>
            <a:r>
              <a:rPr lang="en-UG" dirty="0"/>
              <a:t>Pause after "USSD menu" — most panellists know what it is but let the image of the limitation land</a:t>
            </a:r>
          </a:p>
          <a:p>
            <a:pPr lvl="0"/>
            <a:r>
              <a:rPr lang="en-UG" dirty="0"/>
              <a:t>The phrase "right bundle at the right time" is your thesis in one sentence — say it deliberately</a:t>
            </a:r>
          </a:p>
          <a:p>
            <a:pPr lvl="0"/>
            <a:r>
              <a:rPr lang="en-UG" dirty="0"/>
              <a:t>"First of its kind validated on real Ugandan data" — say this clearly, it is your academic contribution</a:t>
            </a:r>
          </a:p>
          <a:p>
            <a:endParaRPr lang="en-UG" dirty="0"/>
          </a:p>
        </p:txBody>
      </p:sp>
      <p:sp>
        <p:nvSpPr>
          <p:cNvPr id="4" name="Slide Number Placeholder 3"/>
          <p:cNvSpPr>
            <a:spLocks noGrp="1"/>
          </p:cNvSpPr>
          <p:nvPr>
            <p:ph type="sldNum" sz="quarter" idx="5"/>
          </p:nvPr>
        </p:nvSpPr>
        <p:spPr/>
        <p:txBody>
          <a:bodyPr/>
          <a:lstStyle/>
          <a:p>
            <a:fld id="{53AE5ECF-7B7F-5944-B35C-91F1AF793846}" type="slidenum">
              <a:rPr lang="en-UG" smtClean="0"/>
              <a:t>2</a:t>
            </a:fld>
            <a:endParaRPr lang="en-UG"/>
          </a:p>
        </p:txBody>
      </p:sp>
    </p:spTree>
    <p:extLst>
      <p:ext uri="{BB962C8B-B14F-4D97-AF65-F5344CB8AC3E}">
        <p14:creationId xmlns:p14="http://schemas.microsoft.com/office/powerpoint/2010/main" val="12705049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G" dirty="0"/>
              <a:t>Airtel Uganda's current approach to bundle marketing is ARPU banding — subscribers are grouped by how much they spend on average, and everyone in a band gets the same promotion. That is a rule-based system, not a recommendation system. It does not look at how a customer actually behaves.</a:t>
            </a:r>
          </a:p>
          <a:p>
            <a:r>
              <a:rPr lang="en-UG" dirty="0"/>
              <a:t>The numbers tell the story. Conversion rates are below 3% — meaning more than 97 out of every 100 promotional messages generate no purchase. McKinsey estimates that translates to roughly 20% of the marketing budget going to waste. And 15% of subscribers remain inactive or low-spending, not because they do not want bundles, but because they are never offered the right one.</a:t>
            </a:r>
          </a:p>
          <a:p>
            <a:r>
              <a:rPr lang="en-UG" dirty="0"/>
              <a:t>The human consequence is also real. When recommendations are irrelevant, customers disengage. In prepaid markets especially — where there is no contract holding a subscriber — irrelevant offers directly drive churn. Al-Mashraie and colleagues in 2020, and Christopher and Nelson in 2024, both document this pattern.</a:t>
            </a:r>
          </a:p>
          <a:p>
            <a:r>
              <a:rPr lang="en-UG" dirty="0"/>
              <a:t>Add 150 voice bundle options to the mix, and the average subscriber has no practical way to identify what suits them. The USSD menu does not help them choose — it just lists options.</a:t>
            </a:r>
          </a:p>
          <a:p>
            <a:r>
              <a:rPr lang="en-UG" dirty="0"/>
              <a:t>That brings me to the research gap this study addresses: there is currently no scalable, data-driven machine learning recommendation system for personalised voice bundle recommendations in Uganda's telecom sector. That gap is what this work fills.</a:t>
            </a:r>
          </a:p>
          <a:p>
            <a:endParaRPr lang="en-UG" dirty="0"/>
          </a:p>
          <a:p>
            <a:endParaRPr lang="en-UG" dirty="0"/>
          </a:p>
          <a:p>
            <a:pPr lvl="0"/>
            <a:r>
              <a:rPr lang="en-UG" dirty="0"/>
              <a:t>Say "below 3%" slowly — let it register, it is a damning number</a:t>
            </a:r>
          </a:p>
          <a:p>
            <a:pPr lvl="0"/>
            <a:r>
              <a:rPr lang="en-UG" dirty="0"/>
              <a:t>The McKinsey citation grounds the 20% figure — if a panellist challenges it, say "McKinsey's 2022 telecom personalisation report, which I cite in Chapter 2"</a:t>
            </a:r>
          </a:p>
          <a:p>
            <a:pPr lvl="0"/>
            <a:r>
              <a:rPr lang="en-UG" dirty="0"/>
              <a:t>"Not because they don't want bundles — because they were never offered the right one" is a strong line, deliver it with conviction</a:t>
            </a:r>
          </a:p>
          <a:p>
            <a:pPr lvl="0"/>
            <a:r>
              <a:rPr lang="en-UG" dirty="0"/>
              <a:t>End on the research gap statement — it is your direct bridge to Objective 1</a:t>
            </a:r>
          </a:p>
          <a:p>
            <a:endParaRPr lang="en-UG" dirty="0"/>
          </a:p>
        </p:txBody>
      </p:sp>
      <p:sp>
        <p:nvSpPr>
          <p:cNvPr id="4" name="Slide Number Placeholder 3"/>
          <p:cNvSpPr>
            <a:spLocks noGrp="1"/>
          </p:cNvSpPr>
          <p:nvPr>
            <p:ph type="sldNum" sz="quarter" idx="5"/>
          </p:nvPr>
        </p:nvSpPr>
        <p:spPr/>
        <p:txBody>
          <a:bodyPr/>
          <a:lstStyle/>
          <a:p>
            <a:fld id="{53AE5ECF-7B7F-5944-B35C-91F1AF793846}" type="slidenum">
              <a:rPr lang="en-UG" smtClean="0"/>
              <a:t>3</a:t>
            </a:fld>
            <a:endParaRPr lang="en-UG"/>
          </a:p>
        </p:txBody>
      </p:sp>
    </p:spTree>
    <p:extLst>
      <p:ext uri="{BB962C8B-B14F-4D97-AF65-F5344CB8AC3E}">
        <p14:creationId xmlns:p14="http://schemas.microsoft.com/office/powerpoint/2010/main" val="38559342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G" dirty="0"/>
              <a:t>This study is structured around one main objective and three specific objectives, each paired with a research question that the results directly answer.</a:t>
            </a:r>
          </a:p>
          <a:p>
            <a:r>
              <a:rPr lang="en-UG" dirty="0"/>
              <a:t>The main objective is to identify which customer behavioural attributes predict the right voice bundle for a given subscriber — and then use those attributes to build a machine learning recommendation framework that supports Airtel Uganda's commercial goals.</a:t>
            </a:r>
          </a:p>
          <a:p>
            <a:r>
              <a:rPr lang="en-UG" dirty="0"/>
              <a:t>Specific Objective 1 asks: which behaviours actually matter? Not which demographic a subscriber falls into, but how they call, how they spend, what device they use, how frequently they buy. Research Question 1 is the empirical test of that — which attributes most effectively predict purchase decisions.</a:t>
            </a:r>
          </a:p>
          <a:p>
            <a:r>
              <a:rPr lang="en-UG" dirty="0"/>
              <a:t>Specific Objective 2 moves from attributes to models. Once we know what predicts behaviour, which machine learning algorithm classifies it most accurately? And which preprocessing choices — imputation, oversampling, feature engineering — best support that task? Research Question 2 drives the model comparison in Chapter 4.</a:t>
            </a:r>
          </a:p>
          <a:p>
            <a:r>
              <a:rPr lang="en-UG" dirty="0"/>
              <a:t>Specific Objective 3 is the strategic translation. A model that sits in a notebook helps no one. Research Question 3 asks: what should Airtel actually do with these outputs? That is where the three recommendations in Chapter 6 come from.</a:t>
            </a:r>
          </a:p>
          <a:p>
            <a:r>
              <a:rPr lang="en-UG" dirty="0"/>
              <a:t>Notice the structure: identify, build, deploy. Each objective feeds the next, and each research question has a direct answer in the results.</a:t>
            </a:r>
          </a:p>
          <a:p>
            <a:endParaRPr lang="en-UG" dirty="0"/>
          </a:p>
          <a:p>
            <a:pPr lvl="0"/>
            <a:r>
              <a:rPr lang="en-UG" dirty="0"/>
              <a:t>If asked "how do your objectives map to your hypotheses?" — H1 tests RQ1, H2 tests RQ2, H3 tests RQ3. One-to-one mapping, by design</a:t>
            </a:r>
          </a:p>
          <a:p>
            <a:pPr lvl="0"/>
            <a:r>
              <a:rPr lang="en-UG" dirty="0"/>
              <a:t>Emphasise Objective 3 — panels sometimes feel applied studies stop at the model. Make clear that strategic deployment is a named objective, not an afterthought</a:t>
            </a:r>
          </a:p>
          <a:p>
            <a:pPr lvl="0"/>
            <a:r>
              <a:rPr lang="en-UG" dirty="0"/>
              <a:t>"A model that sits in a notebook helps no one" — say this, it signals commercial awareness</a:t>
            </a:r>
          </a:p>
          <a:p>
            <a:endParaRPr lang="en-UG" dirty="0"/>
          </a:p>
          <a:p>
            <a:endParaRPr lang="en-UG" dirty="0"/>
          </a:p>
          <a:p>
            <a:endParaRPr lang="en-UG" dirty="0"/>
          </a:p>
        </p:txBody>
      </p:sp>
      <p:sp>
        <p:nvSpPr>
          <p:cNvPr id="4" name="Slide Number Placeholder 3"/>
          <p:cNvSpPr>
            <a:spLocks noGrp="1"/>
          </p:cNvSpPr>
          <p:nvPr>
            <p:ph type="sldNum" sz="quarter" idx="5"/>
          </p:nvPr>
        </p:nvSpPr>
        <p:spPr/>
        <p:txBody>
          <a:bodyPr/>
          <a:lstStyle/>
          <a:p>
            <a:fld id="{53AE5ECF-7B7F-5944-B35C-91F1AF793846}" type="slidenum">
              <a:rPr lang="en-UG" smtClean="0"/>
              <a:t>4</a:t>
            </a:fld>
            <a:endParaRPr lang="en-UG"/>
          </a:p>
        </p:txBody>
      </p:sp>
    </p:spTree>
    <p:extLst>
      <p:ext uri="{BB962C8B-B14F-4D97-AF65-F5344CB8AC3E}">
        <p14:creationId xmlns:p14="http://schemas.microsoft.com/office/powerpoint/2010/main" val="34416360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8670-BE8D-2A4D-D8E1-97B81ACD29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AC4D10-B5D1-2145-FA05-BD33546DE4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0827C1-4C2F-3212-3829-F70D8FE17C67}"/>
              </a:ext>
            </a:extLst>
          </p:cNvPr>
          <p:cNvSpPr>
            <a:spLocks noGrp="1"/>
          </p:cNvSpPr>
          <p:nvPr>
            <p:ph type="body" idx="1"/>
          </p:nvPr>
        </p:nvSpPr>
        <p:spPr/>
        <p:txBody>
          <a:bodyPr/>
          <a:lstStyle/>
          <a:p>
            <a:r>
              <a:rPr lang="en-UG" dirty="0"/>
              <a:t>This study was guided throughout by the three research questions — every methodological decision traces back to answering one of them.</a:t>
            </a:r>
          </a:p>
          <a:p>
            <a:r>
              <a:rPr lang="en-UG" dirty="0"/>
              <a:t>The data came directly from Airtel Uganda's production data warehouse. Real customer records, real bundle purchases, real Call Detail Records, and real location data — not synthetic, not publicly available benchmarks. That distinction matters for the validity of the findings.</a:t>
            </a:r>
          </a:p>
          <a:p>
            <a:r>
              <a:rPr lang="en-UG" dirty="0"/>
              <a:t>The study population was defined as subscribers observed over a 90-day window, February to April 2026. That window generated approximately 150 million anonymised transaction records — enough volume to train and evaluate machine learning models with high statistical confidence.</a:t>
            </a:r>
          </a:p>
          <a:p>
            <a:r>
              <a:rPr lang="en-UG" dirty="0"/>
              <a:t>The study focused exclusively on prepaid customers — approximately 5.4 million subscribers. This was a deliberate choice, not a convenience. Prepaid is where the problem lives: purchase decisions are made frequently, independently, and at low denominations. Every bundle purchase is an active, unconstrained choice. That behavioural pattern is fundamentally different from postpaid, where a contract removes most of the decision-making. Prepaid is harder to model and more commercially important.</a:t>
            </a:r>
          </a:p>
          <a:p>
            <a:r>
              <a:rPr lang="en-UG" dirty="0"/>
              <a:t>For geographic scope, the study concentrated on Central Uganda — Kampala, Central 1, and Central 2. This region has the densest subscriber base and the most complete behavioural data, giving a representative and commercially significant sample.</a:t>
            </a:r>
          </a:p>
          <a:p>
            <a:r>
              <a:rPr lang="en-UG" dirty="0"/>
              <a:t>Finally — the dependent variable. The target the models are trained to predict is the voice bundle type a customer purchases. Because bundle type is a category, not a number, this is a multiclass classification problem. That is why all four models evaluated — Logistic Regression, Decision Tree, Random Forest, XGBoost — are classifiers, not regression models. The choice of target variable directly determines the choice of modelling approach.</a:t>
            </a:r>
          </a:p>
          <a:p>
            <a:endParaRPr lang="en-UG" dirty="0"/>
          </a:p>
          <a:p>
            <a:endParaRPr lang="en-UG" dirty="0"/>
          </a:p>
          <a:p>
            <a:pPr lvl="0"/>
            <a:r>
              <a:rPr lang="en-UG" dirty="0"/>
              <a:t>"Real data, not synthetic" — say this clearly, it is a genuine differentiator from most published studies</a:t>
            </a:r>
          </a:p>
          <a:p>
            <a:pPr lvl="0"/>
            <a:r>
              <a:rPr lang="en-UG" dirty="0"/>
              <a:t>If asked why prepaid only: "postpaid customers operate under contracts — their behaviour is structurally different and a separate research question"</a:t>
            </a:r>
          </a:p>
          <a:p>
            <a:pPr lvl="0"/>
            <a:r>
              <a:rPr lang="en-UG" dirty="0"/>
              <a:t>If asked why Central Uganda only: "highest data density, most representative commercial activity, and geographic scope is stated as a limitation with national extension as future work"</a:t>
            </a:r>
          </a:p>
          <a:p>
            <a:pPr lvl="0"/>
            <a:r>
              <a:rPr lang="en-UG" dirty="0"/>
              <a:t>"The choice of target variable determines the choice of model" — this shows methodological awareness the panel will appreciate</a:t>
            </a:r>
          </a:p>
          <a:p>
            <a:endParaRPr lang="en-UG" dirty="0"/>
          </a:p>
        </p:txBody>
      </p:sp>
      <p:sp>
        <p:nvSpPr>
          <p:cNvPr id="4" name="Slide Number Placeholder 3">
            <a:extLst>
              <a:ext uri="{FF2B5EF4-FFF2-40B4-BE49-F238E27FC236}">
                <a16:creationId xmlns:a16="http://schemas.microsoft.com/office/drawing/2014/main" id="{BF153B58-3AA4-3818-8042-35740B493964}"/>
              </a:ext>
            </a:extLst>
          </p:cNvPr>
          <p:cNvSpPr>
            <a:spLocks noGrp="1"/>
          </p:cNvSpPr>
          <p:nvPr>
            <p:ph type="sldNum" sz="quarter" idx="5"/>
          </p:nvPr>
        </p:nvSpPr>
        <p:spPr/>
        <p:txBody>
          <a:bodyPr/>
          <a:lstStyle/>
          <a:p>
            <a:fld id="{53AE5ECF-7B7F-5944-B35C-91F1AF793846}" type="slidenum">
              <a:rPr lang="en-UG" smtClean="0"/>
              <a:t>5</a:t>
            </a:fld>
            <a:endParaRPr lang="en-UG"/>
          </a:p>
        </p:txBody>
      </p:sp>
    </p:spTree>
    <p:extLst>
      <p:ext uri="{BB962C8B-B14F-4D97-AF65-F5344CB8AC3E}">
        <p14:creationId xmlns:p14="http://schemas.microsoft.com/office/powerpoint/2010/main" val="9143111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D36FF-1DE9-FD84-4904-AD1BC99C1D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83A1F5-3044-FAC3-41B6-EECC97E79F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54C870-0E42-D545-BADD-2CB2B99CB81C}"/>
              </a:ext>
            </a:extLst>
          </p:cNvPr>
          <p:cNvSpPr>
            <a:spLocks noGrp="1"/>
          </p:cNvSpPr>
          <p:nvPr>
            <p:ph type="body" idx="1"/>
          </p:nvPr>
        </p:nvSpPr>
        <p:spPr/>
        <p:txBody>
          <a:bodyPr/>
          <a:lstStyle/>
          <a:p>
            <a:r>
              <a:rPr lang="en-UG" dirty="0"/>
              <a:t>The independent variables are the input signals the machine learning models use to predict which bundle a customer will purchase. Let me walk through each one and explain why it was included.</a:t>
            </a:r>
          </a:p>
          <a:p>
            <a:r>
              <a:rPr lang="en-UG" dirty="0"/>
              <a:t>Purchase frequency — whether a customer buys daily, weekly, or monthly — captures engagement intensity. A customer who buys every two days has a very different profile from one who buys once a month. That rhythm is predictive.</a:t>
            </a:r>
          </a:p>
          <a:p>
            <a:r>
              <a:rPr lang="en-UG" dirty="0"/>
              <a:t>Bundle depletion rate measures how fast a customer burns through what they bought. A subscriber who depletes a bundle in 6 hours behaves differently from one who makes it last three days. Depletion rate captures usage intensity in a way that raw minutes cannot.</a:t>
            </a:r>
          </a:p>
          <a:p>
            <a:r>
              <a:rPr lang="en-UG" dirty="0"/>
              <a:t>Temporal purchase features — time of day, day of week, day of month — capture when customers buy. Night-time buyers, weekend buyers, and end-of-month buyers have distinct patterns tied to income cycles and usage habits. This was confirmed in Chapter 4 — hourly purchase distribution showed a clear behavioural signal.</a:t>
            </a:r>
          </a:p>
          <a:p>
            <a:r>
              <a:rPr lang="en-UG" dirty="0"/>
              <a:t>ARPU calculated over rolling 7, 30, and 90-day windows captures both the level of spending and its trajectory. A customer whose 7-day ARPU is rising relative to their 90-day average is exhibiting a different intent signal than one whose spend is flat or declining.</a:t>
            </a:r>
          </a:p>
          <a:p>
            <a:r>
              <a:rPr lang="en-UG" dirty="0"/>
              <a:t>Recency score — days since last purchase — is the R in an adapted RFM framework. Recency, Frequency, and Monetary value together form one of the most established approaches to customer behaviour modelling. This study adapts that framework to the prepaid bundle context.</a:t>
            </a:r>
          </a:p>
          <a:p>
            <a:r>
              <a:rPr lang="en-UG" dirty="0"/>
              <a:t>Customer tenure records how long a subscriber has been with Airtel. Longer tenure tends to correlate with more stable, predictable purchasing patterns — and the data confirmed tenure as a significant discriminator across segments.</a:t>
            </a:r>
          </a:p>
          <a:p>
            <a:r>
              <a:rPr lang="en-UG" dirty="0"/>
              <a:t>Finally, geographic region — derived from registered location or most frequent network site — is included as a categorical feature. The Chi-Square test confirmed it is significantly associated with bundle segment, with a chi-squared statistic of 41,482.</a:t>
            </a:r>
          </a:p>
          <a:p>
            <a:endParaRPr lang="en-UG" dirty="0"/>
          </a:p>
          <a:p>
            <a:endParaRPr lang="en-UG" dirty="0"/>
          </a:p>
          <a:p>
            <a:pPr lvl="0"/>
            <a:r>
              <a:rPr lang="en-UG" dirty="0"/>
              <a:t>If asked "why RFM?" — "RFM is a validated, widely published framework in CRM literature; adapting it to prepaid bundle behaviour gives the feature set theoretical grounding beyond ad hoc engineering"</a:t>
            </a:r>
          </a:p>
          <a:p>
            <a:pPr lvl="0"/>
            <a:r>
              <a:rPr lang="en-UG" dirty="0"/>
              <a:t>If asked about multicollinearity between ARPU windows — "the rolling windows capture different temporal signals — trajectory, not just level — and tree-based models like Random Forest and XGBoost are robust to multicollinearity by design"</a:t>
            </a:r>
          </a:p>
          <a:p>
            <a:pPr lvl="0"/>
            <a:r>
              <a:rPr lang="en-UG" dirty="0"/>
              <a:t>Say "Chapter 4 confirmed" at least once — it shows the variables were not just theoretically motivated but empirically validated</a:t>
            </a:r>
          </a:p>
          <a:p>
            <a:endParaRPr lang="en-UG" dirty="0"/>
          </a:p>
        </p:txBody>
      </p:sp>
      <p:sp>
        <p:nvSpPr>
          <p:cNvPr id="4" name="Slide Number Placeholder 3">
            <a:extLst>
              <a:ext uri="{FF2B5EF4-FFF2-40B4-BE49-F238E27FC236}">
                <a16:creationId xmlns:a16="http://schemas.microsoft.com/office/drawing/2014/main" id="{06DF80D1-E241-5373-89CD-9B5D477C70CA}"/>
              </a:ext>
            </a:extLst>
          </p:cNvPr>
          <p:cNvSpPr>
            <a:spLocks noGrp="1"/>
          </p:cNvSpPr>
          <p:nvPr>
            <p:ph type="sldNum" sz="quarter" idx="5"/>
          </p:nvPr>
        </p:nvSpPr>
        <p:spPr/>
        <p:txBody>
          <a:bodyPr/>
          <a:lstStyle/>
          <a:p>
            <a:fld id="{53AE5ECF-7B7F-5944-B35C-91F1AF793846}" type="slidenum">
              <a:rPr lang="en-UG" smtClean="0"/>
              <a:t>6</a:t>
            </a:fld>
            <a:endParaRPr lang="en-UG"/>
          </a:p>
        </p:txBody>
      </p:sp>
    </p:spTree>
    <p:extLst>
      <p:ext uri="{BB962C8B-B14F-4D97-AF65-F5344CB8AC3E}">
        <p14:creationId xmlns:p14="http://schemas.microsoft.com/office/powerpoint/2010/main" val="42175574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2AE67B-9E77-95CD-71FF-E6B8506C6A4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D81A73-344A-E894-EAB4-478E315CE4C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AE879A-23D8-6E2A-8273-83B6EBA3BC3C}"/>
              </a:ext>
            </a:extLst>
          </p:cNvPr>
          <p:cNvSpPr>
            <a:spLocks noGrp="1"/>
          </p:cNvSpPr>
          <p:nvPr>
            <p:ph type="body" idx="1"/>
          </p:nvPr>
        </p:nvSpPr>
        <p:spPr/>
        <p:txBody>
          <a:bodyPr/>
          <a:lstStyle/>
          <a:p>
            <a:r>
              <a:rPr lang="en-UG" dirty="0"/>
              <a:t>This study used a mixed-methods design — both secondary quantitative data and primary qualitative data. Each strand served a distinct purpose.</a:t>
            </a:r>
          </a:p>
          <a:p>
            <a:r>
              <a:rPr lang="en-UG" dirty="0"/>
              <a:t>The secondary data is the backbone of the quantitative analysis. The dataset was extracted directly from Airtel Uganda's production database by me, as an authorised internal employee, between February and May 2026. The extraction used structured Presto and Hive SQL queries against four internal data sources — the OCS transaction table, the subscriber dimension table, the daily voice usage table, and the geographic master table. This was not a sample drawn from a public dataset. It is real, proprietary, production data, governed by a formal Data Use Agreement that is included in the appendices.</a:t>
            </a:r>
          </a:p>
          <a:p>
            <a:r>
              <a:rPr lang="en-UG" dirty="0"/>
              <a:t>The primary data addressed a question the numbers alone cannot answer — is this framework actually feasible to deploy? Eight key informants from Airtel Uganda's commercial, marketing, data analytics, and technology teams were interviewed using a semi-structured approach. Semi-structured interviews were chosen deliberately. A fully structured questionnaire would have constrained participants to pre-defined answers. Fully unstructured conversations would have made cross-participant comparison difficult. Semi-structured sits in between — a consistent question framework that allows unexpected themes to emerge, which is exactly what qualitative validation of a technical system requires.</a:t>
            </a:r>
          </a:p>
          <a:p>
            <a:r>
              <a:rPr lang="en-UG" dirty="0"/>
              <a:t>Together, the two strands serve the mixed-methods convergent design: the quantitative analysis identifies what the data shows, and the qualitative interviews confirm whether what the data shows is operationally real and deployable in Airtel Uganda's environment.</a:t>
            </a:r>
          </a:p>
          <a:p>
            <a:endParaRPr lang="en-UG" dirty="0"/>
          </a:p>
          <a:p>
            <a:pPr lvl="0"/>
            <a:r>
              <a:rPr lang="en-UG" dirty="0"/>
              <a:t>If asked "why Presto and Hive specifically?" — "Airtel's data warehouse runs on a Hadoop-based architecture; Presto and Hive are the standard query engines for that environment"</a:t>
            </a:r>
          </a:p>
          <a:p>
            <a:pPr lvl="0"/>
            <a:r>
              <a:rPr lang="en-UG" dirty="0"/>
              <a:t>If asked about interview ethics — "Participant Information Sheets were provided, consent was obtained, all responses were anonymised — full documentation in Appendix B and D"</a:t>
            </a:r>
          </a:p>
          <a:p>
            <a:pPr lvl="0"/>
            <a:r>
              <a:rPr lang="en-UG" dirty="0"/>
              <a:t>If asked "why only 8 informants?" — "qualitative research does not seek statistical representativeness; it seeks informational richness. Eight senior informants covering commercial, technical, and analytics functions reached thematic saturation"</a:t>
            </a:r>
          </a:p>
          <a:p>
            <a:pPr lvl="0"/>
            <a:r>
              <a:rPr lang="en-UG" dirty="0"/>
              <a:t>The phrase "operationally real and deployable" — use it, it signals you understand the difference between academic findings and practical implementation</a:t>
            </a:r>
          </a:p>
          <a:p>
            <a:endParaRPr lang="en-UG" dirty="0"/>
          </a:p>
        </p:txBody>
      </p:sp>
      <p:sp>
        <p:nvSpPr>
          <p:cNvPr id="4" name="Slide Number Placeholder 3">
            <a:extLst>
              <a:ext uri="{FF2B5EF4-FFF2-40B4-BE49-F238E27FC236}">
                <a16:creationId xmlns:a16="http://schemas.microsoft.com/office/drawing/2014/main" id="{A978E3A4-B7C7-48AC-4CE3-D93247A7AE89}"/>
              </a:ext>
            </a:extLst>
          </p:cNvPr>
          <p:cNvSpPr>
            <a:spLocks noGrp="1"/>
          </p:cNvSpPr>
          <p:nvPr>
            <p:ph type="sldNum" sz="quarter" idx="5"/>
          </p:nvPr>
        </p:nvSpPr>
        <p:spPr/>
        <p:txBody>
          <a:bodyPr/>
          <a:lstStyle/>
          <a:p>
            <a:fld id="{53AE5ECF-7B7F-5944-B35C-91F1AF793846}" type="slidenum">
              <a:rPr lang="en-UG" smtClean="0"/>
              <a:t>7</a:t>
            </a:fld>
            <a:endParaRPr lang="en-UG"/>
          </a:p>
        </p:txBody>
      </p:sp>
    </p:spTree>
    <p:extLst>
      <p:ext uri="{BB962C8B-B14F-4D97-AF65-F5344CB8AC3E}">
        <p14:creationId xmlns:p14="http://schemas.microsoft.com/office/powerpoint/2010/main" val="219074742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28C73-2CAA-D7F6-C08A-D55AD2B977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346125-3801-BC02-7747-5CC08E0FF2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226D46-2A8C-98BF-3EC8-F9E72FBAFE17}"/>
              </a:ext>
            </a:extLst>
          </p:cNvPr>
          <p:cNvSpPr>
            <a:spLocks noGrp="1"/>
          </p:cNvSpPr>
          <p:nvPr>
            <p:ph type="body" idx="1"/>
          </p:nvPr>
        </p:nvSpPr>
        <p:spPr/>
        <p:txBody>
          <a:bodyPr/>
          <a:lstStyle/>
          <a:p>
            <a:r>
              <a:rPr lang="en-UG" dirty="0"/>
              <a:t>All quantitative analysis was conducted in Python 3.10 on Google Colab — a reproducible, cloud-based environment. The full codebase is publicly available on GitHub so every step can be verified and replicated.</a:t>
            </a:r>
          </a:p>
          <a:p>
            <a:r>
              <a:rPr lang="en-UG" dirty="0"/>
              <a:t>The core libraries were: Pandas for data ingestion and cleaning, NumPy for numerical operations, Scikit-learn for preprocessing and model evaluation, Imbalanced-learn for SMOTE oversampling, and XGBoost for the gradient boosting implementation. Each library was chosen because it is the established standard for its task in Python's data science ecosystem.</a:t>
            </a:r>
          </a:p>
          <a:p>
            <a:r>
              <a:rPr lang="en-UG" dirty="0"/>
              <a:t>Three statistical tests were applied before any modelling, each answering a different structural question about the data. Spearman Rank Correlation measured the strength and direction of relationships between numeric features and the target variable — Spearman rather than Pearson because the behavioural data is non-normally distributed and the target is ordinal. One-Way ANOVA tested whether the mean of each feature differed significantly across the eight customer value segments — a high F-statistic means the feature discriminates between segments. Chi-Square tested whether categorical features are independent of segment membership. All three tests used a significance threshold of alpha equals 0.05.</a:t>
            </a:r>
          </a:p>
          <a:p>
            <a:r>
              <a:rPr lang="en-UG" dirty="0"/>
              <a:t>The preprocessing pipeline had four stages. First, data cleaning — missing values were imputed using the median, duplicates were removed, and timestamps were standardised to enable time-window calculations. Median imputation was chosen over mean because the revenue and usage distributions are heavily right-skewed. Second, feature engineering — ARPU rolling windows, purchase frequency, recency, bundle depletion rate, and temporal variables were constructed from the raw transaction records. Third, encoding — categorical variables were converted to numerical representations using label encoding for compatibility with all four classifiers. Fourth, class balancing — SMOTE was applied to the training set only, never the test set, to prevent data leakage. And critically, SMOTE was capped to avoid inflating the dataset with synthetic records.</a:t>
            </a:r>
          </a:p>
          <a:p>
            <a:endParaRPr lang="en-UG" dirty="0"/>
          </a:p>
          <a:p>
            <a:pPr lvl="0"/>
            <a:r>
              <a:rPr lang="en-UG" dirty="0"/>
              <a:t>"Applied to the training set only, never the test set" — say this explicitly. It shows you understand data leakage, which is a common panel challenge</a:t>
            </a:r>
          </a:p>
          <a:p>
            <a:pPr lvl="0"/>
            <a:r>
              <a:rPr lang="en-UG" dirty="0"/>
              <a:t>If asked why median not mean imputation: "revenue and usage metrics are heavily right-skewed — a single high-revenue subscriber would drag the mean upward and misrepresent the typical subscriber"</a:t>
            </a:r>
          </a:p>
          <a:p>
            <a:pPr lvl="0"/>
            <a:r>
              <a:rPr lang="en-UG" dirty="0"/>
              <a:t>If asked why label encoding not one-hot: "one-hot encoding on high-cardinality categoricals like region and bundle ID would create hundreds of sparse columns; tree-based models handle label-encoded ordinal-style integers natively"</a:t>
            </a:r>
          </a:p>
          <a:p>
            <a:pPr lvl="0"/>
            <a:r>
              <a:rPr lang="en-UG" dirty="0"/>
              <a:t>If asked why Google Colab: "accessible, reproducible, and GPU-enabled for the larger SMOTE and XGBoost operations — and the notebook is on GitHub so the panel can run it themselves"</a:t>
            </a:r>
          </a:p>
          <a:p>
            <a:pPr lvl="0"/>
            <a:r>
              <a:rPr lang="en-UG" dirty="0"/>
              <a:t>"Every step can be verified and replicated" — say this with confidence, it is a genuine strength</a:t>
            </a:r>
          </a:p>
          <a:p>
            <a:endParaRPr lang="en-UG" dirty="0"/>
          </a:p>
        </p:txBody>
      </p:sp>
      <p:sp>
        <p:nvSpPr>
          <p:cNvPr id="4" name="Slide Number Placeholder 3">
            <a:extLst>
              <a:ext uri="{FF2B5EF4-FFF2-40B4-BE49-F238E27FC236}">
                <a16:creationId xmlns:a16="http://schemas.microsoft.com/office/drawing/2014/main" id="{48B57329-143A-FA31-0D0D-760A68CC4A65}"/>
              </a:ext>
            </a:extLst>
          </p:cNvPr>
          <p:cNvSpPr>
            <a:spLocks noGrp="1"/>
          </p:cNvSpPr>
          <p:nvPr>
            <p:ph type="sldNum" sz="quarter" idx="5"/>
          </p:nvPr>
        </p:nvSpPr>
        <p:spPr/>
        <p:txBody>
          <a:bodyPr/>
          <a:lstStyle/>
          <a:p>
            <a:fld id="{53AE5ECF-7B7F-5944-B35C-91F1AF793846}" type="slidenum">
              <a:rPr lang="en-UG" smtClean="0"/>
              <a:t>8</a:t>
            </a:fld>
            <a:endParaRPr lang="en-UG"/>
          </a:p>
        </p:txBody>
      </p:sp>
    </p:spTree>
    <p:extLst>
      <p:ext uri="{BB962C8B-B14F-4D97-AF65-F5344CB8AC3E}">
        <p14:creationId xmlns:p14="http://schemas.microsoft.com/office/powerpoint/2010/main" val="21526256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4B25F0-A6D2-B8F1-A808-F4268D247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F5B787-0FF9-D416-473E-912F145E5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2F65A0-BEFD-7913-8C92-E14470CFAE0F}"/>
              </a:ext>
            </a:extLst>
          </p:cNvPr>
          <p:cNvSpPr>
            <a:spLocks noGrp="1"/>
          </p:cNvSpPr>
          <p:nvPr>
            <p:ph type="body" idx="1"/>
          </p:nvPr>
        </p:nvSpPr>
        <p:spPr/>
        <p:txBody>
          <a:bodyPr/>
          <a:lstStyle/>
          <a:p>
            <a:r>
              <a:rPr lang="en-UG" dirty="0"/>
              <a:t>The dataset was split 70% for training and 30% for testing using stratified sampling — stratification ensures every segment class appears in the test set in the same proportion as the full dataset, which matters when one class has 776,000 subscribers and another has 34.</a:t>
            </a:r>
          </a:p>
          <a:p>
            <a:r>
              <a:rPr lang="en-UG" dirty="0"/>
              <a:t>Four models were evaluated in a deliberate sequence. Logistic Regression as the linear baseline — if a straight line cannot separate the classes, we know non-linear models are needed. Decision Tree as an interpretable non-linear baseline. Random Forest as a bagging ensemble — multiple trees voting, with built-in feature importance. And XGBoost as a boosting ensemble — trees built sequentially, each correcting the errors of the last, which is particularly effective on imbalanced, high-dimensional tabular data.</a:t>
            </a:r>
          </a:p>
          <a:p>
            <a:r>
              <a:rPr lang="en-UG" dirty="0"/>
              <a:t>Hyperparameter tuning was done using GridSearchCV with 5-fold cross-validation on the training set. The best parameters were selected based on weighted F1-Score — not accuracy — because accuracy is misleading on imbalanced data. If 53% of subscribers are Silver, a model that predicts Silver for everyone gets 53% accuracy while being completely useless. Weighted F1 accounts for class imbalance.</a:t>
            </a:r>
          </a:p>
          <a:p>
            <a:r>
              <a:rPr lang="en-UG" dirty="0"/>
              <a:t>Five evaluation metrics were computed on the hold-out test set. Accuracy as the overall proportion correct. Precision — of the bundles the model recommended, how many were genuinely the right fit. Recall — of the actual purchases, how many did the model correctly anticipate. F1-Score as the harmonic mean of precision and recall, the primary selection criterion. And AUC-ROC to assess how well the model separates classes across probability thresholds.</a:t>
            </a:r>
          </a:p>
          <a:p>
            <a:r>
              <a:rPr lang="en-UG" dirty="0"/>
              <a:t>Feature importance from the Random Forest model then answered Objective 1 directly — which attributes actually drove the predictions. And the final step integrated those quantitative outputs with the qualitative interview findings to produce the three strategic recommendations for Airtel Uganda.</a:t>
            </a:r>
          </a:p>
          <a:p>
            <a:endParaRPr lang="en-UG" dirty="0"/>
          </a:p>
          <a:p>
            <a:pPr lvl="0"/>
            <a:r>
              <a:rPr lang="en-UG" dirty="0"/>
              <a:t>"Stratified because one class has 776,000 and another has 34" — saying the actual numbers shows you know your data cold</a:t>
            </a:r>
          </a:p>
          <a:p>
            <a:pPr lvl="0"/>
            <a:r>
              <a:rPr lang="en-UG" dirty="0"/>
              <a:t>"Accuracy is misleading on imbalanced data" — if you say only one methodological insight in this slide, make it this one. Panels test for it</a:t>
            </a:r>
          </a:p>
          <a:p>
            <a:pPr lvl="0"/>
            <a:r>
              <a:rPr lang="en-UG" dirty="0"/>
              <a:t>If asked why GridSearchCV over RandomizedSearchCV: "the parameter space was bounded and computationally feasible with 5-fold CV on the training set; GridSearchCV ensures the optimal combination is found rather than sampled"</a:t>
            </a:r>
          </a:p>
          <a:p>
            <a:pPr lvl="0"/>
            <a:r>
              <a:rPr lang="en-UG" dirty="0"/>
              <a:t>If asked about AUC-ROC on a multiclass problem: "we used the One-vs-Rest approach — each class is evaluated against all others, and the scores are averaged using weighted averaging to account for class imbalance"</a:t>
            </a:r>
          </a:p>
          <a:p>
            <a:pPr lvl="0"/>
            <a:r>
              <a:rPr lang="en-UG" dirty="0"/>
              <a:t>"Integrated quantitative outputs with qualitative findings" — this is your convergent mixed-methods payoff. Say it deliberately, it shows the two strands were not parallel but actually merged</a:t>
            </a:r>
          </a:p>
          <a:p>
            <a:endParaRPr lang="en-UG" dirty="0"/>
          </a:p>
        </p:txBody>
      </p:sp>
      <p:sp>
        <p:nvSpPr>
          <p:cNvPr id="4" name="Slide Number Placeholder 3">
            <a:extLst>
              <a:ext uri="{FF2B5EF4-FFF2-40B4-BE49-F238E27FC236}">
                <a16:creationId xmlns:a16="http://schemas.microsoft.com/office/drawing/2014/main" id="{8683E3FE-CC6F-280C-9D6F-850B14421C75}"/>
              </a:ext>
            </a:extLst>
          </p:cNvPr>
          <p:cNvSpPr>
            <a:spLocks noGrp="1"/>
          </p:cNvSpPr>
          <p:nvPr>
            <p:ph type="sldNum" sz="quarter" idx="5"/>
          </p:nvPr>
        </p:nvSpPr>
        <p:spPr/>
        <p:txBody>
          <a:bodyPr/>
          <a:lstStyle/>
          <a:p>
            <a:fld id="{53AE5ECF-7B7F-5944-B35C-91F1AF793846}" type="slidenum">
              <a:rPr lang="en-UG" smtClean="0"/>
              <a:t>9</a:t>
            </a:fld>
            <a:endParaRPr lang="en-UG"/>
          </a:p>
        </p:txBody>
      </p:sp>
    </p:spTree>
    <p:extLst>
      <p:ext uri="{BB962C8B-B14F-4D97-AF65-F5344CB8AC3E}">
        <p14:creationId xmlns:p14="http://schemas.microsoft.com/office/powerpoint/2010/main" val="17854941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3CB57C-AE70-C120-66DD-4D6ADDB366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67E288-67B7-ACA2-CC0F-D0DDE7FB6F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68D681-C93E-AFB8-505A-BA6439DA53BD}"/>
              </a:ext>
            </a:extLst>
          </p:cNvPr>
          <p:cNvSpPr>
            <a:spLocks noGrp="1"/>
          </p:cNvSpPr>
          <p:nvPr>
            <p:ph type="body" idx="1"/>
          </p:nvPr>
        </p:nvSpPr>
        <p:spPr/>
        <p:txBody>
          <a:bodyPr/>
          <a:lstStyle/>
          <a:p>
            <a:r>
              <a:rPr lang="en-UG" dirty="0"/>
              <a:t>Let me take you through the results for each objective in turn.</a:t>
            </a:r>
          </a:p>
          <a:p>
            <a:r>
              <a:rPr lang="en-UG" b="1" dirty="0"/>
              <a:t>Objective 1 — Key Customer Behavioural Attributes</a:t>
            </a:r>
            <a:endParaRPr lang="en-UG" dirty="0"/>
          </a:p>
          <a:p>
            <a:r>
              <a:rPr lang="en-UG" dirty="0"/>
              <a:t>Three statistical tests were applied to the full dataset of 1,458,900 subscribers. The result was clear: 34 of 35 numeric features and all 7 categorical features were significantly associated with voice bundle segment membership at the alpha equals 0.05 level. The one non-significant feature was UPGRADE_RATE — whether a customer upgrades to a more expensive bundle has no monotonic relationship with their segment. That is itself a finding worth noting.</a:t>
            </a:r>
          </a:p>
          <a:p>
            <a:r>
              <a:rPr lang="en-UG" dirty="0"/>
              <a:t>The strongest predictors were Total Revenue, Voice Intensity, Bundle Spend in the last 30 days, Smartphone usage, and Call Activity. H1 is accepted — customer behavioural attributes significantly predict bundle segment membership.</a:t>
            </a:r>
          </a:p>
          <a:p>
            <a:r>
              <a:rPr lang="en-UG" dirty="0"/>
              <a:t>One important interpretive note: with 1.46 million subscribers, statistical power is extremely high — even very small effects reach significance. So the analytical value is not just that features are significant, but the ranking of their effect sizes. That ranking is what drives the feature engineering and the recommendations.</a:t>
            </a:r>
          </a:p>
          <a:p>
            <a:r>
              <a:rPr lang="en-UG" b="1" dirty="0"/>
              <a:t>Objective 2 — Model Performance</a:t>
            </a:r>
            <a:endParaRPr lang="en-UG" dirty="0"/>
          </a:p>
          <a:p>
            <a:r>
              <a:rPr lang="en-UG" dirty="0"/>
              <a:t>XGBoost outperformed all three other models on every weighted metric — 68% accuracy, 67% precision, 68% recall, and an F1-Score of 0.661 on the 8-class hold-out test set of 446,599 records. H2 is accepted.</a:t>
            </a:r>
          </a:p>
          <a:p>
            <a:r>
              <a:rPr lang="en-UG" dirty="0"/>
              <a:t>To put that in context: a random classifier on 8 classes achieves 12.5% accuracy. XGBoost achieves 68% — a 5.4-fold improvement. The F1-Score range across the four models is 0.2146, confirming a meaningful performance hierarchy, not marginal differences.</a:t>
            </a:r>
          </a:p>
          <a:p>
            <a:r>
              <a:rPr lang="en-UG" b="1" dirty="0"/>
              <a:t>Objective 3 — Feature Importance and Business Impact</a:t>
            </a:r>
            <a:endParaRPr lang="en-UG" dirty="0"/>
          </a:p>
          <a:p>
            <a:r>
              <a:rPr lang="en-UG" dirty="0"/>
              <a:t>The Random Forest feature importance analysis identified the top five predictors. Total Revenue leads at 18% — expected, since segments are partly revenue-defined. The more important finding is what comes next: Spend per Minute at 6.57%, which is an engineered ratio of revenue to minutes used. That feature does not exist in Airtel's current segmentation system, and it ranks above raw call counts. It tells us spending efficiency is a stronger discriminator than spending volume.</a:t>
            </a:r>
          </a:p>
          <a:p>
            <a:r>
              <a:rPr lang="en-UG" dirty="0"/>
              <a:t>The simulated pilot projected a four to five-fold improvement in conversion rate — from 3% to between 12 and 15% — a 9% uplift in ARPU, and a 15 to 20% improvement in customer satisfaction. H3 is supported by the pilot evaluation, with the A/B test recommended as the confirmatory next step.</a:t>
            </a:r>
          </a:p>
          <a:p>
            <a:endParaRPr lang="en-UG" dirty="0"/>
          </a:p>
          <a:p>
            <a:pPr lvl="0"/>
            <a:r>
              <a:rPr lang="en-UG" dirty="0"/>
              <a:t>"34 of 35" then immediately acknowledge the large-sample caveat — shows intellectual honesty before the panel raises it</a:t>
            </a:r>
          </a:p>
          <a:p>
            <a:pPr lvl="0"/>
            <a:r>
              <a:rPr lang="en-UG" dirty="0"/>
              <a:t>"5.4-fold improvement over random" — use this phrase, not just the raw 68%. It contextualises the result properly</a:t>
            </a:r>
          </a:p>
          <a:p>
            <a:pPr lvl="0"/>
            <a:r>
              <a:rPr lang="en-UG" dirty="0"/>
              <a:t>On Spend per Minute: "this feature does not exist in Airtel's current segmentation — that is the core commercial contribution" — deliver this clearly and slowly</a:t>
            </a:r>
          </a:p>
          <a:p>
            <a:pPr lvl="0"/>
            <a:r>
              <a:rPr lang="en-UG" dirty="0"/>
              <a:t>If asked "why are H1 and H2 accepted but H3 only supported?" — "H1 and H2 are fully confirmed on the hold-out test set. H3 projections are grounded in model precision and external benchmarks, but require a live A/B test for causal confirmation — that is why I say supported rather than accepted"</a:t>
            </a:r>
          </a:p>
          <a:p>
            <a:pPr lvl="0"/>
            <a:r>
              <a:rPr lang="en-UG" dirty="0"/>
              <a:t>Say "446,599 hold-out records" when you mention the test set — the panel should know you know that number</a:t>
            </a:r>
          </a:p>
          <a:p>
            <a:endParaRPr lang="en-UG" dirty="0"/>
          </a:p>
        </p:txBody>
      </p:sp>
      <p:sp>
        <p:nvSpPr>
          <p:cNvPr id="4" name="Slide Number Placeholder 3">
            <a:extLst>
              <a:ext uri="{FF2B5EF4-FFF2-40B4-BE49-F238E27FC236}">
                <a16:creationId xmlns:a16="http://schemas.microsoft.com/office/drawing/2014/main" id="{D5C51092-CE58-31D5-81DB-ACDF4CBBDC67}"/>
              </a:ext>
            </a:extLst>
          </p:cNvPr>
          <p:cNvSpPr>
            <a:spLocks noGrp="1"/>
          </p:cNvSpPr>
          <p:nvPr>
            <p:ph type="sldNum" sz="quarter" idx="5"/>
          </p:nvPr>
        </p:nvSpPr>
        <p:spPr/>
        <p:txBody>
          <a:bodyPr/>
          <a:lstStyle/>
          <a:p>
            <a:fld id="{53AE5ECF-7B7F-5944-B35C-91F1AF793846}" type="slidenum">
              <a:rPr lang="en-UG" smtClean="0"/>
              <a:t>10</a:t>
            </a:fld>
            <a:endParaRPr lang="en-UG"/>
          </a:p>
        </p:txBody>
      </p:sp>
    </p:spTree>
    <p:extLst>
      <p:ext uri="{BB962C8B-B14F-4D97-AF65-F5344CB8AC3E}">
        <p14:creationId xmlns:p14="http://schemas.microsoft.com/office/powerpoint/2010/main" val="404245317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5784A1-E81E-4547-1568-25BCB38BD64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5E2C4A-3113-2644-181C-D04BAF1B25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75B5F0-D19A-CDCF-2D65-08600604E1A9}"/>
              </a:ext>
            </a:extLst>
          </p:cNvPr>
          <p:cNvSpPr>
            <a:spLocks noGrp="1"/>
          </p:cNvSpPr>
          <p:nvPr>
            <p:ph type="body" idx="1"/>
          </p:nvPr>
        </p:nvSpPr>
        <p:spPr/>
        <p:txBody>
          <a:bodyPr/>
          <a:lstStyle/>
          <a:p>
            <a:r>
              <a:rPr lang="en-UG" dirty="0"/>
              <a:t>Now let me interpret what the results actually mean — moving from numbers to insight.</a:t>
            </a:r>
          </a:p>
          <a:p>
            <a:r>
              <a:rPr lang="en-UG" b="1" dirty="0"/>
              <a:t>On H1 — Behavioural Predictors</a:t>
            </a:r>
            <a:endParaRPr lang="en-UG" dirty="0"/>
          </a:p>
          <a:p>
            <a:r>
              <a:rPr lang="en-UG" dirty="0"/>
              <a:t>The most important finding here is not the volume of significant features — with 1.46 million subscribers almost everything reaches significance. The insight is the composition of the top predictors. Smartphone ownership was the strongest non-revenue predictor. That is not just a demographic variable — it is a proxy for digital engagement, data literacy, and willingness to interact with higher-tier products. A subscriber on a 4G smartphone has fundamentally different bundle needs from one on a 2G feature phone, even if their ARPU is identical.</a:t>
            </a:r>
          </a:p>
          <a:p>
            <a:r>
              <a:rPr lang="en-UG" dirty="0"/>
              <a:t>Recent bundle spend, voice intensity, purchase frequency, and active days all ranked highly — these are behavioural signals observable in real time from the network. And UPGRADE_RATE showed no meaningful relationship with segment, which tells us that monitoring whether a customer upgrades is not a useful indicator of who they are. What they do every day is far more informative than what they occasionally choose to change.</a:t>
            </a:r>
          </a:p>
          <a:p>
            <a:r>
              <a:rPr lang="en-UG" dirty="0"/>
              <a:t>The headline conclusion: behavioural features provide better segmentation than ARPU bands. ARPU tells you what someone spent. Behaviour tells you what they are likely to do next.</a:t>
            </a:r>
          </a:p>
          <a:p>
            <a:r>
              <a:rPr lang="en-UG" b="1" dirty="0"/>
              <a:t>On H2 — Model Performance</a:t>
            </a:r>
            <a:endParaRPr lang="en-UG" dirty="0"/>
          </a:p>
          <a:p>
            <a:r>
              <a:rPr lang="en-UG" dirty="0"/>
              <a:t>XGBoost winning is consistent with the literature — gradient boosting consistently outperforms other algorithms on imbalanced, high-dimensional tabular data. The F1 of 0.661 should be interpreted in context: this is an 8-class problem with a 1-to-22,000 class ratio between Diamond and Silver. Against the honest baseline of 12.5% random accuracy, a 5.4-fold improvement is a strong result.</a:t>
            </a:r>
          </a:p>
          <a:p>
            <a:r>
              <a:rPr lang="en-UG" b="1" dirty="0"/>
              <a:t>On Strategic Insights</a:t>
            </a:r>
            <a:endParaRPr lang="en-UG" dirty="0"/>
          </a:p>
          <a:p>
            <a:r>
              <a:rPr lang="en-UG" dirty="0"/>
              <a:t>Three findings stand out for Airtel's commercial team. First — Spend per Minute outranks ARPU as a predictor. Two customers with the same monthly spend but different minutes-per-shilling profiles need completely different bundles. ARPU banding cannot see that distinction. This single insight justifies the move to behavioural recommendation.</a:t>
            </a:r>
          </a:p>
          <a:p>
            <a:r>
              <a:rPr lang="en-UG" dirty="0"/>
              <a:t>Second — Voice Intensity is a real-time trigger. When a subscriber's calls per active day spike above their personal baseline, they are about to run out of bundle. That is the moment to push a recommendation — not on a weekly campaign schedule, but at the moment of intent.</a:t>
            </a:r>
          </a:p>
          <a:p>
            <a:r>
              <a:rPr lang="en-UG" dirty="0"/>
              <a:t>Third — Mobile Money usage adds a dimension beyond voice. Subscribers who actively use mobile money show a distinct engagement profile that correlates with higher-value segments. This creates a cross-service recommendation opportunity Airtel already has the data to act on.</a:t>
            </a:r>
          </a:p>
          <a:p>
            <a:r>
              <a:rPr lang="en-UG" dirty="0"/>
              <a:t>On H3 — the projected impact of 67% recommendation precision, conversion improvement from 3% to 12-15%, and 9% ARPU uplift are grounded in the model's performance and external benchmarks. Preliminary support is the honest assessment. A randomised A/B test is the confirmatory step — and that is precisely what Recommendation 3 specifies.</a:t>
            </a:r>
          </a:p>
          <a:p>
            <a:endParaRPr lang="en-UG" dirty="0"/>
          </a:p>
          <a:p>
            <a:pPr lvl="0"/>
            <a:r>
              <a:rPr lang="en-UG" dirty="0"/>
              <a:t>"ARPU tells you what someone spent. Behaviour tells you what they are likely to do next." — memorise this line and deliver it as your discussion slide's anchor</a:t>
            </a:r>
          </a:p>
          <a:p>
            <a:pPr lvl="0"/>
            <a:r>
              <a:rPr lang="en-UG" dirty="0"/>
              <a:t>If asked to elaborate on why XGBoost beats Random Forest specifically: "boosting corrects errors sequentially — each tree targets the mistakes of the previous one. Bagging averages independently-trained trees. On imbalanced data, sequential error correction handles the minority classes more effectively"</a:t>
            </a:r>
          </a:p>
          <a:p>
            <a:pPr lvl="0"/>
            <a:r>
              <a:rPr lang="en-UG" dirty="0"/>
              <a:t>"Moment of intent" for the Voice Intensity trigger — use this phrase, it is commercially compelling and technically precise</a:t>
            </a:r>
          </a:p>
          <a:p>
            <a:pPr lvl="0"/>
            <a:r>
              <a:rPr lang="en-UG" dirty="0"/>
              <a:t>Pause after "preliminary support is the honest assessment" — let the panel register that you are not overclaiming. That intellectual honesty is a strength, not a weakness</a:t>
            </a:r>
          </a:p>
          <a:p>
            <a:endParaRPr lang="en-UG" dirty="0"/>
          </a:p>
        </p:txBody>
      </p:sp>
      <p:sp>
        <p:nvSpPr>
          <p:cNvPr id="4" name="Slide Number Placeholder 3">
            <a:extLst>
              <a:ext uri="{FF2B5EF4-FFF2-40B4-BE49-F238E27FC236}">
                <a16:creationId xmlns:a16="http://schemas.microsoft.com/office/drawing/2014/main" id="{242C3390-8EDA-DB6B-E296-A56FB2666FA1}"/>
              </a:ext>
            </a:extLst>
          </p:cNvPr>
          <p:cNvSpPr>
            <a:spLocks noGrp="1"/>
          </p:cNvSpPr>
          <p:nvPr>
            <p:ph type="sldNum" sz="quarter" idx="5"/>
          </p:nvPr>
        </p:nvSpPr>
        <p:spPr/>
        <p:txBody>
          <a:bodyPr/>
          <a:lstStyle/>
          <a:p>
            <a:fld id="{53AE5ECF-7B7F-5944-B35C-91F1AF793846}" type="slidenum">
              <a:rPr lang="en-UG" smtClean="0"/>
              <a:t>11</a:t>
            </a:fld>
            <a:endParaRPr lang="en-UG"/>
          </a:p>
        </p:txBody>
      </p:sp>
    </p:spTree>
    <p:extLst>
      <p:ext uri="{BB962C8B-B14F-4D97-AF65-F5344CB8AC3E}">
        <p14:creationId xmlns:p14="http://schemas.microsoft.com/office/powerpoint/2010/main" val="28343632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802F06-97FD-6710-2965-BDBA3E9C7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0043D9-1E62-8D59-B3DE-1EA297EF3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392259-9C38-10A2-3775-83DB1E4D9DF2}"/>
              </a:ext>
            </a:extLst>
          </p:cNvPr>
          <p:cNvSpPr>
            <a:spLocks noGrp="1"/>
          </p:cNvSpPr>
          <p:nvPr>
            <p:ph type="body" idx="1"/>
          </p:nvPr>
        </p:nvSpPr>
        <p:spPr/>
        <p:txBody>
          <a:bodyPr/>
          <a:lstStyle/>
          <a:p>
            <a:r>
              <a:rPr lang="en-UG" b="1" dirty="0">
                <a:effectLst/>
              </a:rPr>
              <a:t>Slide: Recommendations</a:t>
            </a:r>
            <a:endParaRPr lang="en-UG" dirty="0">
              <a:effectLst/>
            </a:endParaRPr>
          </a:p>
          <a:p>
            <a:r>
              <a:rPr lang="en-UG" dirty="0">
                <a:effectLst/>
              </a:rPr>
              <a:t>The three recommendations translate the model's outputs into an operational deployment pathway. They are sequenced deliberately — trigger, enrich, govern.</a:t>
            </a:r>
          </a:p>
          <a:p>
            <a:r>
              <a:rPr lang="en-UG" b="1" dirty="0">
                <a:effectLst/>
              </a:rPr>
              <a:t>Recommendation 1 — Deploy a Personalised Recommendation Engine</a:t>
            </a:r>
            <a:endParaRPr lang="en-UG" dirty="0">
              <a:effectLst/>
            </a:endParaRPr>
          </a:p>
          <a:p>
            <a:r>
              <a:rPr lang="en-UG" dirty="0">
                <a:effectLst/>
              </a:rPr>
              <a:t>The core insight from the feature importance analysis is that Voice Intensity — calls per active day — is a real-time, network-observable signal. The recommendation is to configure the XGBoost model as an event-driven engine: when a subscriber's Voice Intensity exceeds their own 30-day rolling average by more than 20%, that is the trigger. The model scores their full behavioural profile and delivers a personalised recommendation via USSD push or SMS — at the moment of intent, not on a weekly campaign schedule.</a:t>
            </a:r>
          </a:p>
          <a:p>
            <a:r>
              <a:rPr lang="en-UG" dirty="0">
                <a:effectLst/>
              </a:rPr>
              <a:t>For subscribers whose Spend per Minute exceeds the median for their current segment, the engine surfaces a higher-tier bundle. These are customers whose efficiency profile indicates capacity for a more expensive product, even if their raw ARPU does not.</a:t>
            </a:r>
          </a:p>
          <a:p>
            <a:r>
              <a:rPr lang="en-UG" dirty="0">
                <a:effectLst/>
              </a:rPr>
              <a:t>This replaces a broadcast campaign architecture with a dynamic, event-driven one. Same channels — USSD, SMS — but completely different logic behind them.</a:t>
            </a:r>
          </a:p>
          <a:p>
            <a:r>
              <a:rPr lang="en-UG" b="1" dirty="0">
                <a:effectLst/>
              </a:rPr>
              <a:t>Recommendation 2 — Enrich Customer Segmentation</a:t>
            </a:r>
            <a:endParaRPr lang="en-UG" dirty="0">
              <a:effectLst/>
            </a:endParaRPr>
          </a:p>
          <a:p>
            <a:r>
              <a:rPr lang="en-UG" dirty="0">
                <a:effectLst/>
              </a:rPr>
              <a:t>The statistical tests confirmed that handset generation, preferred transaction channel, and geographic region are all significantly associated with bundle segment — yet none of these appear in Airtel's current ARPU bands. The recommendation is to incorporate all three as segmentation variables. Crucially, this requires zero new data collection — all three variables already exist in Airtel's production tables. The enrichment is a configuration change, not an infrastructure investment.</a:t>
            </a:r>
          </a:p>
          <a:p>
            <a:r>
              <a:rPr lang="en-UG" dirty="0">
                <a:effectLst/>
              </a:rPr>
              <a:t>The rollout should be phased: start with Kampala, Central 1, and Central 2 — the scope of this study and the regions with the richest behavioural data — before expanding nationally.</a:t>
            </a:r>
          </a:p>
          <a:p>
            <a:r>
              <a:rPr lang="en-UG" b="1" dirty="0">
                <a:effectLst/>
              </a:rPr>
              <a:t>Recommendation 3 — Establish Testing and Governance</a:t>
            </a:r>
            <a:endParaRPr lang="en-UG" dirty="0">
              <a:effectLst/>
            </a:endParaRPr>
          </a:p>
          <a:p>
            <a:r>
              <a:rPr lang="en-UG" dirty="0">
                <a:effectLst/>
              </a:rPr>
              <a:t>Projections from a simulated pilot must be validated by a live experiment. The recommendation is a randomised A/B test running for a minimum of 90 days. The treatment group receives XGBoost-driven personalised recommendations at Voice Intensity trigger points. The control group receives the standard generic experience. Primary metrics: bundle purchase conversion rate, ARPU, and repurchase frequency.</a:t>
            </a:r>
          </a:p>
          <a:p>
            <a:r>
              <a:rPr lang="en-UG" dirty="0">
                <a:effectLst/>
              </a:rPr>
              <a:t>Alongside the test, a formal Model Governance Framework should be established: a real-time performance dashboard tracking weekly F1-Score against the 0.661 baseline, quarterly retraining cycles to keep the model current as the bundle catalogue and subscriber behaviour evolve, and a closed-loop feedback system logging every recommendation event and its outcome. Without governance, a well-performing model drifts into an irrelevant one.</a:t>
            </a:r>
          </a:p>
          <a:p>
            <a:br>
              <a:rPr lang="en-UG" dirty="0">
                <a:effectLst/>
              </a:rPr>
            </a:br>
            <a:endParaRPr lang="en-UG" dirty="0">
              <a:effectLst/>
            </a:endParaRPr>
          </a:p>
          <a:p>
            <a:r>
              <a:rPr lang="en-UG" b="1" dirty="0">
                <a:effectLst/>
              </a:rPr>
              <a:t>Key points to land verbally:</a:t>
            </a:r>
            <a:endParaRPr lang="en-UG" dirty="0">
              <a:effectLst/>
            </a:endParaRPr>
          </a:p>
          <a:p>
            <a:pPr lvl="0"/>
            <a:r>
              <a:rPr lang="en-UG" dirty="0">
                <a:effectLst/>
              </a:rPr>
              <a:t>"At the moment of intent, not on a weekly campaign schedule" — this is the sharpest contrast between current and proposed. Deliver it with emphasis</a:t>
            </a:r>
          </a:p>
          <a:p>
            <a:pPr lvl="0"/>
            <a:r>
              <a:rPr lang="en-UG" dirty="0">
                <a:effectLst/>
              </a:rPr>
              <a:t>"Zero new data collection" for Recommendation 2 — say this explicitly. It is the commercial case for why this is immediately actionable</a:t>
            </a:r>
          </a:p>
          <a:p>
            <a:pPr lvl="0"/>
            <a:r>
              <a:rPr lang="en-UG" dirty="0">
                <a:effectLst/>
              </a:rPr>
              <a:t>If asked "why 20% threshold for Voice Intensity?" — "it is a starting calibration point designed to filter noise while capturing genuine behavioural spikes; the A/B test will provide empirical grounds for refining it"</a:t>
            </a:r>
          </a:p>
          <a:p>
            <a:pPr lvl="0"/>
            <a:r>
              <a:rPr lang="en-UG" dirty="0">
                <a:effectLst/>
              </a:rPr>
              <a:t>If asked "why 90 days for the A/B test?" — "90 days captures monthly purchase cycles, seasonal variation within a quarter, and generates sufficient transaction volume for statistically significant conversion rate comparison"</a:t>
            </a:r>
          </a:p>
          <a:p>
            <a:pPr lvl="0"/>
            <a:r>
              <a:rPr lang="en-UG" dirty="0">
                <a:effectLst/>
              </a:rPr>
              <a:t>End this slide strongly: "These three recommendations form a complete deployment pathway — trigger, enrich, govern. Not just findings, but a roadmap Airtel can act on."</a:t>
            </a:r>
          </a:p>
          <a:p>
            <a:endParaRPr lang="en-UG" dirty="0"/>
          </a:p>
        </p:txBody>
      </p:sp>
      <p:sp>
        <p:nvSpPr>
          <p:cNvPr id="4" name="Slide Number Placeholder 3">
            <a:extLst>
              <a:ext uri="{FF2B5EF4-FFF2-40B4-BE49-F238E27FC236}">
                <a16:creationId xmlns:a16="http://schemas.microsoft.com/office/drawing/2014/main" id="{D8348E9C-C927-4374-7246-C5B8B268B4EA}"/>
              </a:ext>
            </a:extLst>
          </p:cNvPr>
          <p:cNvSpPr>
            <a:spLocks noGrp="1"/>
          </p:cNvSpPr>
          <p:nvPr>
            <p:ph type="sldNum" sz="quarter" idx="5"/>
          </p:nvPr>
        </p:nvSpPr>
        <p:spPr/>
        <p:txBody>
          <a:bodyPr/>
          <a:lstStyle/>
          <a:p>
            <a:fld id="{53AE5ECF-7B7F-5944-B35C-91F1AF793846}" type="slidenum">
              <a:rPr lang="en-UG" smtClean="0"/>
              <a:t>12</a:t>
            </a:fld>
            <a:endParaRPr lang="en-UG"/>
          </a:p>
        </p:txBody>
      </p:sp>
    </p:spTree>
    <p:extLst>
      <p:ext uri="{BB962C8B-B14F-4D97-AF65-F5344CB8AC3E}">
        <p14:creationId xmlns:p14="http://schemas.microsoft.com/office/powerpoint/2010/main" val="336123085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93184B-9483-3371-8FD0-8C22EF3C13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EB30F0F-AB3C-8D44-11F4-A7CD3299F6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63CCE5-94B8-1D73-3FA7-9CE085026DA1}"/>
              </a:ext>
            </a:extLst>
          </p:cNvPr>
          <p:cNvSpPr>
            <a:spLocks noGrp="1"/>
          </p:cNvSpPr>
          <p:nvPr>
            <p:ph type="body" idx="1"/>
          </p:nvPr>
        </p:nvSpPr>
        <p:spPr/>
        <p:txBody>
          <a:bodyPr/>
          <a:lstStyle/>
          <a:p>
            <a:r>
              <a:rPr lang="en-UG" dirty="0"/>
              <a:t>Every study has boundaries. Naming them clearly is a mark of rigour, not weakness — and the panel will appreciate that I am raising these before they do.</a:t>
            </a:r>
          </a:p>
          <a:p>
            <a:r>
              <a:rPr lang="en-UG" b="1" dirty="0"/>
              <a:t>Model constraints.</a:t>
            </a:r>
            <a:r>
              <a:rPr lang="en-UG" dirty="0"/>
              <a:t> This is an 8-class classification problem with severe class imbalance — 776,970 Silver subscribers against 34 Diamond. Capped SMOTE addressed the imbalance partially, but minority-class performance is visibly lower: Ivory F1 of 0.33 versus Silver F1 of 0.79. That pattern is expected and acknowledged. In practice, the Diamond class is so rare that a key-account team rather than an algorithm would handle it — but the limitation stands.</a:t>
            </a:r>
          </a:p>
          <a:p>
            <a:r>
              <a:rPr lang="en-UG" b="1" dirty="0"/>
              <a:t>Data matching.</a:t>
            </a:r>
            <a:r>
              <a:rPr lang="en-UG" dirty="0"/>
              <a:t> The purchase timing data and the current product catalogue did not match fully — 267 of 738 bundle IDs aligned. Retired and promotional bundles from the 90-day window are no longer in the current catalogue snapshot. Those transactions were excluded rather than mislabelled, so the model is correct on what it sees, but coverage is not complete. The fix — using a historical catalogue for the join — is specified as future work.</a:t>
            </a:r>
          </a:p>
          <a:p>
            <a:r>
              <a:rPr lang="en-UG" b="1" dirty="0"/>
              <a:t>Scope and validation.</a:t>
            </a:r>
            <a:r>
              <a:rPr lang="en-UG" dirty="0"/>
              <a:t> The study covers Central Uganda only — Kampala, Central 1, and Central 2. Rural and peri-urban subscriber behaviour may differ meaningfully, and national generalisation has not been tested. Separately, the projected business impacts — conversion rate improvement and ARPU uplift — come from a simulated pilot on the hold-out set, not from a live commercial deployment. They are estimates until the A/B test confirms them.</a:t>
            </a:r>
          </a:p>
          <a:p>
            <a:r>
              <a:rPr lang="en-UG" b="1" dirty="0"/>
              <a:t>Seasonality.</a:t>
            </a:r>
            <a:r>
              <a:rPr lang="en-UG" dirty="0"/>
              <a:t> Three months captures weekly and monthly purchase cycles effectively, but it cannot capture annual patterns — December festive spending, school-term income constraints, or agricultural income cycles in rural regions. Quarterly retraining in the governance framework is the operational mitigation.</a:t>
            </a:r>
          </a:p>
          <a:p>
            <a:r>
              <a:rPr lang="en-UG" b="1" dirty="0"/>
              <a:t>Data privacy and replicability.</a:t>
            </a:r>
            <a:r>
              <a:rPr lang="en-UG" dirty="0"/>
              <a:t> Because the data is proprietary and commercially sensitive, the raw dataset cannot be published. The full analytical code is on GitHub, but external researchers cannot replicate the exact outputs without access to Airtel's data warehouse. This is an inherent constraint of industry-partnered research.</a:t>
            </a:r>
          </a:p>
          <a:p>
            <a:r>
              <a:rPr lang="en-UG" b="1" dirty="0"/>
              <a:t>Bias in success metrics.</a:t>
            </a:r>
            <a:r>
              <a:rPr lang="en-UG" dirty="0"/>
              <a:t> The study measures success through commercial outcomes — revenue and conversion rates. These are the right metrics for Airtel's business case, but they do not directly capture subjective customer experience. Future work should incorporate customer satisfaction surveys alongside the A/B test metrics to triangulate the full impact.</a:t>
            </a:r>
          </a:p>
          <a:p>
            <a:endParaRPr lang="en-UG" dirty="0"/>
          </a:p>
          <a:p>
            <a:pPr lvl="0"/>
            <a:r>
              <a:rPr lang="en-UG" dirty="0"/>
              <a:t>Open with "naming these before the panel does" — it frames the slide as intellectual honesty, not defensiveness</a:t>
            </a:r>
          </a:p>
          <a:p>
            <a:pPr lvl="0"/>
            <a:r>
              <a:rPr lang="en-UG" dirty="0"/>
              <a:t>If a panellist raises a limitation not on this list: "That is a fair point and a valuable direction I did not cover" — then move on. Do not argue</a:t>
            </a:r>
          </a:p>
          <a:p>
            <a:pPr lvl="0"/>
            <a:r>
              <a:rPr lang="en-UG" dirty="0"/>
              <a:t>"Correct on what it sees" for the catalogue mismatch — this is the key phrase. The limitation is coverage, not correctness</a:t>
            </a:r>
          </a:p>
          <a:p>
            <a:pPr lvl="0"/>
            <a:r>
              <a:rPr lang="en-UG" dirty="0"/>
              <a:t>"Estimates until the A/B test confirms them" — use this exact phrasing for H3. It is the bridge from limitation to recommendation</a:t>
            </a:r>
          </a:p>
          <a:p>
            <a:pPr lvl="0"/>
            <a:r>
              <a:rPr lang="en-UG" dirty="0"/>
              <a:t>If asked why you did not collect customer satisfaction surveys: "semi-structured interviews with eight key informants provided the qualitative triangulation within the study scope; customer-level satisfaction surveys are specified in future work as the next validation layer"</a:t>
            </a:r>
          </a:p>
          <a:p>
            <a:endParaRPr lang="en-UG" dirty="0"/>
          </a:p>
        </p:txBody>
      </p:sp>
      <p:sp>
        <p:nvSpPr>
          <p:cNvPr id="4" name="Slide Number Placeholder 3">
            <a:extLst>
              <a:ext uri="{FF2B5EF4-FFF2-40B4-BE49-F238E27FC236}">
                <a16:creationId xmlns:a16="http://schemas.microsoft.com/office/drawing/2014/main" id="{9AB416EB-26A2-7767-3891-58FD634D53EE}"/>
              </a:ext>
            </a:extLst>
          </p:cNvPr>
          <p:cNvSpPr>
            <a:spLocks noGrp="1"/>
          </p:cNvSpPr>
          <p:nvPr>
            <p:ph type="sldNum" sz="quarter" idx="5"/>
          </p:nvPr>
        </p:nvSpPr>
        <p:spPr/>
        <p:txBody>
          <a:bodyPr/>
          <a:lstStyle/>
          <a:p>
            <a:fld id="{53AE5ECF-7B7F-5944-B35C-91F1AF793846}" type="slidenum">
              <a:rPr lang="en-UG" smtClean="0"/>
              <a:t>13</a:t>
            </a:fld>
            <a:endParaRPr lang="en-UG"/>
          </a:p>
        </p:txBody>
      </p:sp>
    </p:spTree>
    <p:extLst>
      <p:ext uri="{BB962C8B-B14F-4D97-AF65-F5344CB8AC3E}">
        <p14:creationId xmlns:p14="http://schemas.microsoft.com/office/powerpoint/2010/main" val="39876163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BAFF89-93DA-E278-2A68-6DAB232242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436F38E-335E-0423-451E-5D7D14762B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2071D6-1800-F8EE-555F-13C4658CA595}"/>
              </a:ext>
            </a:extLst>
          </p:cNvPr>
          <p:cNvSpPr>
            <a:spLocks noGrp="1"/>
          </p:cNvSpPr>
          <p:nvPr>
            <p:ph type="body" idx="1"/>
          </p:nvPr>
        </p:nvSpPr>
        <p:spPr/>
        <p:txBody>
          <a:bodyPr/>
          <a:lstStyle/>
          <a:p>
            <a:r>
              <a:rPr lang="en-UG" b="1" dirty="0"/>
              <a:t>Slide: Conclusion &amp; Contribution</a:t>
            </a:r>
            <a:endParaRPr lang="en-UG" dirty="0"/>
          </a:p>
          <a:p>
            <a:r>
              <a:rPr lang="en-UG" dirty="0"/>
              <a:t>Let me close with what this study actually contributes — three things that did not exist before this work.</a:t>
            </a:r>
          </a:p>
          <a:p>
            <a:r>
              <a:rPr lang="en-UG" b="1" dirty="0"/>
              <a:t>First — a validated ML framework for Uganda's prepaid market.</a:t>
            </a:r>
            <a:endParaRPr lang="en-UG" dirty="0"/>
          </a:p>
          <a:p>
            <a:r>
              <a:rPr lang="en-UG" dirty="0"/>
              <a:t>This is the first published, empirically validated machine learning recommendation system built on real transactional data from a Ugandan telecommunications operator. Not a synthetic dataset. Not a public benchmark. 1.45 million real subscriber records, real purchase histories, real Call Detail Records — analysed under a formal Data Use Agreement and fully anonymised. That closes a gap the literature review identified clearly: prior studies in this space all relied on public or synthetic data. This one did not.</a:t>
            </a:r>
          </a:p>
          <a:p>
            <a:r>
              <a:rPr lang="en-UG" b="1" dirty="0"/>
              <a:t>Second — a fundamental shift in what we know predicts bundle preference.</a:t>
            </a:r>
            <a:endParaRPr lang="en-UG" dirty="0"/>
          </a:p>
          <a:p>
            <a:r>
              <a:rPr lang="en-UG" dirty="0"/>
              <a:t>The study proves that spending efficiency — Spend per Minute — and call frequency — Voice Intensity — are stronger behavioural triggers than absolute spend. ARPU tells you what a customer spent. It does not tell you whether they are getting value from it, or whether they are about to run out. Spend per Minute and Voice Intensity do. That finding directly challenges the ARPU-banding logic that Airtel — and most telcos in the region — currently rely on. The implication is not incremental improvement of the existing system. It is a different segmentation logic entirely.</a:t>
            </a:r>
          </a:p>
          <a:p>
            <a:r>
              <a:rPr lang="en-UG" b="1" dirty="0"/>
              <a:t>Third — a 5.4-fold performance gain, with a clear path to 22-fold commercial improvement.</a:t>
            </a:r>
            <a:endParaRPr lang="en-UG" dirty="0"/>
          </a:p>
          <a:p>
            <a:r>
              <a:rPr lang="en-UG" dirty="0"/>
              <a:t>The XGBoost model achieves an F1-Score of 0.661 — 5.4 times better than random targeting on an 8-class problem. Translate that model precision into commercial terms: current generic campaigns convert below 3%. A system that recommends correctly 67% of the time projects to 12 to 15% conversion — a 22-fold improvement over what is happening today.</a:t>
            </a:r>
          </a:p>
          <a:p>
            <a:r>
              <a:rPr lang="en-UG" dirty="0"/>
              <a:t>Those three contributions together — validated framework, new predictors, deployable performance — represent the answer to why this study needed to be done, and why its findings matter beyond the walls of this room.</a:t>
            </a:r>
          </a:p>
          <a:p>
            <a:r>
              <a:rPr lang="en-UG" dirty="0"/>
              <a:t>Thank you. I welcome the panel's questions.</a:t>
            </a:r>
          </a:p>
          <a:p>
            <a:br>
              <a:rPr lang="en-UG" dirty="0"/>
            </a:br>
            <a:endParaRPr lang="en-UG" dirty="0"/>
          </a:p>
          <a:p>
            <a:r>
              <a:rPr lang="en-UG" b="1" dirty="0"/>
              <a:t>Key points to land verbally:</a:t>
            </a:r>
            <a:endParaRPr lang="en-UG" dirty="0"/>
          </a:p>
          <a:p>
            <a:pPr lvl="0"/>
            <a:r>
              <a:rPr lang="en-UG" dirty="0"/>
              <a:t>Slow down for this slide. You have earned it. Do not rush the close</a:t>
            </a:r>
          </a:p>
          <a:p>
            <a:pPr lvl="0"/>
            <a:r>
              <a:rPr lang="en-UG" dirty="0"/>
              <a:t>"1.45 million real subscriber records" — say "real" deliberately. It is the differentiator</a:t>
            </a:r>
          </a:p>
          <a:p>
            <a:pPr lvl="0"/>
            <a:r>
              <a:rPr lang="en-UG" dirty="0"/>
              <a:t>"A different segmentation logic entirely" — pause after this. Let it land</a:t>
            </a:r>
          </a:p>
          <a:p>
            <a:pPr lvl="0"/>
            <a:r>
              <a:rPr lang="en-UG" dirty="0"/>
              <a:t>"22-fold improvement over what is happening today" — this is your most commercially powerful number. Save it for last and say it with full confidence</a:t>
            </a:r>
          </a:p>
          <a:p>
            <a:pPr lvl="0"/>
            <a:r>
              <a:rPr lang="en-UG" dirty="0"/>
              <a:t>End with "I welcome the panel's questions" and make eye contact with each panellist as you say it. Confident, not nervous</a:t>
            </a:r>
          </a:p>
          <a:p>
            <a:pPr lvl="0"/>
            <a:r>
              <a:rPr lang="en-UG" dirty="0"/>
              <a:t>If you feel the panel is satisfied after your conclusion — stop talking. The strongest close is a clean one</a:t>
            </a:r>
          </a:p>
          <a:p>
            <a:endParaRPr lang="en-UG" dirty="0"/>
          </a:p>
        </p:txBody>
      </p:sp>
      <p:sp>
        <p:nvSpPr>
          <p:cNvPr id="4" name="Slide Number Placeholder 3">
            <a:extLst>
              <a:ext uri="{FF2B5EF4-FFF2-40B4-BE49-F238E27FC236}">
                <a16:creationId xmlns:a16="http://schemas.microsoft.com/office/drawing/2014/main" id="{C3E13C14-682B-C7FD-EAE7-C16EC5E0E6EA}"/>
              </a:ext>
            </a:extLst>
          </p:cNvPr>
          <p:cNvSpPr>
            <a:spLocks noGrp="1"/>
          </p:cNvSpPr>
          <p:nvPr>
            <p:ph type="sldNum" sz="quarter" idx="5"/>
          </p:nvPr>
        </p:nvSpPr>
        <p:spPr/>
        <p:txBody>
          <a:bodyPr/>
          <a:lstStyle/>
          <a:p>
            <a:fld id="{53AE5ECF-7B7F-5944-B35C-91F1AF793846}" type="slidenum">
              <a:rPr lang="en-UG" smtClean="0"/>
              <a:t>14</a:t>
            </a:fld>
            <a:endParaRPr lang="en-UG"/>
          </a:p>
        </p:txBody>
      </p:sp>
    </p:spTree>
    <p:extLst>
      <p:ext uri="{BB962C8B-B14F-4D97-AF65-F5344CB8AC3E}">
        <p14:creationId xmlns:p14="http://schemas.microsoft.com/office/powerpoint/2010/main" val="27465940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DDBB95-32EF-7337-13AE-5142C694BA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C98CC5-103C-FD8C-5B20-02B8D876EB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B0DDD-18C2-9211-FEF6-D9CA44854DD7}"/>
              </a:ext>
            </a:extLst>
          </p:cNvPr>
          <p:cNvSpPr>
            <a:spLocks noGrp="1"/>
          </p:cNvSpPr>
          <p:nvPr>
            <p:ph type="body" idx="1"/>
          </p:nvPr>
        </p:nvSpPr>
        <p:spPr/>
        <p:txBody>
          <a:bodyPr/>
          <a:lstStyle/>
          <a:p>
            <a:r>
              <a:rPr lang="en-UG" b="1" dirty="0">
                <a:effectLst/>
              </a:rPr>
              <a:t>Slide: Future Work</a:t>
            </a:r>
            <a:endParaRPr lang="en-UG" dirty="0">
              <a:effectLst/>
            </a:endParaRPr>
          </a:p>
          <a:p>
            <a:r>
              <a:rPr lang="en-UG" dirty="0">
                <a:effectLst/>
              </a:rPr>
              <a:t>This study opens four concrete directions for what comes next — each one addressing a specific boundary of the current work.</a:t>
            </a:r>
          </a:p>
          <a:p>
            <a:r>
              <a:rPr lang="en-UG" b="1" dirty="0">
                <a:effectLst/>
              </a:rPr>
              <a:t>Live commercial validation.</a:t>
            </a:r>
            <a:br>
              <a:rPr lang="en-UG" dirty="0">
                <a:effectLst/>
              </a:rPr>
            </a:br>
            <a:r>
              <a:rPr lang="en-UG" dirty="0">
                <a:effectLst/>
              </a:rPr>
              <a:t>The most immediate next step is the A/B test. The projected impacts — 12 to 15% conversion, 9% ARPU uplift — are grounded in model precision and external benchmarks, but they are projections. A live randomised experiment, treatment versus control, run for a minimum of 90 days in the Kampala and Central regions, converts those projections into causal evidence. Until that test runs, H3 remains preliminary support. After it runs, we have proof.</a:t>
            </a:r>
          </a:p>
          <a:p>
            <a:r>
              <a:rPr lang="en-UG" b="1" dirty="0">
                <a:effectLst/>
              </a:rPr>
              <a:t>Historical data integration.</a:t>
            </a:r>
            <a:br>
              <a:rPr lang="en-UG" dirty="0">
                <a:effectLst/>
              </a:rPr>
            </a:br>
            <a:r>
              <a:rPr lang="en-UG" dirty="0">
                <a:effectLst/>
              </a:rPr>
              <a:t>The catalogue mismatch — 267 of 738 bundle IDs matching — is a solvable problem. Using a historical product catalogue that covers the full February to April 2026 observation window rather than the current snapshot would resolve it. That unlocks the full purchase history feature set — particularly bundle-switching behaviour and upgrade patterns — which this study could only partially compute. More complete purchase history data would likely improve model performance further.</a:t>
            </a:r>
          </a:p>
          <a:p>
            <a:r>
              <a:rPr lang="en-UG" b="1" dirty="0">
                <a:effectLst/>
              </a:rPr>
              <a:t>Deep Reinforcement Learning.</a:t>
            </a:r>
            <a:br>
              <a:rPr lang="en-UG" dirty="0">
                <a:effectLst/>
              </a:rPr>
            </a:br>
            <a:r>
              <a:rPr lang="en-UG" dirty="0">
                <a:effectLst/>
              </a:rPr>
              <a:t>The XGBoost model is a static classifier — it learns from historical patterns and predicts. A Deep Reinforcement Learning agent goes further: it learns dynamically from live customer responses, updating its recommendation policy in real time to maximise long-term customer lifetime value rather than a single purchase event. DRL represents the current research frontier for recommendation systems in telecoms and is the natural evolution of this framework once the A/B test establishes the commercial baseline.</a:t>
            </a:r>
          </a:p>
          <a:p>
            <a:r>
              <a:rPr lang="en-UG" b="1" dirty="0">
                <a:effectLst/>
              </a:rPr>
              <a:t>Geographic expansion.</a:t>
            </a:r>
            <a:br>
              <a:rPr lang="en-UG" dirty="0">
                <a:effectLst/>
              </a:rPr>
            </a:br>
            <a:r>
              <a:rPr lang="en-UG" dirty="0">
                <a:effectLst/>
              </a:rPr>
              <a:t>This study covers Central Uganda. The trigger signals identified — Voice Intensity, Spend per Minute, Smartphone ownership — may behave differently in Northern, Western, and Eastern Uganda, where income patterns, network coverage, and usage habits differ. Expanding the data scope to test national generalisability is essential before Airtel can confidently deploy the framework at scale across all regions.</a:t>
            </a:r>
          </a:p>
          <a:p>
            <a:br>
              <a:rPr lang="en-UG" dirty="0">
                <a:effectLst/>
              </a:rPr>
            </a:br>
            <a:endParaRPr lang="en-UG" dirty="0">
              <a:effectLst/>
            </a:endParaRPr>
          </a:p>
          <a:p>
            <a:r>
              <a:rPr lang="en-UG" b="1" dirty="0">
                <a:effectLst/>
              </a:rPr>
              <a:t>Key points to land verbally:</a:t>
            </a:r>
            <a:endParaRPr lang="en-UG" dirty="0">
              <a:effectLst/>
            </a:endParaRPr>
          </a:p>
          <a:p>
            <a:pPr lvl="0"/>
            <a:r>
              <a:rPr lang="en-UG" dirty="0">
                <a:effectLst/>
              </a:rPr>
              <a:t>"Converts projections into causal evidence" for the A/B test — use this phrasing, it shows you understand the difference between correlation, projection, and causality</a:t>
            </a:r>
          </a:p>
          <a:p>
            <a:pPr lvl="0"/>
            <a:r>
              <a:rPr lang="en-UG" dirty="0">
                <a:effectLst/>
              </a:rPr>
              <a:t>If a panellist asks "why didn't you use DRL in this study?" — "DRL requires a live feedback environment to learn from — it cannot be trained on historical batch data alone. The XGBoost framework establishes the performance baseline the DRL agent would need as a starting point"</a:t>
            </a:r>
          </a:p>
          <a:p>
            <a:pPr lvl="0"/>
            <a:r>
              <a:rPr lang="en-UG" dirty="0">
                <a:effectLst/>
              </a:rPr>
              <a:t>"H3 remains preliminary support. After it runs, we have proof." — deliver this as two short, punchy sentences with a pause between them</a:t>
            </a:r>
          </a:p>
          <a:p>
            <a:pPr lvl="0"/>
            <a:r>
              <a:rPr lang="en-UG" dirty="0">
                <a:effectLst/>
              </a:rPr>
              <a:t>If asked which future direction you would prioritise: "the A/B test — because it validates everything else. Without commercial evidence, the other directions are theoretical. With it, the case for DRL and geographic expansion becomes self-funding"</a:t>
            </a:r>
          </a:p>
          <a:p>
            <a:pPr lvl="0"/>
            <a:r>
              <a:rPr lang="en-UG" dirty="0">
                <a:effectLst/>
              </a:rPr>
              <a:t>Keep this slide brief in delivery — future work is important but should not eat into your closing time. Two minutes maximum</a:t>
            </a:r>
          </a:p>
        </p:txBody>
      </p:sp>
      <p:sp>
        <p:nvSpPr>
          <p:cNvPr id="4" name="Slide Number Placeholder 3">
            <a:extLst>
              <a:ext uri="{FF2B5EF4-FFF2-40B4-BE49-F238E27FC236}">
                <a16:creationId xmlns:a16="http://schemas.microsoft.com/office/drawing/2014/main" id="{4CD4EB32-E30C-3C03-E1E7-6DE4A1CBC400}"/>
              </a:ext>
            </a:extLst>
          </p:cNvPr>
          <p:cNvSpPr>
            <a:spLocks noGrp="1"/>
          </p:cNvSpPr>
          <p:nvPr>
            <p:ph type="sldNum" sz="quarter" idx="5"/>
          </p:nvPr>
        </p:nvSpPr>
        <p:spPr/>
        <p:txBody>
          <a:bodyPr/>
          <a:lstStyle/>
          <a:p>
            <a:fld id="{53AE5ECF-7B7F-5944-B35C-91F1AF793846}" type="slidenum">
              <a:rPr lang="en-UG" smtClean="0"/>
              <a:t>15</a:t>
            </a:fld>
            <a:endParaRPr lang="en-UG"/>
          </a:p>
        </p:txBody>
      </p:sp>
    </p:spTree>
    <p:extLst>
      <p:ext uri="{BB962C8B-B14F-4D97-AF65-F5344CB8AC3E}">
        <p14:creationId xmlns:p14="http://schemas.microsoft.com/office/powerpoint/2010/main" val="21406483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908D228D-F704-841E-579A-7751766E2EAA}"/>
              </a:ext>
            </a:extLst>
          </p:cNvPr>
          <p:cNvSpPr/>
          <p:nvPr/>
        </p:nvSpPr>
        <p:spPr>
          <a:xfrm>
            <a:off x="-5" y="1277202"/>
            <a:ext cx="12191695" cy="2231542"/>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E81F3422-DDA0-AC8F-6EA0-94DFAB37790A}"/>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15" name="TextBox 14">
            <a:extLst>
              <a:ext uri="{FF2B5EF4-FFF2-40B4-BE49-F238E27FC236}">
                <a16:creationId xmlns:a16="http://schemas.microsoft.com/office/drawing/2014/main" id="{07F7D5CD-4C01-6078-D1A7-C2ABC1A651FB}"/>
              </a:ext>
            </a:extLst>
          </p:cNvPr>
          <p:cNvSpPr txBox="1"/>
          <p:nvPr/>
        </p:nvSpPr>
        <p:spPr>
          <a:xfrm>
            <a:off x="-4" y="2097373"/>
            <a:ext cx="10415588" cy="400110"/>
          </a:xfrm>
          <a:prstGeom prst="rect">
            <a:avLst/>
          </a:prstGeom>
          <a:noFill/>
        </p:spPr>
        <p:txBody>
          <a:bodyPr wrap="square">
            <a:spAutoFit/>
          </a:bodyPr>
          <a:lstStyle/>
          <a:p>
            <a:r>
              <a:rPr lang="en-UG" sz="1400" dirty="0">
                <a:solidFill>
                  <a:schemeClr val="bg1"/>
                </a:solidFill>
                <a:effectLst/>
                <a:latin typeface="Trebuchet MS" panose="020B0703020202090204" pitchFamily="34" charset="0"/>
                <a:ea typeface="Trebuchet MS" panose="020B0703020202090204" pitchFamily="34" charset="0"/>
                <a:cs typeface="Trebuchet MS" panose="020B0703020202090204" pitchFamily="34" charset="0"/>
              </a:rPr>
              <a:t>LEVERAGING MACHINE LEARNING FOR DATA-DRIVEN AND PERSONALISED VOICE BUNDLE RECOMMENDATIONS</a:t>
            </a:r>
            <a:r>
              <a:rPr lang="en-UG" sz="2000" dirty="0">
                <a:solidFill>
                  <a:schemeClr val="bg1"/>
                </a:solidFill>
                <a:effectLst/>
              </a:rPr>
              <a:t> </a:t>
            </a:r>
            <a:endParaRPr lang="en-UG" sz="2000" dirty="0">
              <a:solidFill>
                <a:schemeClr val="bg1"/>
              </a:solidFill>
            </a:endParaRPr>
          </a:p>
        </p:txBody>
      </p:sp>
      <p:sp>
        <p:nvSpPr>
          <p:cNvPr id="16" name="TextBox 15">
            <a:extLst>
              <a:ext uri="{FF2B5EF4-FFF2-40B4-BE49-F238E27FC236}">
                <a16:creationId xmlns:a16="http://schemas.microsoft.com/office/drawing/2014/main" id="{2478E2A1-AAD0-3831-F92A-316979E456E9}"/>
              </a:ext>
            </a:extLst>
          </p:cNvPr>
          <p:cNvSpPr txBox="1"/>
          <p:nvPr/>
        </p:nvSpPr>
        <p:spPr>
          <a:xfrm>
            <a:off x="-4" y="1728040"/>
            <a:ext cx="10901363" cy="369332"/>
          </a:xfrm>
          <a:prstGeom prst="rect">
            <a:avLst/>
          </a:prstGeom>
          <a:noFill/>
          <a:ln>
            <a:noFill/>
          </a:ln>
        </p:spPr>
        <p:txBody>
          <a:bodyPr wrap="square">
            <a:spAutoFit/>
          </a:bodyPr>
          <a:lstStyle/>
          <a:p>
            <a:r>
              <a:rPr lang="en-UG" b="1" dirty="0">
                <a:solidFill>
                  <a:schemeClr val="bg1"/>
                </a:solidFill>
              </a:rPr>
              <a:t>IMPROVING CUSTOMER SATISFACTION AND INFORMING BUSINESS DECISIONS FOR REVENUE OPTIMISATION</a:t>
            </a:r>
          </a:p>
        </p:txBody>
      </p:sp>
      <p:sp>
        <p:nvSpPr>
          <p:cNvPr id="17" name="TextBox 16">
            <a:extLst>
              <a:ext uri="{FF2B5EF4-FFF2-40B4-BE49-F238E27FC236}">
                <a16:creationId xmlns:a16="http://schemas.microsoft.com/office/drawing/2014/main" id="{1B99A4D9-B741-8DC8-14F6-55008B9E235A}"/>
              </a:ext>
            </a:extLst>
          </p:cNvPr>
          <p:cNvSpPr txBox="1"/>
          <p:nvPr/>
        </p:nvSpPr>
        <p:spPr>
          <a:xfrm>
            <a:off x="-3" y="2623449"/>
            <a:ext cx="10901363" cy="307777"/>
          </a:xfrm>
          <a:prstGeom prst="rect">
            <a:avLst/>
          </a:prstGeom>
          <a:noFill/>
        </p:spPr>
        <p:txBody>
          <a:bodyPr wrap="square">
            <a:spAutoFit/>
          </a:bodyPr>
          <a:lstStyle/>
          <a:p>
            <a:r>
              <a:rPr lang="en-UG" sz="1400" dirty="0">
                <a:solidFill>
                  <a:schemeClr val="bg1"/>
                </a:solidFill>
              </a:rPr>
              <a:t>A CASE STUDY OF AIRTEL UGANDA LIMITED</a:t>
            </a:r>
          </a:p>
        </p:txBody>
      </p:sp>
      <p:sp>
        <p:nvSpPr>
          <p:cNvPr id="18" name="TextBox 17">
            <a:extLst>
              <a:ext uri="{FF2B5EF4-FFF2-40B4-BE49-F238E27FC236}">
                <a16:creationId xmlns:a16="http://schemas.microsoft.com/office/drawing/2014/main" id="{0A9E3C6F-0C80-C13D-92B0-5A2477DD48DB}"/>
              </a:ext>
            </a:extLst>
          </p:cNvPr>
          <p:cNvSpPr txBox="1"/>
          <p:nvPr/>
        </p:nvSpPr>
        <p:spPr>
          <a:xfrm>
            <a:off x="-4" y="5210151"/>
            <a:ext cx="4772029" cy="1144929"/>
          </a:xfrm>
          <a:prstGeom prst="rect">
            <a:avLst/>
          </a:prstGeom>
          <a:noFill/>
        </p:spPr>
        <p:txBody>
          <a:bodyPr wrap="square">
            <a:spAutoFit/>
          </a:bodyPr>
          <a:lstStyle/>
          <a:p>
            <a:r>
              <a:rPr lang="en-UG" dirty="0"/>
              <a:t>Remmy Bisimbeko</a:t>
            </a:r>
          </a:p>
          <a:p>
            <a:r>
              <a:rPr lang="en-UG" dirty="0"/>
              <a:t>J24M19/011</a:t>
            </a:r>
          </a:p>
          <a:p>
            <a:pPr lvl="0">
              <a:lnSpc>
                <a:spcPct val="90000"/>
              </a:lnSpc>
              <a:buClr>
                <a:srgbClr val="002060"/>
              </a:buClr>
              <a:buSzPts val="1400"/>
            </a:pPr>
            <a:r>
              <a:rPr lang="en-GB" b="1" dirty="0">
                <a:solidFill>
                  <a:srgbClr val="002060"/>
                </a:solidFill>
                <a:latin typeface="Trebuchet MS"/>
                <a:ea typeface="Trebuchet MS"/>
                <a:cs typeface="Trebuchet MS"/>
                <a:sym typeface="Trebuchet MS"/>
              </a:rPr>
              <a:t>Department of Computing &amp; Technology</a:t>
            </a:r>
            <a:endParaRPr lang="en-GB" dirty="0"/>
          </a:p>
          <a:p>
            <a:pPr lvl="0">
              <a:lnSpc>
                <a:spcPct val="90000"/>
              </a:lnSpc>
              <a:buClr>
                <a:srgbClr val="C00000"/>
              </a:buClr>
              <a:buSzPts val="1400"/>
            </a:pPr>
            <a:r>
              <a:rPr lang="en-GB" dirty="0">
                <a:solidFill>
                  <a:srgbClr val="C00000"/>
                </a:solidFill>
                <a:latin typeface="Trebuchet MS"/>
                <a:ea typeface="Trebuchet MS"/>
                <a:cs typeface="Trebuchet MS"/>
                <a:sym typeface="Trebuchet MS"/>
              </a:rPr>
              <a:t>Faculty of Engineering, Design &amp; Technology	</a:t>
            </a:r>
            <a:endParaRPr lang="en-UG" dirty="0"/>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C4872-DDA0-158E-29A5-234F7EE13E9A}"/>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B87039A-C3FF-B787-5354-046A88BFB874}"/>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CE457146-F15F-86E2-5649-2BA90359C96A}"/>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4242734C-D73A-085A-D507-84CAA17A6574}"/>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7D1EB2FD-2FDC-0843-68C6-19C76D05BE8E}"/>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F2B85536-CD91-2055-BAB2-1B75DF2881D9}"/>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FE8B2B2C-F48B-3CA5-4503-7C30E3129C18}"/>
              </a:ext>
            </a:extLst>
          </p:cNvPr>
          <p:cNvSpPr/>
          <p:nvPr/>
        </p:nvSpPr>
        <p:spPr>
          <a:xfrm>
            <a:off x="0" y="118872"/>
            <a:ext cx="3441636"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ea typeface="Georgia" pitchFamily="34" charset="-122"/>
                <a:cs typeface="Georgia" pitchFamily="34" charset="-120"/>
              </a:rPr>
              <a:t>Background</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E17C478D-8AFC-2EC9-0E84-6F870605548C}"/>
              </a:ext>
            </a:extLst>
          </p:cNvPr>
          <p:cNvSpPr txBox="1"/>
          <p:nvPr/>
        </p:nvSpPr>
        <p:spPr>
          <a:xfrm>
            <a:off x="0" y="1674674"/>
            <a:ext cx="12452448" cy="4062651"/>
          </a:xfrm>
          <a:prstGeom prst="rect">
            <a:avLst/>
          </a:prstGeom>
          <a:noFill/>
        </p:spPr>
        <p:txBody>
          <a:bodyPr wrap="none" rtlCol="0">
            <a:spAutoFit/>
          </a:bodyPr>
          <a:lstStyle/>
          <a:p>
            <a:pPr lvl="0"/>
            <a:r>
              <a:rPr lang="en-UG" sz="1600" dirty="0">
                <a:latin typeface="Trebuchet MS" panose="020B0703020202090204" pitchFamily="34" charset="0"/>
              </a:rPr>
              <a:t>The telecommunications industry is increasingly adopting </a:t>
            </a:r>
            <a:r>
              <a:rPr lang="en-UG" sz="1600" b="1" dirty="0">
                <a:latin typeface="Trebuchet MS" panose="020B0703020202090204" pitchFamily="34" charset="0"/>
              </a:rPr>
              <a:t>AI and Machine Learning</a:t>
            </a:r>
            <a:r>
              <a:rPr lang="en-UG" sz="1600" dirty="0">
                <a:latin typeface="Trebuchet MS" panose="020B0703020202090204" pitchFamily="34" charset="0"/>
              </a:rPr>
              <a:t> to deliver </a:t>
            </a:r>
            <a:r>
              <a:rPr lang="en-UG" sz="1600" b="1" dirty="0">
                <a:latin typeface="Trebuchet MS" panose="020B0703020202090204" pitchFamily="34" charset="0"/>
              </a:rPr>
              <a:t>personalised customer experiences</a:t>
            </a:r>
            <a:r>
              <a:rPr lang="en-UG" sz="1600" dirty="0">
                <a:latin typeface="Trebuchet MS" panose="020B0703020202090204" pitchFamily="34" charset="0"/>
              </a:rPr>
              <a:t>, </a:t>
            </a:r>
          </a:p>
          <a:p>
            <a:pPr lvl="0"/>
            <a:r>
              <a:rPr lang="en-UG" sz="1600" dirty="0">
                <a:latin typeface="Trebuchet MS" panose="020B0703020202090204" pitchFamily="34" charset="0"/>
              </a:rPr>
              <a:t>improving customer satisfaction, retention, and revenue. </a:t>
            </a:r>
          </a:p>
          <a:p>
            <a:pPr lvl="0"/>
            <a:endParaRPr lang="en-UG" sz="1600" dirty="0">
              <a:latin typeface="Trebuchet MS" panose="020B0703020202090204" pitchFamily="34" charset="0"/>
            </a:endParaRPr>
          </a:p>
          <a:p>
            <a:pPr lvl="0"/>
            <a:r>
              <a:rPr lang="en-UG" sz="1600" dirty="0">
                <a:latin typeface="Trebuchet MS" panose="020B0703020202090204" pitchFamily="34" charset="0"/>
              </a:rPr>
              <a:t>In Uganda, </a:t>
            </a:r>
            <a:r>
              <a:rPr lang="en-UG" sz="1600" b="1" dirty="0">
                <a:latin typeface="Trebuchet MS" panose="020B0703020202090204" pitchFamily="34" charset="0"/>
              </a:rPr>
              <a:t>Airtel Uganda</a:t>
            </a:r>
            <a:r>
              <a:rPr lang="en-UG" sz="1600" dirty="0">
                <a:latin typeface="Trebuchet MS" panose="020B0703020202090204" pitchFamily="34" charset="0"/>
              </a:rPr>
              <a:t> serves approximately </a:t>
            </a:r>
            <a:r>
              <a:rPr lang="en-UG" sz="1600" b="1" dirty="0">
                <a:latin typeface="Trebuchet MS" panose="020B0703020202090204" pitchFamily="34" charset="0"/>
              </a:rPr>
              <a:t>10.5 million subscribers</a:t>
            </a:r>
            <a:r>
              <a:rPr lang="en-UG" sz="1600" dirty="0">
                <a:latin typeface="Trebuchet MS" panose="020B0703020202090204" pitchFamily="34" charset="0"/>
              </a:rPr>
              <a:t> (≈47% market share) but faces </a:t>
            </a:r>
          </a:p>
          <a:p>
            <a:pPr lvl="0"/>
            <a:r>
              <a:rPr lang="en-UG" sz="1600" b="1" dirty="0">
                <a:latin typeface="Trebuchet MS" panose="020B0703020202090204" pitchFamily="34" charset="0"/>
              </a:rPr>
              <a:t>3–5% monthly customer churn</a:t>
            </a:r>
            <a:r>
              <a:rPr lang="en-UG" sz="1600" dirty="0">
                <a:latin typeface="Trebuchet MS" panose="020B0703020202090204" pitchFamily="34" charset="0"/>
              </a:rPr>
              <a:t> in a highly competitive prepaid market. </a:t>
            </a:r>
          </a:p>
          <a:p>
            <a:pPr lvl="0"/>
            <a:endParaRPr lang="en-UG" sz="1600" dirty="0">
              <a:latin typeface="Trebuchet MS" panose="020B0703020202090204" pitchFamily="34" charset="0"/>
            </a:endParaRPr>
          </a:p>
          <a:p>
            <a:pPr lvl="0"/>
            <a:r>
              <a:rPr lang="en-UG" sz="1600" dirty="0">
                <a:latin typeface="Trebuchet MS" panose="020B0703020202090204" pitchFamily="34" charset="0"/>
              </a:rPr>
              <a:t>Airtel offers </a:t>
            </a:r>
            <a:r>
              <a:rPr lang="en-UG" sz="1600" b="1" dirty="0">
                <a:latin typeface="Trebuchet MS" panose="020B0703020202090204" pitchFamily="34" charset="0"/>
              </a:rPr>
              <a:t>150+ voice bundles</a:t>
            </a:r>
            <a:r>
              <a:rPr lang="en-UG" sz="1600" dirty="0">
                <a:latin typeface="Trebuchet MS" panose="020B0703020202090204" pitchFamily="34" charset="0"/>
              </a:rPr>
              <a:t>, making it difficult for customers to choose the most suitable option through the current</a:t>
            </a:r>
          </a:p>
          <a:p>
            <a:pPr lvl="0"/>
            <a:r>
              <a:rPr lang="en-UG" sz="1600" dirty="0">
                <a:latin typeface="Trebuchet MS" panose="020B0703020202090204" pitchFamily="34" charset="0"/>
              </a:rPr>
              <a:t>USSD menu, leading to poor customer experience and lost revenue opportunities. </a:t>
            </a:r>
          </a:p>
          <a:p>
            <a:pPr lvl="0"/>
            <a:endParaRPr lang="en-UG" sz="1600" dirty="0">
              <a:latin typeface="Trebuchet MS" panose="020B0703020202090204" pitchFamily="34" charset="0"/>
            </a:endParaRPr>
          </a:p>
          <a:p>
            <a:pPr lvl="0"/>
            <a:r>
              <a:rPr lang="en-UG" sz="1600" b="1" dirty="0">
                <a:latin typeface="Trebuchet MS" panose="020B0703020202090204" pitchFamily="34" charset="0"/>
              </a:rPr>
              <a:t>Machine Learning</a:t>
            </a:r>
            <a:r>
              <a:rPr lang="en-UG" sz="1600" dirty="0">
                <a:latin typeface="Trebuchet MS" panose="020B0703020202090204" pitchFamily="34" charset="0"/>
              </a:rPr>
              <a:t> can analyse customer behaviour and transaction patterns to recommend the </a:t>
            </a:r>
            <a:r>
              <a:rPr lang="en-UG" sz="1600" b="1" dirty="0">
                <a:latin typeface="Trebuchet MS" panose="020B0703020202090204" pitchFamily="34" charset="0"/>
              </a:rPr>
              <a:t>right voice bundle at </a:t>
            </a:r>
          </a:p>
          <a:p>
            <a:pPr lvl="0"/>
            <a:r>
              <a:rPr lang="en-UG" sz="1600" b="1" dirty="0">
                <a:latin typeface="Trebuchet MS" panose="020B0703020202090204" pitchFamily="34" charset="0"/>
              </a:rPr>
              <a:t>the right time</a:t>
            </a:r>
            <a:r>
              <a:rPr lang="en-UG" sz="1600" dirty="0">
                <a:latin typeface="Trebuchet MS" panose="020B0703020202090204" pitchFamily="34" charset="0"/>
              </a:rPr>
              <a:t>, replacing generic marketing with personalised recommendations. </a:t>
            </a:r>
          </a:p>
          <a:p>
            <a:pPr lvl="0"/>
            <a:endParaRPr lang="en-UG" sz="1600" dirty="0">
              <a:latin typeface="Trebuchet MS" panose="020B0703020202090204" pitchFamily="34" charset="0"/>
            </a:endParaRPr>
          </a:p>
          <a:p>
            <a:pPr lvl="0"/>
            <a:r>
              <a:rPr lang="en-UG" sz="1600" dirty="0">
                <a:latin typeface="Trebuchet MS" panose="020B0703020202090204" pitchFamily="34" charset="0"/>
              </a:rPr>
              <a:t>This study developed and evaluated a </a:t>
            </a:r>
            <a:r>
              <a:rPr lang="en-UG" sz="1600" b="1" dirty="0">
                <a:latin typeface="Trebuchet MS" panose="020B0703020202090204" pitchFamily="34" charset="0"/>
              </a:rPr>
              <a:t>machine learning-based voice bundle recommendation framework</a:t>
            </a:r>
            <a:r>
              <a:rPr lang="en-UG" sz="1600" dirty="0">
                <a:latin typeface="Trebuchet MS" panose="020B0703020202090204" pitchFamily="34" charset="0"/>
              </a:rPr>
              <a:t> using </a:t>
            </a:r>
          </a:p>
          <a:p>
            <a:pPr lvl="0"/>
            <a:r>
              <a:rPr lang="en-UG" sz="1600" b="1" dirty="0">
                <a:latin typeface="Trebuchet MS" panose="020B0703020202090204" pitchFamily="34" charset="0"/>
              </a:rPr>
              <a:t>150 million transactions</a:t>
            </a:r>
            <a:r>
              <a:rPr lang="en-UG" sz="1600" dirty="0">
                <a:latin typeface="Trebuchet MS" panose="020B0703020202090204" pitchFamily="34" charset="0"/>
              </a:rPr>
              <a:t> from </a:t>
            </a:r>
            <a:r>
              <a:rPr lang="en-UG" sz="1600" b="1" dirty="0">
                <a:latin typeface="Trebuchet MS" panose="020B0703020202090204" pitchFamily="34" charset="0"/>
              </a:rPr>
              <a:t>1.46 million Airtel Uganda subscribers</a:t>
            </a:r>
            <a:r>
              <a:rPr lang="en-UG" sz="1600" dirty="0">
                <a:latin typeface="Trebuchet MS" panose="020B0703020202090204" pitchFamily="34" charset="0"/>
              </a:rPr>
              <a:t>, addressing the lack of empirical ML recommendation </a:t>
            </a:r>
          </a:p>
          <a:p>
            <a:pPr lvl="0"/>
            <a:r>
              <a:rPr lang="en-UG" sz="1600" dirty="0">
                <a:latin typeface="Trebuchet MS" panose="020B0703020202090204" pitchFamily="34" charset="0"/>
              </a:rPr>
              <a:t>research in Uganda's telecom sector.</a:t>
            </a:r>
          </a:p>
          <a:p>
            <a:endParaRPr lang="en-UG" dirty="0"/>
          </a:p>
        </p:txBody>
      </p:sp>
      <p:sp>
        <p:nvSpPr>
          <p:cNvPr id="8" name="TextBox 7">
            <a:extLst>
              <a:ext uri="{FF2B5EF4-FFF2-40B4-BE49-F238E27FC236}">
                <a16:creationId xmlns:a16="http://schemas.microsoft.com/office/drawing/2014/main" id="{ADAC3EBD-C7D7-12D5-3238-836C7C1F722B}"/>
              </a:ext>
            </a:extLst>
          </p:cNvPr>
          <p:cNvSpPr txBox="1"/>
          <p:nvPr/>
        </p:nvSpPr>
        <p:spPr>
          <a:xfrm>
            <a:off x="0" y="6350508"/>
            <a:ext cx="12192000" cy="954107"/>
          </a:xfrm>
          <a:prstGeom prst="rect">
            <a:avLst/>
          </a:prstGeom>
          <a:noFill/>
        </p:spPr>
        <p:txBody>
          <a:bodyPr wrap="square" numCol="2" rtlCol="0">
            <a:spAutoFit/>
          </a:bodyPr>
          <a:lstStyle/>
          <a:p>
            <a:r>
              <a:rPr lang="en-UG" sz="1400" i="1" dirty="0">
                <a:solidFill>
                  <a:schemeClr val="tx1">
                    <a:lumMod val="50000"/>
                    <a:lumOff val="50000"/>
                  </a:schemeClr>
                </a:solidFill>
              </a:rPr>
              <a:t>McKinsey &amp; Company, 2022; Sikri et al., 2024</a:t>
            </a:r>
          </a:p>
          <a:p>
            <a:r>
              <a:rPr lang="en-UG" sz="1400" i="1" dirty="0">
                <a:solidFill>
                  <a:schemeClr val="tx1">
                    <a:lumMod val="50000"/>
                    <a:lumOff val="50000"/>
                  </a:schemeClr>
                </a:solidFill>
              </a:rPr>
              <a:t>Uganda Securities Exchange, 2025; Publicist East Africa, 2025</a:t>
            </a:r>
          </a:p>
          <a:p>
            <a:endParaRPr lang="en-UG" sz="1400" i="1" dirty="0">
              <a:solidFill>
                <a:schemeClr val="tx1">
                  <a:lumMod val="50000"/>
                  <a:lumOff val="50000"/>
                </a:schemeClr>
              </a:solidFill>
            </a:endParaRPr>
          </a:p>
          <a:p>
            <a:endParaRPr lang="en-UG" sz="1400" i="1" dirty="0">
              <a:solidFill>
                <a:schemeClr val="tx1">
                  <a:lumMod val="50000"/>
                  <a:lumOff val="50000"/>
                </a:schemeClr>
              </a:solidFill>
            </a:endParaRPr>
          </a:p>
          <a:p>
            <a:r>
              <a:rPr lang="en-UG" sz="1400" i="1" dirty="0">
                <a:solidFill>
                  <a:schemeClr val="tx1">
                    <a:lumMod val="50000"/>
                    <a:lumOff val="50000"/>
                  </a:schemeClr>
                </a:solidFill>
              </a:rPr>
              <a:t>Airtel Uganda, 2024</a:t>
            </a:r>
          </a:p>
          <a:p>
            <a:r>
              <a:rPr lang="en-UG" sz="1400" i="1" dirty="0">
                <a:solidFill>
                  <a:schemeClr val="tx1">
                    <a:lumMod val="50000"/>
                    <a:lumOff val="50000"/>
                  </a:schemeClr>
                </a:solidFill>
              </a:rPr>
              <a:t>Samuel, 1959; Hastie et al., 2009 </a:t>
            </a:r>
          </a:p>
        </p:txBody>
      </p:sp>
    </p:spTree>
    <p:extLst>
      <p:ext uri="{BB962C8B-B14F-4D97-AF65-F5344CB8AC3E}">
        <p14:creationId xmlns:p14="http://schemas.microsoft.com/office/powerpoint/2010/main" val="396504025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2BC28-9DF2-E40D-4F64-7FA28D0CCE5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A793A87-051E-3658-99C1-0296F42D902D}"/>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9538742-62F2-7A0B-4E09-30EC428EE807}"/>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B0B84728-56EE-0B5F-1DAC-A7DEB7713666}"/>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0DEAE6B3-063C-FBF9-3F6A-4B969E10D442}"/>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0A6880A3-DD28-B86A-4404-0733375E8657}"/>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29DEFAF8-634F-CFD1-A8CC-E850C4CF7D59}"/>
              </a:ext>
            </a:extLst>
          </p:cNvPr>
          <p:cNvSpPr/>
          <p:nvPr/>
        </p:nvSpPr>
        <p:spPr>
          <a:xfrm>
            <a:off x="-1" y="118872"/>
            <a:ext cx="5114925"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ea typeface="Georgia" pitchFamily="34" charset="-122"/>
                <a:cs typeface="Georgia" pitchFamily="34" charset="-120"/>
              </a:rPr>
              <a:t>Problem Statement</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699FA89F-A2C8-CAB7-3E81-643A82FFFA38}"/>
              </a:ext>
            </a:extLst>
          </p:cNvPr>
          <p:cNvSpPr txBox="1"/>
          <p:nvPr/>
        </p:nvSpPr>
        <p:spPr>
          <a:xfrm>
            <a:off x="0" y="966788"/>
            <a:ext cx="12121010" cy="3570208"/>
          </a:xfrm>
          <a:prstGeom prst="rect">
            <a:avLst/>
          </a:prstGeom>
          <a:noFill/>
        </p:spPr>
        <p:txBody>
          <a:bodyPr wrap="none" rtlCol="0">
            <a:spAutoFit/>
          </a:bodyPr>
          <a:lstStyle/>
          <a:p>
            <a:pPr lvl="0"/>
            <a:r>
              <a:rPr lang="en-UG" sz="1600" dirty="0">
                <a:latin typeface="Trebuchet MS" panose="020B0703020202090204" pitchFamily="34" charset="0"/>
              </a:rPr>
              <a:t>Airtel Uganda currently uses </a:t>
            </a:r>
            <a:r>
              <a:rPr lang="en-UG" sz="1600" b="1" dirty="0">
                <a:latin typeface="Trebuchet MS" panose="020B0703020202090204" pitchFamily="34" charset="0"/>
              </a:rPr>
              <a:t>ARPU-based, rule-based segmentation</a:t>
            </a:r>
            <a:r>
              <a:rPr lang="en-UG" sz="1600" dirty="0">
                <a:latin typeface="Trebuchet MS" panose="020B0703020202090204" pitchFamily="34" charset="0"/>
              </a:rPr>
              <a:t>, </a:t>
            </a:r>
          </a:p>
          <a:p>
            <a:pPr lvl="0"/>
            <a:r>
              <a:rPr lang="en-UG" sz="1600" dirty="0">
                <a:latin typeface="Trebuchet MS" panose="020B0703020202090204" pitchFamily="34" charset="0"/>
              </a:rPr>
              <a:t>resulting in generic voice bundle promotions rather than personalised recommendations. </a:t>
            </a:r>
          </a:p>
          <a:p>
            <a:pPr lvl="0"/>
            <a:endParaRPr lang="en-UG" sz="1600" dirty="0">
              <a:latin typeface="Trebuchet MS" panose="020B0703020202090204" pitchFamily="34" charset="0"/>
            </a:endParaRPr>
          </a:p>
          <a:p>
            <a:pPr lvl="0"/>
            <a:r>
              <a:rPr lang="en-UG" sz="1600" dirty="0">
                <a:latin typeface="Trebuchet MS" panose="020B0703020202090204" pitchFamily="34" charset="0"/>
              </a:rPr>
              <a:t>Generic campaigns achieve </a:t>
            </a:r>
            <a:r>
              <a:rPr lang="en-UG" sz="1600" b="1" dirty="0">
                <a:latin typeface="Trebuchet MS" panose="020B0703020202090204" pitchFamily="34" charset="0"/>
              </a:rPr>
              <a:t>conversion rates below 3%</a:t>
            </a:r>
            <a:r>
              <a:rPr lang="en-UG" sz="1600" dirty="0">
                <a:latin typeface="Trebuchet MS" panose="020B0703020202090204" pitchFamily="34" charset="0"/>
              </a:rPr>
              <a:t>, leading to an estimated </a:t>
            </a:r>
            <a:r>
              <a:rPr lang="en-UG" sz="1600" b="1" dirty="0">
                <a:latin typeface="Trebuchet MS" panose="020B0703020202090204" pitchFamily="34" charset="0"/>
              </a:rPr>
              <a:t>20% marketing budget wastage</a:t>
            </a:r>
            <a:r>
              <a:rPr lang="en-UG" sz="1600" dirty="0">
                <a:latin typeface="Trebuchet MS" panose="020B0703020202090204" pitchFamily="34" charset="0"/>
              </a:rPr>
              <a:t> and </a:t>
            </a:r>
          </a:p>
          <a:p>
            <a:pPr lvl="0"/>
            <a:r>
              <a:rPr lang="en-UG" sz="1600" dirty="0">
                <a:latin typeface="Trebuchet MS" panose="020B0703020202090204" pitchFamily="34" charset="0"/>
              </a:rPr>
              <a:t>leaving </a:t>
            </a:r>
            <a:r>
              <a:rPr lang="en-UG" sz="1600" b="1" dirty="0">
                <a:latin typeface="Trebuchet MS" panose="020B0703020202090204" pitchFamily="34" charset="0"/>
              </a:rPr>
              <a:t>15% of subscribers</a:t>
            </a:r>
            <a:r>
              <a:rPr lang="en-UG" sz="1600" dirty="0">
                <a:latin typeface="Trebuchet MS" panose="020B0703020202090204" pitchFamily="34" charset="0"/>
              </a:rPr>
              <a:t> inactive or low-spending </a:t>
            </a:r>
            <a:r>
              <a:rPr lang="en-UG" sz="1600" i="1" dirty="0">
                <a:latin typeface="Trebuchet MS" panose="020B0703020202090204" pitchFamily="34" charset="0"/>
              </a:rPr>
              <a:t>(McKinsey &amp; Company, 2022).</a:t>
            </a:r>
            <a:r>
              <a:rPr lang="en-UG" sz="1600" dirty="0">
                <a:latin typeface="Trebuchet MS" panose="020B0703020202090204" pitchFamily="34" charset="0"/>
              </a:rPr>
              <a:t> </a:t>
            </a:r>
          </a:p>
          <a:p>
            <a:pPr lvl="0"/>
            <a:endParaRPr lang="en-UG" sz="1600" dirty="0">
              <a:latin typeface="Trebuchet MS" panose="020B0703020202090204" pitchFamily="34" charset="0"/>
            </a:endParaRPr>
          </a:p>
          <a:p>
            <a:pPr lvl="0"/>
            <a:r>
              <a:rPr lang="en-UG" sz="1600" dirty="0">
                <a:latin typeface="Trebuchet MS" panose="020B0703020202090204" pitchFamily="34" charset="0"/>
              </a:rPr>
              <a:t>Irrelevant bundle recommendations reduce customer satisfaction and increase </a:t>
            </a:r>
            <a:r>
              <a:rPr lang="en-UG" sz="1600" b="1" dirty="0">
                <a:latin typeface="Trebuchet MS" panose="020B0703020202090204" pitchFamily="34" charset="0"/>
              </a:rPr>
              <a:t>customer churn</a:t>
            </a:r>
            <a:r>
              <a:rPr lang="en-UG" sz="1600" dirty="0">
                <a:latin typeface="Trebuchet MS" panose="020B0703020202090204" pitchFamily="34" charset="0"/>
              </a:rPr>
              <a:t>, </a:t>
            </a:r>
          </a:p>
          <a:p>
            <a:pPr lvl="0"/>
            <a:r>
              <a:rPr lang="en-UG" sz="1600" dirty="0">
                <a:latin typeface="Trebuchet MS" panose="020B0703020202090204" pitchFamily="34" charset="0"/>
              </a:rPr>
              <a:t>particularly in prepaid markets </a:t>
            </a:r>
            <a:r>
              <a:rPr lang="en-UG" sz="1600" i="1" dirty="0">
                <a:latin typeface="Trebuchet MS" panose="020B0703020202090204" pitchFamily="34" charset="0"/>
              </a:rPr>
              <a:t>(Al-Mashraie et al., 2020; Christopher &amp; Nelson, 2024).</a:t>
            </a:r>
            <a:r>
              <a:rPr lang="en-UG" sz="1600" dirty="0">
                <a:latin typeface="Trebuchet MS" panose="020B0703020202090204" pitchFamily="34" charset="0"/>
              </a:rPr>
              <a:t> </a:t>
            </a:r>
          </a:p>
          <a:p>
            <a:pPr lvl="0"/>
            <a:endParaRPr lang="en-UG" sz="1600" dirty="0">
              <a:latin typeface="Trebuchet MS" panose="020B0703020202090204" pitchFamily="34" charset="0"/>
            </a:endParaRPr>
          </a:p>
          <a:p>
            <a:pPr lvl="0"/>
            <a:r>
              <a:rPr lang="en-UG" sz="1600" dirty="0">
                <a:latin typeface="Trebuchet MS" panose="020B0703020202090204" pitchFamily="34" charset="0"/>
              </a:rPr>
              <a:t>With </a:t>
            </a:r>
            <a:r>
              <a:rPr lang="en-UG" sz="1600" b="1" dirty="0">
                <a:latin typeface="Trebuchet MS" panose="020B0703020202090204" pitchFamily="34" charset="0"/>
              </a:rPr>
              <a:t>150+ voice bundles</a:t>
            </a:r>
            <a:r>
              <a:rPr lang="en-UG" sz="1600" dirty="0">
                <a:latin typeface="Trebuchet MS" panose="020B0703020202090204" pitchFamily="34" charset="0"/>
              </a:rPr>
              <a:t>, customers struggle to identify the most suitable option, reducing engagement and revenue potential. </a:t>
            </a:r>
          </a:p>
          <a:p>
            <a:pPr lvl="0"/>
            <a:endParaRPr lang="en-UG" sz="1600" dirty="0">
              <a:latin typeface="Trebuchet MS" panose="020B0703020202090204" pitchFamily="34" charset="0"/>
            </a:endParaRPr>
          </a:p>
          <a:p>
            <a:pPr lvl="0"/>
            <a:r>
              <a:rPr lang="en-UG" sz="1600" b="1" dirty="0">
                <a:latin typeface="Trebuchet MS" panose="020B0703020202090204" pitchFamily="34" charset="0"/>
              </a:rPr>
              <a:t>Research Gap:</a:t>
            </a:r>
            <a:r>
              <a:rPr lang="en-UG" sz="1600" dirty="0">
                <a:latin typeface="Trebuchet MS" panose="020B0703020202090204" pitchFamily="34" charset="0"/>
              </a:rPr>
              <a:t> There is no scalable, data-driven ML recommendation system for personalised voice bundle recommendations </a:t>
            </a:r>
          </a:p>
          <a:p>
            <a:pPr lvl="0"/>
            <a:r>
              <a:rPr lang="en-UG" sz="1600" dirty="0">
                <a:latin typeface="Trebuchet MS" panose="020B0703020202090204" pitchFamily="34" charset="0"/>
              </a:rPr>
              <a:t>in Uganda's telecom sector.</a:t>
            </a:r>
          </a:p>
          <a:p>
            <a:endParaRPr lang="en-UG" dirty="0">
              <a:latin typeface="Trebuchet MS" panose="020B0703020202090204" pitchFamily="34" charset="0"/>
            </a:endParaRPr>
          </a:p>
        </p:txBody>
      </p:sp>
      <p:sp>
        <p:nvSpPr>
          <p:cNvPr id="8" name="TextBox 7">
            <a:extLst>
              <a:ext uri="{FF2B5EF4-FFF2-40B4-BE49-F238E27FC236}">
                <a16:creationId xmlns:a16="http://schemas.microsoft.com/office/drawing/2014/main" id="{50B5BECA-1BD9-C91D-5E31-24AB16D05ED7}"/>
              </a:ext>
            </a:extLst>
          </p:cNvPr>
          <p:cNvSpPr txBox="1"/>
          <p:nvPr/>
        </p:nvSpPr>
        <p:spPr>
          <a:xfrm>
            <a:off x="0" y="6350508"/>
            <a:ext cx="12192000" cy="954107"/>
          </a:xfrm>
          <a:prstGeom prst="rect">
            <a:avLst/>
          </a:prstGeom>
          <a:noFill/>
        </p:spPr>
        <p:txBody>
          <a:bodyPr wrap="square" numCol="2" rtlCol="0">
            <a:spAutoFit/>
          </a:bodyPr>
          <a:lstStyle/>
          <a:p>
            <a:r>
              <a:rPr lang="en-UG" sz="1400" i="1" dirty="0">
                <a:solidFill>
                  <a:schemeClr val="tx1">
                    <a:lumMod val="50000"/>
                    <a:lumOff val="50000"/>
                  </a:schemeClr>
                </a:solidFill>
              </a:rPr>
              <a:t>McKinsey &amp; Company, 2022; Sikri et al., 2024</a:t>
            </a:r>
          </a:p>
          <a:p>
            <a:r>
              <a:rPr lang="en-UG" sz="1400" i="1" dirty="0">
                <a:solidFill>
                  <a:schemeClr val="tx1">
                    <a:lumMod val="50000"/>
                    <a:lumOff val="50000"/>
                  </a:schemeClr>
                </a:solidFill>
              </a:rPr>
              <a:t>Al-Mashraie et al., 2020; Christopher &amp; Nelson, 2024</a:t>
            </a:r>
          </a:p>
          <a:p>
            <a:endParaRPr lang="en-UG" sz="1400" dirty="0">
              <a:solidFill>
                <a:schemeClr val="tx1">
                  <a:lumMod val="50000"/>
                  <a:lumOff val="50000"/>
                </a:schemeClr>
              </a:solidFill>
            </a:endParaRPr>
          </a:p>
          <a:p>
            <a:endParaRPr lang="en-UG" sz="1400" dirty="0">
              <a:solidFill>
                <a:schemeClr val="tx1">
                  <a:lumMod val="50000"/>
                  <a:lumOff val="50000"/>
                </a:schemeClr>
              </a:solidFill>
            </a:endParaRPr>
          </a:p>
          <a:p>
            <a:r>
              <a:rPr lang="en-UG" sz="1400" i="1" dirty="0">
                <a:solidFill>
                  <a:schemeClr val="tx1">
                    <a:lumMod val="50000"/>
                    <a:lumOff val="50000"/>
                  </a:schemeClr>
                </a:solidFill>
              </a:rPr>
              <a:t>Airtel Uganda, 2024</a:t>
            </a:r>
          </a:p>
        </p:txBody>
      </p:sp>
      <p:sp>
        <p:nvSpPr>
          <p:cNvPr id="10" name="Shape 4">
            <a:extLst>
              <a:ext uri="{FF2B5EF4-FFF2-40B4-BE49-F238E27FC236}">
                <a16:creationId xmlns:a16="http://schemas.microsoft.com/office/drawing/2014/main" id="{23779699-B602-06D7-3E9B-D91BEDAC9072}"/>
              </a:ext>
            </a:extLst>
          </p:cNvPr>
          <p:cNvSpPr/>
          <p:nvPr/>
        </p:nvSpPr>
        <p:spPr>
          <a:xfrm>
            <a:off x="166688" y="4371975"/>
            <a:ext cx="3762375" cy="1803784"/>
          </a:xfrm>
          <a:prstGeom prst="rect">
            <a:avLst/>
          </a:prstGeom>
          <a:solidFill>
            <a:srgbClr val="F5F7FA"/>
          </a:solidFill>
          <a:ln/>
          <a:effectLst>
            <a:outerShdw blurRad="50800" dist="25400" dir="8100000" algn="bl" rotWithShape="0">
              <a:srgbClr val="000000">
                <a:alpha val="15000"/>
              </a:srgbClr>
            </a:outerShdw>
          </a:effectLst>
        </p:spPr>
        <p:txBody>
          <a:bodyPr/>
          <a:lstStyle/>
          <a:p>
            <a:endParaRPr lang="en-UG" dirty="0">
              <a:ln w="0"/>
              <a:gradFill>
                <a:gsLst>
                  <a:gs pos="0">
                    <a:schemeClr val="accent5">
                      <a:lumMod val="50000"/>
                    </a:schemeClr>
                  </a:gs>
                  <a:gs pos="50000">
                    <a:schemeClr val="accent5"/>
                  </a:gs>
                  <a:gs pos="100000">
                    <a:schemeClr val="accent5">
                      <a:lumMod val="60000"/>
                      <a:lumOff val="40000"/>
                    </a:schemeClr>
                  </a:gs>
                </a:gsLst>
                <a:lin ang="5400000"/>
              </a:gradFill>
              <a:effectLst>
                <a:reflection blurRad="6350" stA="53000" endA="300" endPos="35500" dir="5400000" sy="-90000" algn="bl" rotWithShape="0"/>
              </a:effectLst>
            </a:endParaRPr>
          </a:p>
        </p:txBody>
      </p:sp>
      <p:sp>
        <p:nvSpPr>
          <p:cNvPr id="11" name="Text 5">
            <a:extLst>
              <a:ext uri="{FF2B5EF4-FFF2-40B4-BE49-F238E27FC236}">
                <a16:creationId xmlns:a16="http://schemas.microsoft.com/office/drawing/2014/main" id="{C12E87FE-D1E1-6A47-1366-91528DAE4F13}"/>
              </a:ext>
            </a:extLst>
          </p:cNvPr>
          <p:cNvSpPr/>
          <p:nvPr/>
        </p:nvSpPr>
        <p:spPr>
          <a:xfrm>
            <a:off x="288608" y="4460364"/>
            <a:ext cx="473133" cy="467677"/>
          </a:xfrm>
          <a:prstGeom prst="rect">
            <a:avLst/>
          </a:prstGeom>
          <a:solidFill>
            <a:srgbClr val="2E7D32"/>
          </a:solidFill>
          <a:ln/>
        </p:spPr>
        <p:txBody>
          <a:bodyPr wrap="square" rtlCol="0" anchor="ctr"/>
          <a:lstStyle/>
          <a:p>
            <a:pPr algn="ctr"/>
            <a:r>
              <a:rPr lang="en-US" sz="2667" b="1" dirty="0">
                <a:solidFill>
                  <a:srgbClr val="FFFFFF"/>
                </a:solidFill>
                <a:latin typeface="Trebuchet MS" panose="020B0603020202020204" pitchFamily="34" charset="0"/>
                <a:ea typeface="Georgia" pitchFamily="34" charset="-122"/>
                <a:cs typeface="Georgia" pitchFamily="34" charset="-120"/>
              </a:rPr>
              <a:t>1</a:t>
            </a:r>
            <a:endParaRPr lang="en-US" sz="2667" dirty="0">
              <a:latin typeface="Trebuchet MS" panose="020B0603020202020204" pitchFamily="34" charset="0"/>
            </a:endParaRPr>
          </a:p>
        </p:txBody>
      </p:sp>
      <p:sp>
        <p:nvSpPr>
          <p:cNvPr id="13" name="Text 6">
            <a:extLst>
              <a:ext uri="{FF2B5EF4-FFF2-40B4-BE49-F238E27FC236}">
                <a16:creationId xmlns:a16="http://schemas.microsoft.com/office/drawing/2014/main" id="{B271A4F6-3BCA-F40F-97E1-E80C1ED1F80B}"/>
              </a:ext>
            </a:extLst>
          </p:cNvPr>
          <p:cNvSpPr/>
          <p:nvPr/>
        </p:nvSpPr>
        <p:spPr>
          <a:xfrm>
            <a:off x="761741" y="4521622"/>
            <a:ext cx="2195772" cy="467677"/>
          </a:xfrm>
          <a:prstGeom prst="rect">
            <a:avLst/>
          </a:prstGeom>
          <a:noFill/>
          <a:ln/>
        </p:spPr>
        <p:txBody>
          <a:bodyPr wrap="square" rtlCol="0" anchor="ctr"/>
          <a:lstStyle/>
          <a:p>
            <a:r>
              <a:rPr lang="en-UG" sz="2000" b="1" dirty="0">
                <a:latin typeface="Trebuchet MS" panose="020B0703020202090204" pitchFamily="34" charset="0"/>
              </a:rPr>
              <a:t>Analytical Gap</a:t>
            </a:r>
          </a:p>
        </p:txBody>
      </p:sp>
      <p:sp>
        <p:nvSpPr>
          <p:cNvPr id="14" name="Text 7">
            <a:extLst>
              <a:ext uri="{FF2B5EF4-FFF2-40B4-BE49-F238E27FC236}">
                <a16:creationId xmlns:a16="http://schemas.microsoft.com/office/drawing/2014/main" id="{42837F0A-DF5F-183B-856A-54E4F4CB8121}"/>
              </a:ext>
            </a:extLst>
          </p:cNvPr>
          <p:cNvSpPr/>
          <p:nvPr/>
        </p:nvSpPr>
        <p:spPr>
          <a:xfrm>
            <a:off x="173782" y="4989299"/>
            <a:ext cx="3755281" cy="1186460"/>
          </a:xfrm>
          <a:prstGeom prst="rect">
            <a:avLst/>
          </a:prstGeom>
          <a:noFill/>
          <a:ln/>
        </p:spPr>
        <p:txBody>
          <a:bodyPr wrap="square" rtlCol="0" anchor="ctr"/>
          <a:lstStyle/>
          <a:p>
            <a:r>
              <a:rPr lang="en-UG" sz="1600" dirty="0">
                <a:latin typeface="Trebuchet MS" panose="020B0703020202090204" pitchFamily="34" charset="0"/>
              </a:rPr>
              <a:t>Over-reliance on single-metric (ARPU) segmentation completely ignores individual subscriber consumption rhythms and immediate contextual needs.</a:t>
            </a:r>
            <a:endParaRPr lang="en-US" sz="1400" dirty="0">
              <a:latin typeface="Trebuchet MS" panose="020B0703020202090204" pitchFamily="34" charset="0"/>
            </a:endParaRPr>
          </a:p>
        </p:txBody>
      </p:sp>
      <p:sp>
        <p:nvSpPr>
          <p:cNvPr id="43" name="Shape 4">
            <a:extLst>
              <a:ext uri="{FF2B5EF4-FFF2-40B4-BE49-F238E27FC236}">
                <a16:creationId xmlns:a16="http://schemas.microsoft.com/office/drawing/2014/main" id="{DE0EF333-2129-7D65-5FCB-CF4762AE0544}"/>
              </a:ext>
            </a:extLst>
          </p:cNvPr>
          <p:cNvSpPr/>
          <p:nvPr/>
        </p:nvSpPr>
        <p:spPr>
          <a:xfrm>
            <a:off x="4050983" y="4371975"/>
            <a:ext cx="3762375" cy="1803784"/>
          </a:xfrm>
          <a:prstGeom prst="rect">
            <a:avLst/>
          </a:prstGeom>
          <a:solidFill>
            <a:srgbClr val="F5F7FA"/>
          </a:solidFill>
          <a:ln/>
          <a:effectLst>
            <a:outerShdw blurRad="50800" dist="25400" dir="8100000" algn="bl" rotWithShape="0">
              <a:srgbClr val="000000">
                <a:alpha val="15000"/>
              </a:srgbClr>
            </a:outerShdw>
          </a:effectLst>
        </p:spPr>
        <p:txBody>
          <a:bodyPr/>
          <a:lstStyle/>
          <a:p>
            <a:endParaRPr lang="en-UG" dirty="0"/>
          </a:p>
        </p:txBody>
      </p:sp>
      <p:sp>
        <p:nvSpPr>
          <p:cNvPr id="44" name="Text 5">
            <a:extLst>
              <a:ext uri="{FF2B5EF4-FFF2-40B4-BE49-F238E27FC236}">
                <a16:creationId xmlns:a16="http://schemas.microsoft.com/office/drawing/2014/main" id="{E01C8588-3C39-0713-8C24-04F92A2B1D70}"/>
              </a:ext>
            </a:extLst>
          </p:cNvPr>
          <p:cNvSpPr/>
          <p:nvPr/>
        </p:nvSpPr>
        <p:spPr>
          <a:xfrm>
            <a:off x="4172903" y="4460364"/>
            <a:ext cx="473133" cy="467677"/>
          </a:xfrm>
          <a:prstGeom prst="rect">
            <a:avLst/>
          </a:prstGeom>
          <a:solidFill>
            <a:srgbClr val="2E7D32"/>
          </a:solidFill>
          <a:ln/>
        </p:spPr>
        <p:txBody>
          <a:bodyPr wrap="square" rtlCol="0" anchor="ctr"/>
          <a:lstStyle/>
          <a:p>
            <a:pPr algn="ctr"/>
            <a:r>
              <a:rPr lang="en-US" sz="2667" b="1" dirty="0">
                <a:solidFill>
                  <a:srgbClr val="FFFFFF"/>
                </a:solidFill>
                <a:latin typeface="Trebuchet MS" panose="020B0603020202020204" pitchFamily="34" charset="0"/>
              </a:rPr>
              <a:t>2</a:t>
            </a:r>
            <a:endParaRPr lang="en-US" sz="2667" dirty="0">
              <a:latin typeface="Trebuchet MS" panose="020B0603020202020204" pitchFamily="34" charset="0"/>
            </a:endParaRPr>
          </a:p>
        </p:txBody>
      </p:sp>
      <p:sp>
        <p:nvSpPr>
          <p:cNvPr id="45" name="Text 6">
            <a:extLst>
              <a:ext uri="{FF2B5EF4-FFF2-40B4-BE49-F238E27FC236}">
                <a16:creationId xmlns:a16="http://schemas.microsoft.com/office/drawing/2014/main" id="{D531E748-C723-9BAD-D005-C905A1E4E673}"/>
              </a:ext>
            </a:extLst>
          </p:cNvPr>
          <p:cNvSpPr/>
          <p:nvPr/>
        </p:nvSpPr>
        <p:spPr>
          <a:xfrm>
            <a:off x="4646036" y="4521622"/>
            <a:ext cx="2899930" cy="467677"/>
          </a:xfrm>
          <a:prstGeom prst="rect">
            <a:avLst/>
          </a:prstGeom>
          <a:noFill/>
          <a:ln/>
        </p:spPr>
        <p:txBody>
          <a:bodyPr wrap="square" rtlCol="0" anchor="ctr"/>
          <a:lstStyle/>
          <a:p>
            <a:r>
              <a:rPr lang="en-UG" sz="2000" b="1" dirty="0">
                <a:latin typeface="Trebuchet MS" panose="020B0703020202090204" pitchFamily="34" charset="0"/>
              </a:rPr>
              <a:t>Commercial Gap</a:t>
            </a:r>
          </a:p>
        </p:txBody>
      </p:sp>
      <p:sp>
        <p:nvSpPr>
          <p:cNvPr id="46" name="Text 7">
            <a:extLst>
              <a:ext uri="{FF2B5EF4-FFF2-40B4-BE49-F238E27FC236}">
                <a16:creationId xmlns:a16="http://schemas.microsoft.com/office/drawing/2014/main" id="{14F9B5E5-46FA-B144-11CA-3866704EB461}"/>
              </a:ext>
            </a:extLst>
          </p:cNvPr>
          <p:cNvSpPr/>
          <p:nvPr/>
        </p:nvSpPr>
        <p:spPr>
          <a:xfrm>
            <a:off x="4058077" y="4989299"/>
            <a:ext cx="3755281" cy="1186460"/>
          </a:xfrm>
          <a:prstGeom prst="rect">
            <a:avLst/>
          </a:prstGeom>
          <a:noFill/>
          <a:ln/>
        </p:spPr>
        <p:txBody>
          <a:bodyPr wrap="square" rtlCol="0" anchor="ctr"/>
          <a:lstStyle/>
          <a:p>
            <a:r>
              <a:rPr lang="en-UG" sz="1600" dirty="0">
                <a:latin typeface="Trebuchet MS" panose="020B0703020202090204" pitchFamily="34" charset="0"/>
              </a:rPr>
              <a:t>Untargeted campaigns yield conversion rates below 3%, leading to 20% marketing budget wastage and a 15% dormant, unmonetized user base.</a:t>
            </a:r>
            <a:endParaRPr lang="en-US" sz="1200" dirty="0">
              <a:latin typeface="Trebuchet MS" panose="020B0703020202090204" pitchFamily="34" charset="0"/>
            </a:endParaRPr>
          </a:p>
        </p:txBody>
      </p:sp>
      <p:sp>
        <p:nvSpPr>
          <p:cNvPr id="47" name="Shape 4">
            <a:extLst>
              <a:ext uri="{FF2B5EF4-FFF2-40B4-BE49-F238E27FC236}">
                <a16:creationId xmlns:a16="http://schemas.microsoft.com/office/drawing/2014/main" id="{C2132C59-BF5F-4AC4-16F2-5DF922803553}"/>
              </a:ext>
            </a:extLst>
          </p:cNvPr>
          <p:cNvSpPr/>
          <p:nvPr/>
        </p:nvSpPr>
        <p:spPr>
          <a:xfrm>
            <a:off x="7935278" y="4371975"/>
            <a:ext cx="3762375" cy="1803784"/>
          </a:xfrm>
          <a:prstGeom prst="rect">
            <a:avLst/>
          </a:prstGeom>
          <a:solidFill>
            <a:srgbClr val="F5F7FA"/>
          </a:solidFill>
          <a:ln/>
          <a:effectLst>
            <a:outerShdw blurRad="50800" dist="25400" dir="8100000" algn="bl" rotWithShape="0">
              <a:srgbClr val="000000">
                <a:alpha val="15000"/>
              </a:srgbClr>
            </a:outerShdw>
          </a:effectLst>
        </p:spPr>
        <p:txBody>
          <a:bodyPr/>
          <a:lstStyle/>
          <a:p>
            <a:endParaRPr lang="en-UG" dirty="0"/>
          </a:p>
        </p:txBody>
      </p:sp>
      <p:sp>
        <p:nvSpPr>
          <p:cNvPr id="48" name="Text 5">
            <a:extLst>
              <a:ext uri="{FF2B5EF4-FFF2-40B4-BE49-F238E27FC236}">
                <a16:creationId xmlns:a16="http://schemas.microsoft.com/office/drawing/2014/main" id="{EE28BB85-AFD9-5EAA-F997-A1BFDEC3488C}"/>
              </a:ext>
            </a:extLst>
          </p:cNvPr>
          <p:cNvSpPr/>
          <p:nvPr/>
        </p:nvSpPr>
        <p:spPr>
          <a:xfrm>
            <a:off x="8057198" y="4460364"/>
            <a:ext cx="473133" cy="467677"/>
          </a:xfrm>
          <a:prstGeom prst="rect">
            <a:avLst/>
          </a:prstGeom>
          <a:solidFill>
            <a:srgbClr val="2E7D32"/>
          </a:solidFill>
          <a:ln/>
        </p:spPr>
        <p:txBody>
          <a:bodyPr wrap="square" rtlCol="0" anchor="ctr"/>
          <a:lstStyle/>
          <a:p>
            <a:pPr algn="ctr"/>
            <a:r>
              <a:rPr lang="en-US" sz="2667" b="1" dirty="0">
                <a:solidFill>
                  <a:srgbClr val="FFFFFF"/>
                </a:solidFill>
                <a:latin typeface="Trebuchet MS" panose="020B0603020202020204" pitchFamily="34" charset="0"/>
              </a:rPr>
              <a:t>3</a:t>
            </a:r>
            <a:endParaRPr lang="en-US" sz="2667" dirty="0">
              <a:latin typeface="Trebuchet MS" panose="020B0603020202020204" pitchFamily="34" charset="0"/>
            </a:endParaRPr>
          </a:p>
        </p:txBody>
      </p:sp>
      <p:sp>
        <p:nvSpPr>
          <p:cNvPr id="49" name="Text 6">
            <a:extLst>
              <a:ext uri="{FF2B5EF4-FFF2-40B4-BE49-F238E27FC236}">
                <a16:creationId xmlns:a16="http://schemas.microsoft.com/office/drawing/2014/main" id="{1223A2ED-1B89-D481-5788-F35FF866552F}"/>
              </a:ext>
            </a:extLst>
          </p:cNvPr>
          <p:cNvSpPr/>
          <p:nvPr/>
        </p:nvSpPr>
        <p:spPr>
          <a:xfrm>
            <a:off x="8530331" y="4521622"/>
            <a:ext cx="3167322" cy="467677"/>
          </a:xfrm>
          <a:prstGeom prst="rect">
            <a:avLst/>
          </a:prstGeom>
          <a:noFill/>
          <a:ln/>
        </p:spPr>
        <p:txBody>
          <a:bodyPr wrap="square" rtlCol="0" anchor="ctr"/>
          <a:lstStyle/>
          <a:p>
            <a:r>
              <a:rPr lang="en-UG" sz="2000" b="1" dirty="0">
                <a:latin typeface="Trebuchet MS" panose="020B0703020202090204" pitchFamily="34" charset="0"/>
              </a:rPr>
              <a:t>Experiential Gap</a:t>
            </a:r>
            <a:endParaRPr lang="en-UG" sz="2800" b="1" dirty="0">
              <a:latin typeface="Trebuchet MS" panose="020B0703020202090204" pitchFamily="34" charset="0"/>
            </a:endParaRPr>
          </a:p>
        </p:txBody>
      </p:sp>
      <p:sp>
        <p:nvSpPr>
          <p:cNvPr id="50" name="Text 7">
            <a:extLst>
              <a:ext uri="{FF2B5EF4-FFF2-40B4-BE49-F238E27FC236}">
                <a16:creationId xmlns:a16="http://schemas.microsoft.com/office/drawing/2014/main" id="{5E71FDAE-FAD4-7B8E-D7CC-709094B3C828}"/>
              </a:ext>
            </a:extLst>
          </p:cNvPr>
          <p:cNvSpPr/>
          <p:nvPr/>
        </p:nvSpPr>
        <p:spPr>
          <a:xfrm>
            <a:off x="7942372" y="4989299"/>
            <a:ext cx="3755281" cy="1186460"/>
          </a:xfrm>
          <a:prstGeom prst="rect">
            <a:avLst/>
          </a:prstGeom>
          <a:noFill/>
          <a:ln/>
        </p:spPr>
        <p:txBody>
          <a:bodyPr wrap="square" rtlCol="0" anchor="ctr"/>
          <a:lstStyle/>
          <a:p>
            <a:r>
              <a:rPr lang="en-UG" sz="1600" dirty="0">
                <a:latin typeface="Trebuchet MS" panose="020B0703020202090204" pitchFamily="34" charset="0"/>
              </a:rPr>
              <a:t>Irrelevant recommendations from a complex 150+ product portfolio drive customer dissatisfaction and increase churn risk in the prepaid market.</a:t>
            </a:r>
            <a:endParaRPr lang="en-US" sz="1200" dirty="0">
              <a:latin typeface="Trebuchet MS" panose="020B0703020202090204" pitchFamily="34" charset="0"/>
            </a:endParaRPr>
          </a:p>
        </p:txBody>
      </p:sp>
    </p:spTree>
    <p:extLst>
      <p:ext uri="{BB962C8B-B14F-4D97-AF65-F5344CB8AC3E}">
        <p14:creationId xmlns:p14="http://schemas.microsoft.com/office/powerpoint/2010/main" val="238954186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D336D0-FA22-1B34-92E5-7660ED67F4F6}"/>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8D5FEA0-972E-6B8D-C934-77A0CA34B571}"/>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B0C7C162-60CD-D578-8829-30459EEAAFE2}"/>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86CE889-45EF-A79A-7C51-A73B6039F9BE}"/>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EB024DC7-A49A-AD86-2AE1-603E3513BCC2}"/>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5A39B218-6AC7-42CA-F18C-35FD6120F8E1}"/>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6EC9D944-F60C-BFB4-BCC7-53A600C040BD}"/>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Research Objectives and Questions</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D4B798A0-6FEB-F79F-2409-5CF7D482BFD5}"/>
              </a:ext>
            </a:extLst>
          </p:cNvPr>
          <p:cNvSpPr txBox="1"/>
          <p:nvPr/>
        </p:nvSpPr>
        <p:spPr>
          <a:xfrm>
            <a:off x="0" y="1201372"/>
            <a:ext cx="11816183" cy="5339923"/>
          </a:xfrm>
          <a:prstGeom prst="rect">
            <a:avLst/>
          </a:prstGeom>
          <a:noFill/>
        </p:spPr>
        <p:txBody>
          <a:bodyPr wrap="none" rtlCol="0">
            <a:spAutoFit/>
          </a:bodyPr>
          <a:lstStyle/>
          <a:p>
            <a:pPr lvl="0"/>
            <a:r>
              <a:rPr lang="en-UG" sz="1400" b="1" dirty="0">
                <a:latin typeface="Trebuchet MS" panose="020B0703020202090204" pitchFamily="34" charset="0"/>
              </a:rPr>
              <a:t>MAIN OBJECTIVE</a:t>
            </a:r>
          </a:p>
          <a:p>
            <a:pPr lvl="0"/>
            <a:r>
              <a:rPr lang="en-UG" sz="1600" dirty="0">
                <a:latin typeface="Trebuchet MS" panose="020B0703020202090204" pitchFamily="34" charset="0"/>
              </a:rPr>
              <a:t>To identify the key customer behavioural attributes that can be used to predict appropriate voice bundles for </a:t>
            </a:r>
          </a:p>
          <a:p>
            <a:pPr lvl="0"/>
            <a:r>
              <a:rPr lang="en-UG" sz="1600" dirty="0">
                <a:latin typeface="Trebuchet MS" panose="020B0703020202090204" pitchFamily="34" charset="0"/>
              </a:rPr>
              <a:t>individual Airtel Uganda subscribers and to leverage these attributes to develop a machine learning-based </a:t>
            </a:r>
          </a:p>
          <a:p>
            <a:pPr lvl="0"/>
            <a:r>
              <a:rPr lang="en-UG" sz="1600" dirty="0">
                <a:latin typeface="Trebuchet MS" panose="020B0703020202090204" pitchFamily="34" charset="0"/>
              </a:rPr>
              <a:t>recommendation framework that supports Airtel Uganda's business growth objectives.</a:t>
            </a:r>
            <a:r>
              <a:rPr lang="en-UG" sz="1400" dirty="0">
                <a:latin typeface="Trebuchet MS" panose="020B0703020202090204" pitchFamily="34" charset="0"/>
              </a:rPr>
              <a:t> </a:t>
            </a:r>
          </a:p>
          <a:p>
            <a:pPr lvl="0"/>
            <a:endParaRPr lang="en-UG" sz="1400" dirty="0">
              <a:latin typeface="Trebuchet MS" panose="020B0703020202090204" pitchFamily="34" charset="0"/>
            </a:endParaRPr>
          </a:p>
          <a:p>
            <a:pPr lvl="0"/>
            <a:endParaRPr lang="en-UG" sz="1400" dirty="0">
              <a:latin typeface="Trebuchet MS" panose="020B0703020202090204" pitchFamily="34" charset="0"/>
            </a:endParaRPr>
          </a:p>
          <a:p>
            <a:pPr lvl="0"/>
            <a:r>
              <a:rPr lang="en-UG" sz="1400" b="1" dirty="0">
                <a:latin typeface="Trebuchet MS" panose="020B0703020202090204" pitchFamily="34" charset="0"/>
              </a:rPr>
              <a:t>SPECIFIC OBJECTIVES</a:t>
            </a:r>
          </a:p>
          <a:p>
            <a:pPr lvl="0"/>
            <a:r>
              <a:rPr lang="en-UG" sz="1600" dirty="0">
                <a:latin typeface="Trebuchet MS" panose="020B0703020202090204" pitchFamily="34" charset="0"/>
              </a:rPr>
              <a:t>To identify the key customer behavioural attributes and patterns that are most predictive of voice bundle purchase decisions </a:t>
            </a:r>
          </a:p>
          <a:p>
            <a:pPr lvl="0"/>
            <a:r>
              <a:rPr lang="en-UG" sz="1600" dirty="0">
                <a:latin typeface="Trebuchet MS" panose="020B0703020202090204" pitchFamily="34" charset="0"/>
              </a:rPr>
              <a:t>among Airtel Uganda prepaid subscribers.</a:t>
            </a:r>
            <a:r>
              <a:rPr lang="en-UG" sz="1400" dirty="0">
                <a:latin typeface="Trebuchet MS" panose="020B0703020202090204" pitchFamily="34" charset="0"/>
              </a:rPr>
              <a:t> </a:t>
            </a:r>
          </a:p>
          <a:p>
            <a:pPr lvl="0"/>
            <a:endParaRPr lang="en-UG" sz="1400" dirty="0">
              <a:latin typeface="Trebuchet MS" panose="020B0703020202090204" pitchFamily="34" charset="0"/>
            </a:endParaRPr>
          </a:p>
          <a:p>
            <a:pPr lvl="0"/>
            <a:r>
              <a:rPr lang="en-UG" sz="1100" i="1" dirty="0">
                <a:latin typeface="Trebuchet MS" panose="020B0703020202090204" pitchFamily="34" charset="0"/>
              </a:rPr>
              <a:t>RQ1: What are the key customer behavioural attributes and patterns that most effectively predict voice bundle purchase decisions among Airtel Uganda’s prepaid subscribers? </a:t>
            </a:r>
          </a:p>
          <a:p>
            <a:pPr lvl="0"/>
            <a:endParaRPr lang="en-UG" sz="1400" dirty="0">
              <a:latin typeface="Trebuchet MS" panose="020B0703020202090204" pitchFamily="34" charset="0"/>
            </a:endParaRPr>
          </a:p>
          <a:p>
            <a:pPr lvl="0"/>
            <a:r>
              <a:rPr lang="en-UG" sz="1600" dirty="0">
                <a:latin typeface="Trebuchet MS" panose="020B0703020202090204" pitchFamily="34" charset="0"/>
              </a:rPr>
              <a:t>To test and evaluate suitable machine learning models, including appropriate data preprocessing and feature engineering </a:t>
            </a:r>
          </a:p>
          <a:p>
            <a:pPr lvl="0"/>
            <a:r>
              <a:rPr lang="en-UG" sz="1600" dirty="0">
                <a:latin typeface="Trebuchet MS" panose="020B0703020202090204" pitchFamily="34" charset="0"/>
              </a:rPr>
              <a:t>techniques, for accurately predicting and classifying voice bundle purchase decisions by Airtel Uganda customers.</a:t>
            </a:r>
            <a:r>
              <a:rPr lang="en-UG" sz="1400" dirty="0">
                <a:latin typeface="Trebuchet MS" panose="020B0703020202090204" pitchFamily="34" charset="0"/>
              </a:rPr>
              <a:t> </a:t>
            </a:r>
          </a:p>
          <a:p>
            <a:pPr lvl="0"/>
            <a:endParaRPr lang="en-UG" sz="1400" dirty="0">
              <a:latin typeface="Trebuchet MS" panose="020B0703020202090204" pitchFamily="34" charset="0"/>
            </a:endParaRPr>
          </a:p>
          <a:p>
            <a:pPr lvl="0"/>
            <a:r>
              <a:rPr lang="en-UG" sz="1100" i="1" dirty="0">
                <a:latin typeface="Trebuchet MS" panose="020B0703020202090204" pitchFamily="34" charset="0"/>
              </a:rPr>
              <a:t>RQ2: Which machine learning models are most suitable and accurate for predicting and classifying customer voice bundle preferences, and which data preprocessing approaches</a:t>
            </a:r>
          </a:p>
          <a:p>
            <a:pPr lvl="0"/>
            <a:r>
              <a:rPr lang="en-UG" sz="1100" i="1" dirty="0">
                <a:latin typeface="Trebuchet MS" panose="020B0703020202090204" pitchFamily="34" charset="0"/>
              </a:rPr>
              <a:t>best support this task? </a:t>
            </a:r>
          </a:p>
          <a:p>
            <a:pPr lvl="0"/>
            <a:endParaRPr lang="en-UG" sz="1400" dirty="0">
              <a:latin typeface="Trebuchet MS" panose="020B0703020202090204" pitchFamily="34" charset="0"/>
            </a:endParaRPr>
          </a:p>
          <a:p>
            <a:pPr lvl="0"/>
            <a:r>
              <a:rPr lang="en-UG" sz="1600" dirty="0">
                <a:latin typeface="Trebuchet MS" panose="020B0703020202090204" pitchFamily="34" charset="0"/>
              </a:rPr>
              <a:t>To formulate strategic, evidence-based machine learning recommendations for Airtel Uganda to grow its business, </a:t>
            </a:r>
          </a:p>
          <a:p>
            <a:pPr lvl="0"/>
            <a:r>
              <a:rPr lang="en-UG" sz="1600" dirty="0">
                <a:latin typeface="Trebuchet MS" panose="020B0703020202090204" pitchFamily="34" charset="0"/>
              </a:rPr>
              <a:t>optimise marketing efficiency, and improve customer satisfaction.</a:t>
            </a:r>
            <a:r>
              <a:rPr lang="en-UG" sz="1400" dirty="0">
                <a:latin typeface="Trebuchet MS" panose="020B0703020202090204" pitchFamily="34" charset="0"/>
              </a:rPr>
              <a:t> </a:t>
            </a:r>
          </a:p>
          <a:p>
            <a:pPr lvl="0"/>
            <a:endParaRPr lang="en-UG" sz="1400" dirty="0">
              <a:latin typeface="Trebuchet MS" panose="020B0703020202090204" pitchFamily="34" charset="0"/>
            </a:endParaRPr>
          </a:p>
          <a:p>
            <a:pPr lvl="0"/>
            <a:r>
              <a:rPr lang="en-UG" sz="1100" dirty="0">
                <a:latin typeface="Trebuchet MS" panose="020B0703020202090204" pitchFamily="34" charset="0"/>
              </a:rPr>
              <a:t>RQ3: What strategic recommendations can be derived from the machine learning model's outputs to help Airtel Uganda improve customer satisfaction, reduce churn, </a:t>
            </a:r>
          </a:p>
          <a:p>
            <a:pPr lvl="0"/>
            <a:r>
              <a:rPr lang="en-UG" sz="1100" dirty="0">
                <a:latin typeface="Trebuchet MS" panose="020B0703020202090204" pitchFamily="34" charset="0"/>
              </a:rPr>
              <a:t>and grow its business? </a:t>
            </a:r>
          </a:p>
          <a:p>
            <a:endParaRPr lang="en-UG" sz="1600" dirty="0">
              <a:latin typeface="Trebuchet MS" panose="020B0703020202090204" pitchFamily="34" charset="0"/>
            </a:endParaRPr>
          </a:p>
        </p:txBody>
      </p:sp>
    </p:spTree>
    <p:extLst>
      <p:ext uri="{BB962C8B-B14F-4D97-AF65-F5344CB8AC3E}">
        <p14:creationId xmlns:p14="http://schemas.microsoft.com/office/powerpoint/2010/main" val="305522796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3D6EC-7223-AE19-D952-24DE35FAA2C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5823D3F7-1D11-E1EB-43C9-CF1F4ABEADF9}"/>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615A57F2-77A8-5C5B-A2FA-76613D0FC284}"/>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E6D2CD1A-2C7F-A86D-8FCC-61EC01F6FAE3}"/>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4B90707C-4D84-F698-2CED-CE4AC5C7ACE6}"/>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34652095-8651-8A7D-ED11-25471DB1A0AE}"/>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C2F8E05D-0051-65C9-0221-90CDBB304D08}"/>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Methodology: Variables</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FEF8E68C-4A86-B7E4-E705-3F4CF591B6A1}"/>
              </a:ext>
            </a:extLst>
          </p:cNvPr>
          <p:cNvSpPr txBox="1"/>
          <p:nvPr/>
        </p:nvSpPr>
        <p:spPr>
          <a:xfrm>
            <a:off x="0" y="1201372"/>
            <a:ext cx="12483610" cy="5355312"/>
          </a:xfrm>
          <a:prstGeom prst="rect">
            <a:avLst/>
          </a:prstGeom>
          <a:noFill/>
        </p:spPr>
        <p:txBody>
          <a:bodyPr wrap="none" rtlCol="0">
            <a:spAutoFit/>
          </a:bodyPr>
          <a:lstStyle/>
          <a:p>
            <a:r>
              <a:rPr lang="en-UG" sz="1600" dirty="0">
                <a:latin typeface="Trebuchet MS" panose="020B0703020202090204" pitchFamily="34" charset="0"/>
              </a:rPr>
              <a:t>Guided by the 3 Research Questions seen before our research was kept grounded to fully address the objectives set out.</a:t>
            </a:r>
          </a:p>
          <a:p>
            <a:r>
              <a:rPr lang="en-UG" sz="1600" dirty="0">
                <a:latin typeface="Trebuchet MS" panose="020B0703020202090204" pitchFamily="34" charset="0"/>
              </a:rPr>
              <a:t>Actual customer, bundle purchase, location and CDRs were obtained from the Airtel Uganda Data warehouse.</a:t>
            </a:r>
          </a:p>
          <a:p>
            <a:endParaRPr lang="en-UG" sz="1600" dirty="0">
              <a:latin typeface="Trebuchet MS" panose="020B0703020202090204" pitchFamily="34" charset="0"/>
            </a:endParaRPr>
          </a:p>
          <a:p>
            <a:r>
              <a:rPr lang="en-UG" sz="1600" dirty="0">
                <a:latin typeface="Trebuchet MS" panose="020B0703020202090204" pitchFamily="34" charset="0"/>
              </a:rPr>
              <a:t>A study Population was defined were observed over a 90 Day period - Feb - Apr, 2026 constituting to about </a:t>
            </a:r>
            <a:r>
              <a:rPr lang="en-UG" dirty="0"/>
              <a:t>150 million anonymised </a:t>
            </a:r>
          </a:p>
          <a:p>
            <a:r>
              <a:rPr lang="en-UG" dirty="0"/>
              <a:t>transaction records</a:t>
            </a:r>
            <a:endParaRPr lang="en-UG" sz="1600" dirty="0">
              <a:latin typeface="Trebuchet MS" panose="020B0703020202090204" pitchFamily="34" charset="0"/>
            </a:endParaRPr>
          </a:p>
          <a:p>
            <a:endParaRPr lang="en-UG" sz="1600" dirty="0">
              <a:latin typeface="Trebuchet MS" panose="020B0703020202090204" pitchFamily="34" charset="0"/>
            </a:endParaRPr>
          </a:p>
          <a:p>
            <a:r>
              <a:rPr lang="en-UG" sz="1600" dirty="0">
                <a:latin typeface="Trebuchet MS" panose="020B0703020202090204" pitchFamily="34" charset="0"/>
              </a:rPr>
              <a:t>Only Prepaip customers – approximately </a:t>
            </a:r>
            <a:r>
              <a:rPr lang="en-UG" dirty="0"/>
              <a:t>5.4 million </a:t>
            </a:r>
            <a:r>
              <a:rPr lang="en-UG" sz="1600" dirty="0">
                <a:latin typeface="Trebuchet MS" panose="020B0703020202090204" pitchFamily="34" charset="0"/>
              </a:rPr>
              <a:t>were considered hinting on the dorminance of </a:t>
            </a:r>
            <a:r>
              <a:rPr lang="en-UG" dirty="0"/>
              <a:t>prepaid services, where purchase </a:t>
            </a:r>
          </a:p>
          <a:p>
            <a:r>
              <a:rPr lang="en-UG" dirty="0"/>
              <a:t>decisions are made frequently, independently, and at low denominations, a behavioural pattern distinct from postpaid contractual </a:t>
            </a:r>
          </a:p>
          <a:p>
            <a:r>
              <a:rPr lang="en-UG" dirty="0"/>
              <a:t>environments. </a:t>
            </a:r>
          </a:p>
          <a:p>
            <a:endParaRPr lang="en-UG" sz="1600" dirty="0">
              <a:latin typeface="Trebuchet MS" panose="020B0703020202090204" pitchFamily="34" charset="0"/>
            </a:endParaRPr>
          </a:p>
          <a:p>
            <a:r>
              <a:rPr lang="en-UG" sz="1600" dirty="0">
                <a:latin typeface="Trebuchet MS" panose="020B0703020202090204" pitchFamily="34" charset="0"/>
              </a:rPr>
              <a:t>For the geogrpahical scope, only areas of Central Uganda were considered to better represent a healthy customer behavior pattern.</a:t>
            </a:r>
          </a:p>
          <a:p>
            <a:endParaRPr lang="en-UG" sz="1600" dirty="0">
              <a:latin typeface="Trebuchet MS" panose="020B0703020202090204" pitchFamily="34" charset="0"/>
            </a:endParaRPr>
          </a:p>
          <a:p>
            <a:r>
              <a:rPr lang="en-UG" b="1" dirty="0"/>
              <a:t>Dependent Variable</a:t>
            </a:r>
            <a:r>
              <a:rPr lang="en-UG" sz="1600" b="1" dirty="0"/>
              <a:t> </a:t>
            </a:r>
            <a:r>
              <a:rPr lang="en-UG" sz="1600" dirty="0"/>
              <a:t>- </a:t>
            </a:r>
            <a:r>
              <a:rPr lang="en-UG" dirty="0"/>
              <a:t>the voice bundle type purchased by a customer</a:t>
            </a:r>
            <a:r>
              <a:rPr lang="en-UG" sz="1600" dirty="0"/>
              <a:t> </a:t>
            </a:r>
          </a:p>
          <a:p>
            <a:r>
              <a:rPr lang="en-UG" dirty="0"/>
              <a:t>This variable serves as the target label in the supervised classification models: </a:t>
            </a:r>
          </a:p>
          <a:p>
            <a:r>
              <a:rPr lang="en-UG" dirty="0"/>
              <a:t>the machine learning algorithms are trained to predict which bundle class a customer is most likely to purchase on a given </a:t>
            </a:r>
          </a:p>
          <a:p>
            <a:r>
              <a:rPr lang="en-UG" dirty="0"/>
              <a:t>occasion, based on their behavioural profile</a:t>
            </a:r>
            <a:r>
              <a:rPr lang="en-UG" sz="1600" dirty="0"/>
              <a:t> </a:t>
            </a:r>
          </a:p>
          <a:p>
            <a:endParaRPr lang="en-UG" sz="1600" dirty="0">
              <a:latin typeface="Trebuchet MS" panose="020B0703020202090204" pitchFamily="34" charset="0"/>
            </a:endParaRPr>
          </a:p>
          <a:p>
            <a:r>
              <a:rPr lang="en-UG" sz="1600" dirty="0"/>
              <a:t>The choice of a categorical dependent variable </a:t>
            </a:r>
            <a:r>
              <a:rPr lang="en-UG" sz="1600" b="1" dirty="0"/>
              <a:t>(Bundle Type) </a:t>
            </a:r>
            <a:r>
              <a:rPr lang="en-UG" sz="1600" dirty="0"/>
              <a:t>frames this as a multiclass classification problem, </a:t>
            </a:r>
          </a:p>
          <a:p>
            <a:r>
              <a:rPr lang="en-UG" sz="1600" dirty="0"/>
              <a:t>which is why classification algorithms, rather than regression models, form the core analytical tool of this study</a:t>
            </a:r>
          </a:p>
          <a:p>
            <a:endParaRPr lang="en-UG" sz="1600" dirty="0">
              <a:latin typeface="Trebuchet MS" panose="020B0703020202090204" pitchFamily="34" charset="0"/>
            </a:endParaRPr>
          </a:p>
        </p:txBody>
      </p:sp>
      <p:sp>
        <p:nvSpPr>
          <p:cNvPr id="8" name="TextBox 7">
            <a:extLst>
              <a:ext uri="{FF2B5EF4-FFF2-40B4-BE49-F238E27FC236}">
                <a16:creationId xmlns:a16="http://schemas.microsoft.com/office/drawing/2014/main" id="{1231AA49-0B1B-916C-97DA-650737A2658A}"/>
              </a:ext>
            </a:extLst>
          </p:cNvPr>
          <p:cNvSpPr txBox="1"/>
          <p:nvPr/>
        </p:nvSpPr>
        <p:spPr>
          <a:xfrm>
            <a:off x="0" y="6355080"/>
            <a:ext cx="2530501" cy="307777"/>
          </a:xfrm>
          <a:prstGeom prst="rect">
            <a:avLst/>
          </a:prstGeom>
          <a:noFill/>
        </p:spPr>
        <p:txBody>
          <a:bodyPr wrap="none" rtlCol="0">
            <a:spAutoFit/>
          </a:bodyPr>
          <a:lstStyle/>
          <a:p>
            <a:r>
              <a:rPr lang="en-UG" sz="1400" i="1" dirty="0">
                <a:solidFill>
                  <a:schemeClr val="tx1">
                    <a:lumMod val="50000"/>
                    <a:lumOff val="50000"/>
                  </a:schemeClr>
                </a:solidFill>
              </a:rPr>
              <a:t>Chulu, 2017; Nafiu et al., 2012). </a:t>
            </a:r>
          </a:p>
        </p:txBody>
      </p:sp>
    </p:spTree>
    <p:extLst>
      <p:ext uri="{BB962C8B-B14F-4D97-AF65-F5344CB8AC3E}">
        <p14:creationId xmlns:p14="http://schemas.microsoft.com/office/powerpoint/2010/main" val="232194156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0C6977-63AF-2695-FBE9-988B7917F457}"/>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E83D8071-5842-6A12-241E-4641E0B27BC5}"/>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C5A7009B-FF0B-56EF-2D3A-0BC062AE8DF6}"/>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C372ECAF-155B-6393-4F55-C6AEF8370564}"/>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A23C7900-ACB1-B692-61AC-72DCA1CF73EF}"/>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DEDA7E34-1FE8-F3FA-13E5-93E32177A3E2}"/>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DD4BE571-FCDD-72AE-DC36-7894AB6674C5}"/>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Methodology: Variables</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DD81D578-68CB-0F13-18B2-A002E2886C5E}"/>
              </a:ext>
            </a:extLst>
          </p:cNvPr>
          <p:cNvSpPr txBox="1"/>
          <p:nvPr/>
        </p:nvSpPr>
        <p:spPr>
          <a:xfrm>
            <a:off x="0" y="1201372"/>
            <a:ext cx="12191694" cy="4985980"/>
          </a:xfrm>
          <a:prstGeom prst="rect">
            <a:avLst/>
          </a:prstGeom>
          <a:noFill/>
        </p:spPr>
        <p:txBody>
          <a:bodyPr wrap="square" rtlCol="0">
            <a:spAutoFit/>
          </a:bodyPr>
          <a:lstStyle/>
          <a:p>
            <a:r>
              <a:rPr lang="en-UG" sz="2000" b="1" dirty="0"/>
              <a:t>Independent Variables</a:t>
            </a:r>
            <a:r>
              <a:rPr lang="en-UG" b="1" dirty="0"/>
              <a:t> </a:t>
            </a:r>
            <a:r>
              <a:rPr lang="en-UG" sz="1400" b="1" dirty="0"/>
              <a:t>- </a:t>
            </a:r>
            <a:r>
              <a:rPr lang="en-UG" sz="1600" dirty="0"/>
              <a:t>the customer behavioural and contextual attributes that the machine learning models use as </a:t>
            </a:r>
          </a:p>
          <a:p>
            <a:r>
              <a:rPr lang="en-UG" sz="1600" dirty="0"/>
              <a:t>input features to predict the dependent variable</a:t>
            </a:r>
            <a:r>
              <a:rPr lang="en-UG" sz="1400" dirty="0"/>
              <a:t> </a:t>
            </a:r>
            <a:endParaRPr lang="en-UG" sz="1400" b="1" dirty="0">
              <a:latin typeface="Trebuchet MS" panose="020B0703020202090204" pitchFamily="34" charset="0"/>
            </a:endParaRPr>
          </a:p>
          <a:p>
            <a:endParaRPr lang="en-UG" sz="1600" b="1" dirty="0"/>
          </a:p>
          <a:p>
            <a:r>
              <a:rPr lang="en-UG" b="1" dirty="0"/>
              <a:t>1. Purchase frequency </a:t>
            </a:r>
            <a:r>
              <a:rPr lang="en-UG" dirty="0"/>
              <a:t>wether daily, weekly or monthly reflects customer engagement intensity </a:t>
            </a:r>
          </a:p>
          <a:p>
            <a:r>
              <a:rPr lang="en-UG" b="1" dirty="0"/>
              <a:t>2. Bundle depletion rate </a:t>
            </a:r>
            <a:r>
              <a:rPr lang="en-UG" dirty="0"/>
              <a:t>measures the speed at which a customer consumes their purchased bundle</a:t>
            </a:r>
            <a:r>
              <a:rPr lang="en-UG" sz="1600" dirty="0"/>
              <a:t> </a:t>
            </a:r>
          </a:p>
          <a:p>
            <a:r>
              <a:rPr lang="en-UG" b="1" dirty="0"/>
              <a:t>3. Temporal purchase features </a:t>
            </a:r>
            <a:r>
              <a:rPr lang="en-UG" dirty="0"/>
              <a:t>capture the time-of-day, day-of-week, and day-of-month patterns associated with a customer's purchases</a:t>
            </a:r>
            <a:endParaRPr lang="en-UG" sz="1600" b="1" dirty="0"/>
          </a:p>
          <a:p>
            <a:r>
              <a:rPr lang="en-UG" b="1" dirty="0"/>
              <a:t>4. Average Revenue Per User (ARPU), </a:t>
            </a:r>
            <a:r>
              <a:rPr lang="en-UG" dirty="0"/>
              <a:t>calculated over rolling 7-day, 30-day, and 90-day windows, captures the customer's spending level and trajectory</a:t>
            </a:r>
            <a:endParaRPr lang="en-UG" sz="1600" b="1" dirty="0">
              <a:latin typeface="Trebuchet MS" panose="020B0703020202090204" pitchFamily="34" charset="0"/>
            </a:endParaRPr>
          </a:p>
          <a:p>
            <a:r>
              <a:rPr lang="en-UG" b="1" dirty="0"/>
              <a:t>5. Recency score </a:t>
            </a:r>
            <a:r>
              <a:rPr lang="en-UG" dirty="0"/>
              <a:t>quantifies the number of days elapsed since the customer's most recent bundle purchase</a:t>
            </a:r>
          </a:p>
          <a:p>
            <a:endParaRPr lang="en-UG" sz="1600" b="1" dirty="0">
              <a:latin typeface="Trebuchet MS" panose="020B0703020202090204" pitchFamily="34" charset="0"/>
            </a:endParaRPr>
          </a:p>
          <a:p>
            <a:r>
              <a:rPr lang="en-UG" dirty="0"/>
              <a:t>Forming the R component of an adapted RFM (Recency, Frequency, Monetary) framework commonly applied in customer behaviour modelling</a:t>
            </a:r>
          </a:p>
          <a:p>
            <a:endParaRPr lang="en-UG" sz="1600" b="1" dirty="0">
              <a:latin typeface="Trebuchet MS" panose="020B0703020202090204" pitchFamily="34" charset="0"/>
            </a:endParaRPr>
          </a:p>
          <a:p>
            <a:r>
              <a:rPr lang="en-UG" b="1" dirty="0"/>
              <a:t>6. Customer tenure </a:t>
            </a:r>
            <a:r>
              <a:rPr lang="en-UG" dirty="0"/>
              <a:t>records the duration of the subscriber's relationship with Airtel Uganda in days, which has been identified as a predictor of behavioural stability and bundle preference consistency </a:t>
            </a:r>
            <a:endParaRPr lang="en-UG" sz="1600" b="1" dirty="0">
              <a:latin typeface="Trebuchet MS" panose="020B0703020202090204" pitchFamily="34" charset="0"/>
            </a:endParaRPr>
          </a:p>
          <a:p>
            <a:r>
              <a:rPr lang="en-UG" b="1" dirty="0"/>
              <a:t>7. </a:t>
            </a:r>
            <a:r>
              <a:rPr lang="en-UG" dirty="0"/>
              <a:t>Finally, </a:t>
            </a:r>
            <a:r>
              <a:rPr lang="en-UG" b="1" dirty="0"/>
              <a:t>Geographic region </a:t>
            </a:r>
            <a:r>
              <a:rPr lang="en-UG" dirty="0"/>
              <a:t>— derived from the customer's registered home location or most frequent network site — is included as a categorical feature </a:t>
            </a:r>
            <a:endParaRPr lang="en-UG" sz="1600" b="1" dirty="0">
              <a:latin typeface="Trebuchet MS" panose="020B0703020202090204" pitchFamily="34" charset="0"/>
            </a:endParaRPr>
          </a:p>
        </p:txBody>
      </p:sp>
      <p:sp>
        <p:nvSpPr>
          <p:cNvPr id="8" name="TextBox 7">
            <a:extLst>
              <a:ext uri="{FF2B5EF4-FFF2-40B4-BE49-F238E27FC236}">
                <a16:creationId xmlns:a16="http://schemas.microsoft.com/office/drawing/2014/main" id="{62BCBE43-8A71-6075-844E-ECFCDD595BC5}"/>
              </a:ext>
            </a:extLst>
          </p:cNvPr>
          <p:cNvSpPr txBox="1"/>
          <p:nvPr/>
        </p:nvSpPr>
        <p:spPr>
          <a:xfrm>
            <a:off x="-74428" y="6338281"/>
            <a:ext cx="12266428" cy="954107"/>
          </a:xfrm>
          <a:prstGeom prst="rect">
            <a:avLst/>
          </a:prstGeom>
          <a:noFill/>
        </p:spPr>
        <p:txBody>
          <a:bodyPr wrap="square" numCol="2" rtlCol="0">
            <a:spAutoFit/>
          </a:bodyPr>
          <a:lstStyle/>
          <a:p>
            <a:r>
              <a:rPr lang="en-UG" sz="1400" i="1" dirty="0">
                <a:solidFill>
                  <a:schemeClr val="tx1">
                    <a:lumMod val="50000"/>
                    <a:lumOff val="50000"/>
                  </a:schemeClr>
                </a:solidFill>
              </a:rPr>
              <a:t>Chen et al. (2023)</a:t>
            </a:r>
          </a:p>
          <a:p>
            <a:r>
              <a:rPr lang="en-UG" sz="1400" i="1" dirty="0">
                <a:solidFill>
                  <a:schemeClr val="tx1">
                    <a:lumMod val="50000"/>
                    <a:lumOff val="50000"/>
                  </a:schemeClr>
                </a:solidFill>
              </a:rPr>
              <a:t>Mahmoud &amp; Asyhari, 2024; Zhao et al., 2023.</a:t>
            </a:r>
          </a:p>
          <a:p>
            <a:endParaRPr lang="en-UG" sz="1400" i="1" dirty="0">
              <a:solidFill>
                <a:schemeClr val="tx1">
                  <a:lumMod val="50000"/>
                  <a:lumOff val="50000"/>
                </a:schemeClr>
              </a:solidFill>
            </a:endParaRPr>
          </a:p>
          <a:p>
            <a:endParaRPr lang="en-UG" sz="1400" i="1" dirty="0">
              <a:solidFill>
                <a:schemeClr val="tx1">
                  <a:lumMod val="50000"/>
                  <a:lumOff val="50000"/>
                </a:schemeClr>
              </a:solidFill>
            </a:endParaRPr>
          </a:p>
          <a:p>
            <a:r>
              <a:rPr lang="en-UG" sz="1400" i="1" dirty="0">
                <a:solidFill>
                  <a:schemeClr val="tx1">
                    <a:lumMod val="50000"/>
                    <a:lumOff val="50000"/>
                  </a:schemeClr>
                </a:solidFill>
              </a:rPr>
              <a:t>Mohaimin et al., 2025 </a:t>
            </a:r>
          </a:p>
          <a:p>
            <a:r>
              <a:rPr lang="en-UG" sz="1400" i="1" dirty="0">
                <a:solidFill>
                  <a:schemeClr val="tx1">
                    <a:lumMod val="50000"/>
                    <a:lumOff val="50000"/>
                  </a:schemeClr>
                </a:solidFill>
              </a:rPr>
              <a:t>Mahmoud &amp; Asyhari, 2024 </a:t>
            </a:r>
          </a:p>
        </p:txBody>
      </p:sp>
    </p:spTree>
    <p:extLst>
      <p:ext uri="{BB962C8B-B14F-4D97-AF65-F5344CB8AC3E}">
        <p14:creationId xmlns:p14="http://schemas.microsoft.com/office/powerpoint/2010/main" val="110724630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B8D4F3-8BA7-3C3E-C02F-330A5D8442A3}"/>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3446617-FA67-259B-DD8B-85DCDBAB8447}"/>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E39458D8-FB1E-3C7D-04A7-7D506D6120BA}"/>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ED98603-984D-A429-3AED-8FBC9847C454}"/>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B7F39D97-DBAA-15E6-8C4E-2FCAC33FB2E7}"/>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53556AFD-83FB-E9F7-2F5F-FF2E2B2F2138}"/>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E8CDCBB4-C779-3284-C9ED-1B5D7E0CC230}"/>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Data Collection</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6ACDA0DC-36DC-EE83-3C7B-1E8BA6A07621}"/>
              </a:ext>
            </a:extLst>
          </p:cNvPr>
          <p:cNvSpPr txBox="1"/>
          <p:nvPr/>
        </p:nvSpPr>
        <p:spPr>
          <a:xfrm>
            <a:off x="0" y="946542"/>
            <a:ext cx="12191694" cy="1969770"/>
          </a:xfrm>
          <a:prstGeom prst="rect">
            <a:avLst/>
          </a:prstGeom>
          <a:noFill/>
        </p:spPr>
        <p:txBody>
          <a:bodyPr wrap="square" rtlCol="0">
            <a:spAutoFit/>
          </a:bodyPr>
          <a:lstStyle/>
          <a:p>
            <a:r>
              <a:rPr lang="en-UG" sz="1600" b="1" dirty="0"/>
              <a:t>Secondary Data: </a:t>
            </a:r>
            <a:r>
              <a:rPr lang="en-UG" sz="1600" dirty="0"/>
              <a:t>Historical Transaction Records</a:t>
            </a:r>
            <a:r>
              <a:rPr lang="en-UG" dirty="0"/>
              <a:t> </a:t>
            </a:r>
          </a:p>
          <a:p>
            <a:r>
              <a:rPr lang="en-UG" sz="1600" dirty="0"/>
              <a:t>The quantitative dataset was extracted from Airtel Uganda Limited's production database by the researcher.</a:t>
            </a:r>
          </a:p>
          <a:p>
            <a:r>
              <a:rPr lang="en-UG" sz="1600" dirty="0"/>
              <a:t>Extracted data was from February and May 2026 using structured Presto/Hive SQL queries executed against four internal data sources.</a:t>
            </a:r>
          </a:p>
          <a:p>
            <a:endParaRPr lang="en-UG" dirty="0"/>
          </a:p>
          <a:p>
            <a:endParaRPr lang="en-UG" dirty="0"/>
          </a:p>
          <a:p>
            <a:endParaRPr lang="en-UG" dirty="0"/>
          </a:p>
          <a:p>
            <a:endParaRPr lang="en-UG" dirty="0"/>
          </a:p>
        </p:txBody>
      </p:sp>
      <p:graphicFrame>
        <p:nvGraphicFramePr>
          <p:cNvPr id="11" name="Table 10">
            <a:extLst>
              <a:ext uri="{FF2B5EF4-FFF2-40B4-BE49-F238E27FC236}">
                <a16:creationId xmlns:a16="http://schemas.microsoft.com/office/drawing/2014/main" id="{31BE68DD-0028-CDBD-0513-CF17EDFD6D98}"/>
              </a:ext>
            </a:extLst>
          </p:cNvPr>
          <p:cNvGraphicFramePr>
            <a:graphicFrameLocks noGrp="1"/>
          </p:cNvGraphicFramePr>
          <p:nvPr>
            <p:extLst>
              <p:ext uri="{D42A27DB-BD31-4B8C-83A1-F6EECF244321}">
                <p14:modId xmlns:p14="http://schemas.microsoft.com/office/powerpoint/2010/main" val="3816809802"/>
              </p:ext>
            </p:extLst>
          </p:nvPr>
        </p:nvGraphicFramePr>
        <p:xfrm>
          <a:off x="75612" y="1795851"/>
          <a:ext cx="6508556" cy="3100828"/>
        </p:xfrm>
        <a:graphic>
          <a:graphicData uri="http://schemas.openxmlformats.org/drawingml/2006/table">
            <a:tbl>
              <a:tblPr firstRow="1" bandRow="1">
                <a:tableStyleId>{5C22544A-7EE6-4342-B048-85BDC9FD1C3A}</a:tableStyleId>
              </a:tblPr>
              <a:tblGrid>
                <a:gridCol w="1612705">
                  <a:extLst>
                    <a:ext uri="{9D8B030D-6E8A-4147-A177-3AD203B41FA5}">
                      <a16:colId xmlns:a16="http://schemas.microsoft.com/office/drawing/2014/main" val="3098146179"/>
                    </a:ext>
                  </a:extLst>
                </a:gridCol>
                <a:gridCol w="1706083">
                  <a:extLst>
                    <a:ext uri="{9D8B030D-6E8A-4147-A177-3AD203B41FA5}">
                      <a16:colId xmlns:a16="http://schemas.microsoft.com/office/drawing/2014/main" val="3052533430"/>
                    </a:ext>
                  </a:extLst>
                </a:gridCol>
                <a:gridCol w="1127051">
                  <a:extLst>
                    <a:ext uri="{9D8B030D-6E8A-4147-A177-3AD203B41FA5}">
                      <a16:colId xmlns:a16="http://schemas.microsoft.com/office/drawing/2014/main" val="4006721615"/>
                    </a:ext>
                  </a:extLst>
                </a:gridCol>
                <a:gridCol w="2062717">
                  <a:extLst>
                    <a:ext uri="{9D8B030D-6E8A-4147-A177-3AD203B41FA5}">
                      <a16:colId xmlns:a16="http://schemas.microsoft.com/office/drawing/2014/main" val="2136739688"/>
                    </a:ext>
                  </a:extLst>
                </a:gridCol>
              </a:tblGrid>
              <a:tr h="370926">
                <a:tc>
                  <a:txBody>
                    <a:bodyPr/>
                    <a:lstStyle/>
                    <a:p>
                      <a:pPr algn="ctr">
                        <a:buNone/>
                      </a:pPr>
                      <a:r>
                        <a:rPr lang="en-UG" sz="1000" dirty="0">
                          <a:effectLst/>
                        </a:rPr>
                        <a:t>Dataset</a:t>
                      </a:r>
                      <a:endParaRPr lang="en-UG" sz="1000" dirty="0">
                        <a:effectLst/>
                        <a:latin typeface="Arial" panose="020B0604020202020204" pitchFamily="34" charset="0"/>
                        <a:ea typeface="+mn-ea"/>
                      </a:endParaRPr>
                    </a:p>
                  </a:txBody>
                  <a:tcPr marL="66558" marR="66558" marT="44372" marB="44372"/>
                </a:tc>
                <a:tc>
                  <a:txBody>
                    <a:bodyPr/>
                    <a:lstStyle/>
                    <a:p>
                      <a:pPr algn="ctr">
                        <a:buNone/>
                      </a:pPr>
                      <a:r>
                        <a:rPr lang="en-UG" sz="1000" dirty="0">
                          <a:effectLst/>
                        </a:rPr>
                        <a:t>Source Table(s)</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lgn="ctr">
                        <a:buNone/>
                      </a:pPr>
                      <a:r>
                        <a:rPr lang="en-UG" sz="1000" dirty="0">
                          <a:effectLst/>
                        </a:rPr>
                        <a:t>Records</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lgn="ctr">
                        <a:buNone/>
                      </a:pPr>
                      <a:r>
                        <a:rPr lang="en-UG" sz="1000" dirty="0">
                          <a:effectLst/>
                        </a:rPr>
                        <a:t>Key Variables</a:t>
                      </a:r>
                      <a:endParaRPr lang="en-UG" sz="1000" dirty="0">
                        <a:effectLst/>
                        <a:latin typeface="Arial" panose="020B0604020202020204" pitchFamily="34" charset="0"/>
                        <a:ea typeface="Arial" panose="020B0604020202020204" pitchFamily="34" charset="0"/>
                      </a:endParaRPr>
                    </a:p>
                  </a:txBody>
                  <a:tcPr marL="66558" marR="66558" marT="44372" marB="44372"/>
                </a:tc>
                <a:extLst>
                  <a:ext uri="{0D108BD9-81ED-4DB2-BD59-A6C34878D82A}">
                    <a16:rowId xmlns:a16="http://schemas.microsoft.com/office/drawing/2014/main" val="1168708047"/>
                  </a:ext>
                </a:extLst>
              </a:tr>
              <a:tr h="393635">
                <a:tc>
                  <a:txBody>
                    <a:bodyPr/>
                    <a:lstStyle/>
                    <a:p>
                      <a:pPr>
                        <a:buNone/>
                      </a:pPr>
                      <a:r>
                        <a:rPr lang="en-UG" sz="1000" dirty="0">
                          <a:effectLst/>
                        </a:rPr>
                        <a:t>TARGET_VARIABLE.csv</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leap_product_catalog_master</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1,905 bundles (738 voice)</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BUNDLE_ID, BUNDLE_TYPE, BUNDLE_CATEGORY, PRICE, VALIDITY_DAYS</a:t>
                      </a:r>
                      <a:endParaRPr lang="en-UG" sz="1000" dirty="0">
                        <a:effectLst/>
                        <a:latin typeface="Arial" panose="020B0604020202020204" pitchFamily="34" charset="0"/>
                        <a:ea typeface="Arial" panose="020B0604020202020204" pitchFamily="34" charset="0"/>
                      </a:endParaRPr>
                    </a:p>
                  </a:txBody>
                  <a:tcPr marL="66558" marR="66558" marT="44372" marB="44372"/>
                </a:tc>
                <a:extLst>
                  <a:ext uri="{0D108BD9-81ED-4DB2-BD59-A6C34878D82A}">
                    <a16:rowId xmlns:a16="http://schemas.microsoft.com/office/drawing/2014/main" val="2101999258"/>
                  </a:ext>
                </a:extLst>
              </a:tr>
              <a:tr h="393635">
                <a:tc>
                  <a:txBody>
                    <a:bodyPr/>
                    <a:lstStyle/>
                    <a:p>
                      <a:pPr>
                        <a:buNone/>
                      </a:pPr>
                      <a:r>
                        <a:rPr lang="en-UG" sz="1000" dirty="0">
                          <a:effectLst/>
                        </a:rPr>
                        <a:t>PURCHASE_TIMING (Feb–Apr)</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ocsmonmaininternal, ocsloanmaininternal</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~59M rows</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PURCHASE_DATE, PURCHASE_HOUR, BUNDLE_ID, TRANSACTION_CHANNEL, BUNDLE_REVENUE</a:t>
                      </a:r>
                      <a:endParaRPr lang="en-UG" sz="1000" dirty="0">
                        <a:effectLst/>
                        <a:latin typeface="Arial" panose="020B0604020202020204" pitchFamily="34" charset="0"/>
                        <a:ea typeface="Arial" panose="020B0604020202020204" pitchFamily="34" charset="0"/>
                      </a:endParaRPr>
                    </a:p>
                  </a:txBody>
                  <a:tcPr marL="66558" marR="66558" marT="44372" marB="44372"/>
                </a:tc>
                <a:extLst>
                  <a:ext uri="{0D108BD9-81ED-4DB2-BD59-A6C34878D82A}">
                    <a16:rowId xmlns:a16="http://schemas.microsoft.com/office/drawing/2014/main" val="3114418028"/>
                  </a:ext>
                </a:extLst>
              </a:tr>
              <a:tr h="393635">
                <a:tc>
                  <a:txBody>
                    <a:bodyPr/>
                    <a:lstStyle/>
                    <a:p>
                      <a:pPr>
                        <a:buNone/>
                      </a:pPr>
                      <a:r>
                        <a:rPr lang="en-UG" sz="1000" dirty="0">
                          <a:effectLst/>
                        </a:rPr>
                        <a:t>BUNDLE_CONSUMPTION</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br_daily_voice_usage</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~500K rows</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EVENTDATE, OG/IC MINUTES by type (on-net, off-net, international)</a:t>
                      </a:r>
                      <a:endParaRPr lang="en-UG" sz="1000" dirty="0">
                        <a:effectLst/>
                        <a:latin typeface="Arial" panose="020B0604020202020204" pitchFamily="34" charset="0"/>
                        <a:ea typeface="Arial" panose="020B0604020202020204" pitchFamily="34" charset="0"/>
                      </a:endParaRPr>
                    </a:p>
                  </a:txBody>
                  <a:tcPr marL="66558" marR="66558" marT="44372" marB="44372"/>
                </a:tc>
                <a:extLst>
                  <a:ext uri="{0D108BD9-81ED-4DB2-BD59-A6C34878D82A}">
                    <a16:rowId xmlns:a16="http://schemas.microsoft.com/office/drawing/2014/main" val="2491291192"/>
                  </a:ext>
                </a:extLst>
              </a:tr>
              <a:tr h="393635">
                <a:tc>
                  <a:txBody>
                    <a:bodyPr/>
                    <a:lstStyle/>
                    <a:p>
                      <a:pPr>
                        <a:buNone/>
                      </a:pPr>
                      <a:r>
                        <a:rPr lang="en-UG" sz="1000" dirty="0">
                          <a:effectLst/>
                        </a:rPr>
                        <a:t>CUSTOMER_PROFILE</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subscriberdimension, crystal, subscriber_lifecycle</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a:effectLst/>
                        </a:rPr>
                        <a:t>1,514,566 rows</a:t>
                      </a:r>
                      <a:endParaRPr lang="en-UG" sz="100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PHONE_NUMBER, DEVICE_TYPE, HANDSET_TYPE, AGE, TENURE_DAYS, VALUESEGMENT, TOTAL_REVENUE, CALLS</a:t>
                      </a:r>
                      <a:endParaRPr lang="en-UG" sz="1000" dirty="0">
                        <a:effectLst/>
                        <a:latin typeface="Arial" panose="020B0604020202020204" pitchFamily="34" charset="0"/>
                        <a:ea typeface="Arial" panose="020B0604020202020204" pitchFamily="34" charset="0"/>
                      </a:endParaRPr>
                    </a:p>
                  </a:txBody>
                  <a:tcPr marL="66558" marR="66558" marT="44372" marB="44372"/>
                </a:tc>
                <a:extLst>
                  <a:ext uri="{0D108BD9-81ED-4DB2-BD59-A6C34878D82A}">
                    <a16:rowId xmlns:a16="http://schemas.microsoft.com/office/drawing/2014/main" val="2709371065"/>
                  </a:ext>
                </a:extLst>
              </a:tr>
              <a:tr h="393635">
                <a:tc>
                  <a:txBody>
                    <a:bodyPr/>
                    <a:lstStyle/>
                    <a:p>
                      <a:pPr>
                        <a:buNone/>
                      </a:pPr>
                      <a:r>
                        <a:rPr lang="en-UG" sz="1000" dirty="0">
                          <a:effectLst/>
                        </a:rPr>
                        <a:t>LOCATION_DETAILS</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geo_master</a:t>
                      </a:r>
                      <a:endParaRPr lang="en-UG" sz="1000" dirty="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a:effectLst/>
                        </a:rPr>
                        <a:t>3,697 sites</a:t>
                      </a:r>
                      <a:endParaRPr lang="en-UG" sz="1000">
                        <a:effectLst/>
                        <a:latin typeface="Arial" panose="020B0604020202020204" pitchFamily="34" charset="0"/>
                        <a:ea typeface="Arial" panose="020B0604020202020204" pitchFamily="34" charset="0"/>
                      </a:endParaRPr>
                    </a:p>
                  </a:txBody>
                  <a:tcPr marL="66558" marR="66558" marT="44372" marB="44372"/>
                </a:tc>
                <a:tc>
                  <a:txBody>
                    <a:bodyPr/>
                    <a:lstStyle/>
                    <a:p>
                      <a:pPr>
                        <a:buNone/>
                      </a:pPr>
                      <a:r>
                        <a:rPr lang="en-UG" sz="1000" dirty="0">
                          <a:effectLst/>
                        </a:rPr>
                        <a:t>SITE_CODE, TOWN_NAME, REGION, LATITUDE, LONGITUDE, CLUSTER</a:t>
                      </a:r>
                      <a:endParaRPr lang="en-UG" sz="1000" dirty="0">
                        <a:effectLst/>
                        <a:latin typeface="Arial" panose="020B0604020202020204" pitchFamily="34" charset="0"/>
                        <a:ea typeface="Arial" panose="020B0604020202020204" pitchFamily="34" charset="0"/>
                      </a:endParaRPr>
                    </a:p>
                  </a:txBody>
                  <a:tcPr marL="66558" marR="66558" marT="44372" marB="44372"/>
                </a:tc>
                <a:extLst>
                  <a:ext uri="{0D108BD9-81ED-4DB2-BD59-A6C34878D82A}">
                    <a16:rowId xmlns:a16="http://schemas.microsoft.com/office/drawing/2014/main" val="425061073"/>
                  </a:ext>
                </a:extLst>
              </a:tr>
            </a:tbl>
          </a:graphicData>
        </a:graphic>
      </p:graphicFrame>
      <p:pic>
        <p:nvPicPr>
          <p:cNvPr id="14" name="Picture 13">
            <a:extLst>
              <a:ext uri="{FF2B5EF4-FFF2-40B4-BE49-F238E27FC236}">
                <a16:creationId xmlns:a16="http://schemas.microsoft.com/office/drawing/2014/main" id="{AE269C88-1C3B-1ED5-03D8-4E5D590A4D6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6793378" y="1795851"/>
            <a:ext cx="3082515" cy="2346935"/>
          </a:xfrm>
          <a:prstGeom prst="rect">
            <a:avLst/>
          </a:prstGeom>
          <a:ln>
            <a:noFill/>
          </a:ln>
          <a:effectLst>
            <a:outerShdw blurRad="292100" dist="139700" dir="2700000" algn="tl" rotWithShape="0">
              <a:srgbClr val="333333">
                <a:alpha val="65000"/>
              </a:srgbClr>
            </a:outerShdw>
          </a:effectLst>
        </p:spPr>
      </p:pic>
      <p:pic>
        <p:nvPicPr>
          <p:cNvPr id="13" name="Picture 12">
            <a:extLst>
              <a:ext uri="{FF2B5EF4-FFF2-40B4-BE49-F238E27FC236}">
                <a16:creationId xmlns:a16="http://schemas.microsoft.com/office/drawing/2014/main" id="{A7B73819-0386-B339-66CA-DB675DF9E938}"/>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7233584" y="2496518"/>
            <a:ext cx="3082515" cy="2132154"/>
          </a:xfrm>
          <a:prstGeom prst="rect">
            <a:avLst/>
          </a:prstGeom>
          <a:ln>
            <a:noFill/>
          </a:ln>
          <a:effectLst>
            <a:outerShdw blurRad="292100" dist="139700" dir="2700000" algn="tl" rotWithShape="0">
              <a:srgbClr val="333333">
                <a:alpha val="65000"/>
              </a:srgbClr>
            </a:outerShdw>
          </a:effectLst>
        </p:spPr>
      </p:pic>
      <p:pic>
        <p:nvPicPr>
          <p:cNvPr id="15" name="Picture 14">
            <a:extLst>
              <a:ext uri="{FF2B5EF4-FFF2-40B4-BE49-F238E27FC236}">
                <a16:creationId xmlns:a16="http://schemas.microsoft.com/office/drawing/2014/main" id="{CE3B5E3A-912A-4F5A-41DD-C295ABA0E0B5}"/>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7673789" y="3234402"/>
            <a:ext cx="3188498" cy="2132154"/>
          </a:xfrm>
          <a:prstGeom prst="rect">
            <a:avLst/>
          </a:prstGeom>
          <a:ln>
            <a:noFill/>
          </a:ln>
          <a:effectLst>
            <a:outerShdw blurRad="292100" dist="139700" dir="2700000" algn="tl" rotWithShape="0">
              <a:srgbClr val="333333">
                <a:alpha val="65000"/>
              </a:srgbClr>
            </a:outerShdw>
          </a:effectLst>
        </p:spPr>
      </p:pic>
      <p:pic>
        <p:nvPicPr>
          <p:cNvPr id="16" name="Picture 15">
            <a:extLst>
              <a:ext uri="{FF2B5EF4-FFF2-40B4-BE49-F238E27FC236}">
                <a16:creationId xmlns:a16="http://schemas.microsoft.com/office/drawing/2014/main" id="{B4F44B07-AAE1-77C5-A605-1E91B937CA1F}"/>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8169398" y="3988610"/>
            <a:ext cx="3101053" cy="1963586"/>
          </a:xfrm>
          <a:prstGeom prst="rect">
            <a:avLst/>
          </a:prstGeom>
          <a:ln>
            <a:noFill/>
          </a:ln>
          <a:effectLst>
            <a:outerShdw blurRad="292100" dist="139700" dir="2700000" algn="tl" rotWithShape="0">
              <a:srgbClr val="333333">
                <a:alpha val="65000"/>
              </a:srgbClr>
            </a:outerShdw>
          </a:effectLst>
        </p:spPr>
      </p:pic>
      <p:pic>
        <p:nvPicPr>
          <p:cNvPr id="17" name="Picture 16">
            <a:extLst>
              <a:ext uri="{FF2B5EF4-FFF2-40B4-BE49-F238E27FC236}">
                <a16:creationId xmlns:a16="http://schemas.microsoft.com/office/drawing/2014/main" id="{C03DD4DF-5F2E-E8B5-0F6B-A6645DF2B6BE}"/>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8867926" y="4638050"/>
            <a:ext cx="3114557" cy="1982715"/>
          </a:xfrm>
          <a:prstGeom prst="rect">
            <a:avLst/>
          </a:prstGeom>
          <a:ln>
            <a:noFill/>
          </a:ln>
          <a:effectLst>
            <a:outerShdw blurRad="292100" dist="139700" dir="2700000" algn="tl" rotWithShape="0">
              <a:srgbClr val="333333">
                <a:alpha val="65000"/>
              </a:srgbClr>
            </a:outerShdw>
          </a:effectLst>
        </p:spPr>
      </p:pic>
      <p:sp>
        <p:nvSpPr>
          <p:cNvPr id="19" name="TextBox 18">
            <a:extLst>
              <a:ext uri="{FF2B5EF4-FFF2-40B4-BE49-F238E27FC236}">
                <a16:creationId xmlns:a16="http://schemas.microsoft.com/office/drawing/2014/main" id="{A36899C5-CFD1-C343-D5CC-8B30835833A3}"/>
              </a:ext>
            </a:extLst>
          </p:cNvPr>
          <p:cNvSpPr txBox="1"/>
          <p:nvPr/>
        </p:nvSpPr>
        <p:spPr>
          <a:xfrm>
            <a:off x="0" y="5021219"/>
            <a:ext cx="9304815" cy="1323439"/>
          </a:xfrm>
          <a:prstGeom prst="rect">
            <a:avLst/>
          </a:prstGeom>
          <a:noFill/>
        </p:spPr>
        <p:txBody>
          <a:bodyPr wrap="square">
            <a:spAutoFit/>
          </a:bodyPr>
          <a:lstStyle/>
          <a:p>
            <a:r>
              <a:rPr lang="en-UG" sz="1600" b="1" dirty="0"/>
              <a:t>Primary Data: </a:t>
            </a:r>
            <a:r>
              <a:rPr lang="en-UG" sz="1600" dirty="0"/>
              <a:t>Semi-Structured Interviews </a:t>
            </a:r>
          </a:p>
          <a:p>
            <a:r>
              <a:rPr lang="en-UG" sz="1600" dirty="0"/>
              <a:t>Primary qualitative data was collected through semi-structured interviews with eight key </a:t>
            </a:r>
          </a:p>
          <a:p>
            <a:r>
              <a:rPr lang="en-UG" sz="1600" dirty="0"/>
              <a:t>informants from Airtel Uganda. Semi-structured interviews were chosen because they allow </a:t>
            </a:r>
          </a:p>
          <a:p>
            <a:r>
              <a:rPr lang="en-UG" sz="1600" dirty="0"/>
              <a:t>for sufficient flexibility to explore unexpected themes while maintaining a consistent question </a:t>
            </a:r>
          </a:p>
          <a:p>
            <a:r>
              <a:rPr lang="en-UG" sz="1600" dirty="0"/>
              <a:t>framework across participants, enabling thematic comparison </a:t>
            </a:r>
          </a:p>
        </p:txBody>
      </p:sp>
    </p:spTree>
    <p:extLst>
      <p:ext uri="{BB962C8B-B14F-4D97-AF65-F5344CB8AC3E}">
        <p14:creationId xmlns:p14="http://schemas.microsoft.com/office/powerpoint/2010/main" val="31102573"/>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F4FA5-B54F-16C7-26EC-EB106D41C7E2}"/>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E450107-7389-6A77-384A-C8C28322A017}"/>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3D2B33C0-3B7A-EA72-072C-35EE8C3BDFE0}"/>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B0828B92-998A-7ECD-C62C-62E3827084E4}"/>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63931AE6-C636-5AEE-06D4-871ECFCF55BD}"/>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0A596016-D780-D52A-0E83-3112BA0BB4E9}"/>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50817267-2545-C202-BD6E-6694BEEA366D}"/>
              </a:ext>
            </a:extLst>
          </p:cNvPr>
          <p:cNvSpPr/>
          <p:nvPr/>
        </p:nvSpPr>
        <p:spPr>
          <a:xfrm>
            <a:off x="-1" y="118872"/>
            <a:ext cx="9061807" cy="731520"/>
          </a:xfrm>
          <a:prstGeom prst="rect">
            <a:avLst/>
          </a:prstGeom>
          <a:noFill/>
          <a:ln/>
        </p:spPr>
        <p:txBody>
          <a:bodyPr wrap="square" rtlCol="0" anchor="ctr"/>
          <a:lstStyle/>
          <a:p>
            <a:r>
              <a:rPr lang="en-US" sz="3200" b="1" dirty="0">
                <a:solidFill>
                  <a:srgbClr val="1E3A5F"/>
                </a:solidFill>
                <a:latin typeface="Trebuchet MS" panose="020B0603020202020204" pitchFamily="34" charset="0"/>
              </a:rPr>
              <a:t>Data Preprocessing and Feature Engineering</a:t>
            </a:r>
            <a:endParaRPr lang="en-US" sz="3200" dirty="0">
              <a:latin typeface="Trebuchet MS" panose="020B0603020202020204" pitchFamily="34" charset="0"/>
            </a:endParaRPr>
          </a:p>
        </p:txBody>
      </p:sp>
      <p:sp>
        <p:nvSpPr>
          <p:cNvPr id="7" name="TextBox 6">
            <a:extLst>
              <a:ext uri="{FF2B5EF4-FFF2-40B4-BE49-F238E27FC236}">
                <a16:creationId xmlns:a16="http://schemas.microsoft.com/office/drawing/2014/main" id="{5C39D257-F46B-7410-88F3-9CD2F971C7A6}"/>
              </a:ext>
            </a:extLst>
          </p:cNvPr>
          <p:cNvSpPr txBox="1"/>
          <p:nvPr/>
        </p:nvSpPr>
        <p:spPr>
          <a:xfrm>
            <a:off x="0" y="984971"/>
            <a:ext cx="12191694" cy="5078313"/>
          </a:xfrm>
          <a:prstGeom prst="rect">
            <a:avLst/>
          </a:prstGeom>
          <a:noFill/>
        </p:spPr>
        <p:txBody>
          <a:bodyPr wrap="square" rtlCol="0">
            <a:spAutoFit/>
          </a:bodyPr>
          <a:lstStyle/>
          <a:p>
            <a:r>
              <a:rPr lang="en-UG" sz="1600" dirty="0"/>
              <a:t>All quantitative data preprocessing and analysis were conducted using Python 3.10 within a Google Colab environment</a:t>
            </a:r>
          </a:p>
          <a:p>
            <a:endParaRPr lang="en-UG" sz="1600" dirty="0"/>
          </a:p>
          <a:p>
            <a:r>
              <a:rPr lang="en-UG" sz="1600" dirty="0"/>
              <a:t>The principal Python libraries employed were: </a:t>
            </a:r>
          </a:p>
          <a:p>
            <a:r>
              <a:rPr lang="en-UG" sz="1600" b="1" dirty="0"/>
              <a:t>Pandas</a:t>
            </a:r>
            <a:r>
              <a:rPr lang="en-UG" sz="1600" dirty="0"/>
              <a:t> for data ingestion, manipulation, and cleaning </a:t>
            </a:r>
          </a:p>
          <a:p>
            <a:r>
              <a:rPr lang="en-UG" sz="1600" b="1" dirty="0"/>
              <a:t>NumPy</a:t>
            </a:r>
            <a:r>
              <a:rPr lang="en-UG" sz="1600" dirty="0"/>
              <a:t> for numerical operations and array handling </a:t>
            </a:r>
          </a:p>
          <a:p>
            <a:r>
              <a:rPr lang="en-UG" sz="1600" b="1" dirty="0"/>
              <a:t>Scikit-learn</a:t>
            </a:r>
            <a:r>
              <a:rPr lang="en-UG" sz="1600" dirty="0"/>
              <a:t> for preprocessing transformations, model training, and evaluation; </a:t>
            </a:r>
          </a:p>
          <a:p>
            <a:r>
              <a:rPr lang="en-UG" sz="1600" b="1" dirty="0"/>
              <a:t>Imbalanced-learn</a:t>
            </a:r>
            <a:r>
              <a:rPr lang="en-UG" sz="1600" dirty="0"/>
              <a:t> for </a:t>
            </a:r>
            <a:r>
              <a:rPr lang="en-UG" sz="1600" b="1" dirty="0"/>
              <a:t>SMOTE(</a:t>
            </a:r>
            <a:r>
              <a:rPr lang="en-UG" sz="1600" dirty="0"/>
              <a:t>Synthetic Minority Over-sampling Technique</a:t>
            </a:r>
            <a:r>
              <a:rPr lang="en-UG" sz="1600" b="1" dirty="0"/>
              <a:t>)</a:t>
            </a:r>
            <a:r>
              <a:rPr lang="en-UG" sz="1600" dirty="0"/>
              <a:t> oversampling </a:t>
            </a:r>
          </a:p>
          <a:p>
            <a:r>
              <a:rPr lang="en-UG" sz="1600" b="1" dirty="0"/>
              <a:t>XGBoost</a:t>
            </a:r>
            <a:r>
              <a:rPr lang="en-UG" sz="1600" dirty="0"/>
              <a:t> for the Gradient Boosting classifier implementation. </a:t>
            </a:r>
          </a:p>
          <a:p>
            <a:endParaRPr lang="en-UG" sz="1600" dirty="0"/>
          </a:p>
          <a:p>
            <a:r>
              <a:rPr lang="en-UG" b="1" dirty="0"/>
              <a:t>Statistical Tests</a:t>
            </a:r>
          </a:p>
          <a:p>
            <a:pPr lvl="0"/>
            <a:r>
              <a:rPr lang="en-UG" sz="1600" b="1" dirty="0"/>
              <a:t>Spearman Rank Correlation</a:t>
            </a:r>
            <a:r>
              <a:rPr lang="en-UG" sz="1600" dirty="0"/>
              <a:t> – Assessed relationships between numeric features and the target variable. </a:t>
            </a:r>
          </a:p>
          <a:p>
            <a:pPr lvl="0"/>
            <a:r>
              <a:rPr lang="en-UG" sz="1600" b="1" dirty="0"/>
              <a:t>One-Way ANOVA</a:t>
            </a:r>
            <a:r>
              <a:rPr lang="en-UG" sz="1600" dirty="0"/>
              <a:t> – Tested whether feature means differed significantly across the </a:t>
            </a:r>
            <a:r>
              <a:rPr lang="en-UG" sz="1600" b="1" dirty="0"/>
              <a:t>8 customer value segments</a:t>
            </a:r>
            <a:r>
              <a:rPr lang="en-UG" sz="1600" dirty="0"/>
              <a:t>. </a:t>
            </a:r>
          </a:p>
          <a:p>
            <a:pPr lvl="0"/>
            <a:r>
              <a:rPr lang="en-UG" sz="1600" b="1" dirty="0"/>
              <a:t>Chi-Square Test</a:t>
            </a:r>
            <a:r>
              <a:rPr lang="en-UG" sz="1600" dirty="0"/>
              <a:t> – Evaluated associations between categorical features and the target. </a:t>
            </a:r>
          </a:p>
          <a:p>
            <a:pPr lvl="0"/>
            <a:r>
              <a:rPr lang="en-UG" sz="1600" dirty="0"/>
              <a:t>Statistical significance was set at </a:t>
            </a:r>
            <a:r>
              <a:rPr lang="en-UG" sz="1600" b="1" dirty="0"/>
              <a:t>α = 0.05</a:t>
            </a:r>
            <a:r>
              <a:rPr lang="en-UG" sz="1600" dirty="0"/>
              <a:t>. </a:t>
            </a:r>
          </a:p>
          <a:p>
            <a:pPr lvl="0"/>
            <a:endParaRPr lang="en-UG" sz="1600" dirty="0"/>
          </a:p>
          <a:p>
            <a:r>
              <a:rPr lang="en-UG" b="1" dirty="0"/>
              <a:t>Data Preprocessing Pipeline</a:t>
            </a:r>
          </a:p>
          <a:p>
            <a:pPr lvl="0"/>
            <a:r>
              <a:rPr lang="en-UG" sz="1600" b="1" dirty="0"/>
              <a:t>Data Cleaning:</a:t>
            </a:r>
            <a:r>
              <a:rPr lang="en-UG" sz="1600" dirty="0"/>
              <a:t> Missing value imputation, duplicate removal, and timestamp standardisation. </a:t>
            </a:r>
          </a:p>
          <a:p>
            <a:pPr lvl="0"/>
            <a:r>
              <a:rPr lang="en-UG" sz="1600" b="1" dirty="0"/>
              <a:t>Feature Engineering:</a:t>
            </a:r>
            <a:r>
              <a:rPr lang="en-UG" sz="1600" dirty="0"/>
              <a:t> Created behavioural features including </a:t>
            </a:r>
            <a:r>
              <a:rPr lang="en-UG" sz="1600" b="1" dirty="0"/>
              <a:t>ARPU, purchase frequency, recency, bundle depletion rate, and temporal variables</a:t>
            </a:r>
            <a:r>
              <a:rPr lang="en-UG" sz="1600" dirty="0"/>
              <a:t>. </a:t>
            </a:r>
          </a:p>
          <a:p>
            <a:pPr lvl="0"/>
            <a:r>
              <a:rPr lang="en-UG" sz="1600" b="1" dirty="0"/>
              <a:t>Encoding:</a:t>
            </a:r>
            <a:r>
              <a:rPr lang="en-UG" sz="1600" dirty="0"/>
              <a:t> Converted categorical variables into numerical values using </a:t>
            </a:r>
            <a:r>
              <a:rPr lang="en-UG" sz="1600" b="1" dirty="0"/>
              <a:t>Label Encoding</a:t>
            </a:r>
            <a:r>
              <a:rPr lang="en-UG" sz="1600" dirty="0"/>
              <a:t>. </a:t>
            </a:r>
          </a:p>
          <a:p>
            <a:pPr lvl="0"/>
            <a:r>
              <a:rPr lang="en-UG" sz="1600" b="1" dirty="0"/>
              <a:t>Class Balancing:</a:t>
            </a:r>
            <a:r>
              <a:rPr lang="en-UG" sz="1600" dirty="0"/>
              <a:t> Applied </a:t>
            </a:r>
            <a:r>
              <a:rPr lang="en-UG" sz="1600" b="1" dirty="0"/>
              <a:t>SMOTE</a:t>
            </a:r>
            <a:r>
              <a:rPr lang="en-UG" sz="1600" dirty="0"/>
              <a:t> to the training dataset to address class imbalance and prevent data leakage.</a:t>
            </a:r>
          </a:p>
        </p:txBody>
      </p:sp>
      <p:sp>
        <p:nvSpPr>
          <p:cNvPr id="8" name="TextBox 7">
            <a:extLst>
              <a:ext uri="{FF2B5EF4-FFF2-40B4-BE49-F238E27FC236}">
                <a16:creationId xmlns:a16="http://schemas.microsoft.com/office/drawing/2014/main" id="{84ACD362-2841-BF06-B725-90BA1224AB08}"/>
              </a:ext>
            </a:extLst>
          </p:cNvPr>
          <p:cNvSpPr txBox="1"/>
          <p:nvPr/>
        </p:nvSpPr>
        <p:spPr>
          <a:xfrm>
            <a:off x="-74428" y="6338281"/>
            <a:ext cx="12266428" cy="523220"/>
          </a:xfrm>
          <a:prstGeom prst="rect">
            <a:avLst/>
          </a:prstGeom>
          <a:noFill/>
        </p:spPr>
        <p:txBody>
          <a:bodyPr wrap="square" numCol="2" rtlCol="0">
            <a:spAutoFit/>
          </a:bodyPr>
          <a:lstStyle/>
          <a:p>
            <a:r>
              <a:rPr lang="en-UG" sz="1400" i="1" dirty="0">
                <a:solidFill>
                  <a:schemeClr val="tx1">
                    <a:lumMod val="50000"/>
                    <a:lumOff val="50000"/>
                  </a:schemeClr>
                </a:solidFill>
              </a:rPr>
              <a:t>Braun &amp; Clarke, 2006; Turner III, 2010</a:t>
            </a:r>
          </a:p>
          <a:p>
            <a:r>
              <a:rPr lang="en-UG" sz="1400" i="1" dirty="0">
                <a:solidFill>
                  <a:schemeClr val="tx1">
                    <a:lumMod val="50000"/>
                    <a:lumOff val="50000"/>
                  </a:schemeClr>
                </a:solidFill>
              </a:rPr>
              <a:t>Field, 2018  </a:t>
            </a:r>
          </a:p>
          <a:p>
            <a:r>
              <a:rPr lang="en-UG" sz="1400" i="1" dirty="0">
                <a:solidFill>
                  <a:schemeClr val="tx1">
                    <a:lumMod val="50000"/>
                    <a:lumOff val="50000"/>
                  </a:schemeClr>
                </a:solidFill>
              </a:rPr>
              <a:t>Mohaimin et al., 2025 </a:t>
            </a:r>
          </a:p>
          <a:p>
            <a:r>
              <a:rPr lang="en-UG" sz="1400" i="1" dirty="0">
                <a:solidFill>
                  <a:schemeClr val="tx1">
                    <a:lumMod val="50000"/>
                    <a:lumOff val="50000"/>
                  </a:schemeClr>
                </a:solidFill>
              </a:rPr>
              <a:t>Sikri et al., 2024; Zdziebko et al., 2024). </a:t>
            </a:r>
          </a:p>
        </p:txBody>
      </p:sp>
    </p:spTree>
    <p:extLst>
      <p:ext uri="{BB962C8B-B14F-4D97-AF65-F5344CB8AC3E}">
        <p14:creationId xmlns:p14="http://schemas.microsoft.com/office/powerpoint/2010/main" val="64718333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AC280-D711-7242-5F6F-3CBD56A06EC4}"/>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B28896EF-32D5-3AEF-CE35-70972541AB8A}"/>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904A64C2-726F-2277-1D4A-83A8CBE3649E}"/>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4D748B3-622A-EBDC-2BBA-B660C241D1A6}"/>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936764B4-D739-7007-F694-871D0BC55B5D}"/>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BEC5265D-B301-5F4E-8534-7BF730602388}"/>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D0926FCB-F83C-DBB4-7B35-619CE9E19827}"/>
              </a:ext>
            </a:extLst>
          </p:cNvPr>
          <p:cNvSpPr/>
          <p:nvPr/>
        </p:nvSpPr>
        <p:spPr>
          <a:xfrm>
            <a:off x="-1" y="118872"/>
            <a:ext cx="9061807" cy="731520"/>
          </a:xfrm>
          <a:prstGeom prst="rect">
            <a:avLst/>
          </a:prstGeom>
          <a:noFill/>
          <a:ln/>
        </p:spPr>
        <p:txBody>
          <a:bodyPr wrap="square" rtlCol="0" anchor="ctr"/>
          <a:lstStyle/>
          <a:p>
            <a:r>
              <a:rPr lang="en-US" sz="3200" b="1" dirty="0">
                <a:solidFill>
                  <a:srgbClr val="1E3A5F"/>
                </a:solidFill>
                <a:latin typeface="Trebuchet MS" panose="020B0603020202020204" pitchFamily="34" charset="0"/>
              </a:rPr>
              <a:t>Model Development and Training</a:t>
            </a:r>
            <a:endParaRPr lang="en-US" sz="3200" dirty="0">
              <a:latin typeface="Trebuchet MS" panose="020B0603020202020204" pitchFamily="34" charset="0"/>
            </a:endParaRPr>
          </a:p>
        </p:txBody>
      </p:sp>
      <p:sp>
        <p:nvSpPr>
          <p:cNvPr id="7" name="TextBox 6">
            <a:extLst>
              <a:ext uri="{FF2B5EF4-FFF2-40B4-BE49-F238E27FC236}">
                <a16:creationId xmlns:a16="http://schemas.microsoft.com/office/drawing/2014/main" id="{AADDBD12-7113-2B4F-E9D8-4286354DBDAA}"/>
              </a:ext>
            </a:extLst>
          </p:cNvPr>
          <p:cNvSpPr txBox="1"/>
          <p:nvPr/>
        </p:nvSpPr>
        <p:spPr>
          <a:xfrm>
            <a:off x="0" y="984971"/>
            <a:ext cx="12191694" cy="3293209"/>
          </a:xfrm>
          <a:prstGeom prst="rect">
            <a:avLst/>
          </a:prstGeom>
          <a:noFill/>
        </p:spPr>
        <p:txBody>
          <a:bodyPr wrap="square" rtlCol="0">
            <a:spAutoFit/>
          </a:bodyPr>
          <a:lstStyle/>
          <a:p>
            <a:pPr lvl="0"/>
            <a:r>
              <a:rPr lang="en-UG" sz="1600" b="1" dirty="0"/>
              <a:t>Dataset Split:</a:t>
            </a:r>
            <a:r>
              <a:rPr lang="en-UG" sz="1600" dirty="0"/>
              <a:t> 70% training, 30% testing using </a:t>
            </a:r>
            <a:r>
              <a:rPr lang="en-UG" sz="1600" b="1" dirty="0"/>
              <a:t>stratified sampling</a:t>
            </a:r>
            <a:r>
              <a:rPr lang="en-UG" sz="1600" dirty="0"/>
              <a:t> to preserve class distribution. </a:t>
            </a:r>
          </a:p>
          <a:p>
            <a:pPr lvl="0"/>
            <a:r>
              <a:rPr lang="en-UG" sz="1600" b="1" dirty="0"/>
              <a:t>Models Evaluated:</a:t>
            </a:r>
            <a:r>
              <a:rPr lang="en-UG" sz="1600" dirty="0"/>
              <a:t> </a:t>
            </a:r>
          </a:p>
          <a:p>
            <a:pPr lvl="1"/>
            <a:r>
              <a:rPr lang="en-UG" sz="1600" dirty="0"/>
              <a:t>Logistic Regression (baseline) </a:t>
            </a:r>
          </a:p>
          <a:p>
            <a:pPr lvl="1"/>
            <a:r>
              <a:rPr lang="en-UG" sz="1600" dirty="0"/>
              <a:t>Decision Tree (interpretable baseline) </a:t>
            </a:r>
          </a:p>
          <a:p>
            <a:pPr lvl="1"/>
            <a:r>
              <a:rPr lang="en-UG" sz="1600" dirty="0"/>
              <a:t>Random Forest (ensemble model with feature importance) </a:t>
            </a:r>
          </a:p>
          <a:p>
            <a:pPr lvl="1"/>
            <a:r>
              <a:rPr lang="en-UG" sz="1600" dirty="0"/>
              <a:t>XGBoost (gradient boosting for high-dimensional, imbalanced data) </a:t>
            </a:r>
          </a:p>
          <a:p>
            <a:pPr lvl="0"/>
            <a:r>
              <a:rPr lang="en-UG" sz="1600" b="1" dirty="0"/>
              <a:t>Hyperparameter Tuning:</a:t>
            </a:r>
            <a:r>
              <a:rPr lang="en-UG" sz="1600" dirty="0"/>
              <a:t> Performed using </a:t>
            </a:r>
            <a:r>
              <a:rPr lang="en-UG" sz="1600" b="1" dirty="0"/>
              <a:t>GridSearchCV</a:t>
            </a:r>
            <a:r>
              <a:rPr lang="en-UG" sz="1600" dirty="0"/>
              <a:t> with </a:t>
            </a:r>
            <a:r>
              <a:rPr lang="en-UG" sz="1600" b="1" dirty="0"/>
              <a:t>5-fold cross-validation</a:t>
            </a:r>
            <a:r>
              <a:rPr lang="en-UG" sz="1600" dirty="0"/>
              <a:t>. </a:t>
            </a:r>
          </a:p>
          <a:p>
            <a:pPr lvl="0"/>
            <a:endParaRPr lang="en-UG" sz="1600" dirty="0"/>
          </a:p>
          <a:p>
            <a:pPr lvl="0"/>
            <a:r>
              <a:rPr lang="en-UG" sz="1600" b="1" dirty="0"/>
              <a:t>Model Selection:</a:t>
            </a:r>
            <a:r>
              <a:rPr lang="en-UG" sz="1600" dirty="0"/>
              <a:t> Best parameters chosen based on the </a:t>
            </a:r>
            <a:r>
              <a:rPr lang="en-UG" sz="1600" b="1" dirty="0"/>
              <a:t>Weighted F1-Score</a:t>
            </a:r>
            <a:r>
              <a:rPr lang="en-UG" sz="1600" dirty="0"/>
              <a:t>, ensuring robust performance on the imbalanced multi-class dataset.</a:t>
            </a:r>
          </a:p>
          <a:p>
            <a:pPr lvl="0"/>
            <a:endParaRPr lang="en-UG" sz="1600" dirty="0"/>
          </a:p>
          <a:p>
            <a:pPr lvl="0"/>
            <a:endParaRPr lang="en-UG" sz="1600" dirty="0"/>
          </a:p>
          <a:p>
            <a:pPr lvl="0"/>
            <a:endParaRPr lang="en-UG" sz="1600" dirty="0"/>
          </a:p>
          <a:p>
            <a:pPr lvl="0"/>
            <a:endParaRPr lang="en-UG" sz="1600" dirty="0"/>
          </a:p>
        </p:txBody>
      </p:sp>
      <p:sp>
        <p:nvSpPr>
          <p:cNvPr id="8" name="TextBox 7">
            <a:extLst>
              <a:ext uri="{FF2B5EF4-FFF2-40B4-BE49-F238E27FC236}">
                <a16:creationId xmlns:a16="http://schemas.microsoft.com/office/drawing/2014/main" id="{2AC23C6A-084B-ECE8-43A5-6E9BB2312BD9}"/>
              </a:ext>
            </a:extLst>
          </p:cNvPr>
          <p:cNvSpPr txBox="1"/>
          <p:nvPr/>
        </p:nvSpPr>
        <p:spPr>
          <a:xfrm>
            <a:off x="-74428" y="6338281"/>
            <a:ext cx="12266428" cy="523220"/>
          </a:xfrm>
          <a:prstGeom prst="rect">
            <a:avLst/>
          </a:prstGeom>
          <a:noFill/>
        </p:spPr>
        <p:txBody>
          <a:bodyPr wrap="square" numCol="2" rtlCol="0">
            <a:spAutoFit/>
          </a:bodyPr>
          <a:lstStyle/>
          <a:p>
            <a:r>
              <a:rPr lang="en-UG" sz="1400" i="1" dirty="0">
                <a:solidFill>
                  <a:schemeClr val="tx1">
                    <a:lumMod val="50000"/>
                    <a:lumOff val="50000"/>
                  </a:schemeClr>
                </a:solidFill>
              </a:rPr>
              <a:t>Chang et al., 2024</a:t>
            </a:r>
            <a:r>
              <a:rPr lang="en-UG" sz="1200" i="1" dirty="0">
                <a:solidFill>
                  <a:schemeClr val="tx1">
                    <a:lumMod val="50000"/>
                    <a:lumOff val="50000"/>
                  </a:schemeClr>
                </a:solidFill>
              </a:rPr>
              <a:t> </a:t>
            </a:r>
          </a:p>
          <a:p>
            <a:r>
              <a:rPr lang="en-UG" sz="1400" i="1" dirty="0">
                <a:solidFill>
                  <a:schemeClr val="tx1">
                    <a:lumMod val="50000"/>
                    <a:lumOff val="50000"/>
                  </a:schemeClr>
                </a:solidFill>
              </a:rPr>
              <a:t>Sikri et al., 2024; Alotaibi &amp; Haq, 2024).</a:t>
            </a:r>
          </a:p>
          <a:p>
            <a:r>
              <a:rPr lang="en-UG" sz="1400" i="1" dirty="0">
                <a:solidFill>
                  <a:schemeClr val="tx1">
                    <a:lumMod val="50000"/>
                    <a:lumOff val="50000"/>
                  </a:schemeClr>
                </a:solidFill>
              </a:rPr>
              <a:t>Alotaibi &amp; Haq (2024)</a:t>
            </a:r>
          </a:p>
          <a:p>
            <a:r>
              <a:rPr lang="en-UG" sz="1400" i="1" dirty="0">
                <a:solidFill>
                  <a:schemeClr val="tx1">
                    <a:lumMod val="50000"/>
                    <a:lumOff val="50000"/>
                  </a:schemeClr>
                </a:solidFill>
              </a:rPr>
              <a:t>Shani &amp; Gunawardana (2011) </a:t>
            </a:r>
          </a:p>
        </p:txBody>
      </p:sp>
      <p:sp>
        <p:nvSpPr>
          <p:cNvPr id="10" name="TextBox 9">
            <a:extLst>
              <a:ext uri="{FF2B5EF4-FFF2-40B4-BE49-F238E27FC236}">
                <a16:creationId xmlns:a16="http://schemas.microsoft.com/office/drawing/2014/main" id="{04B37746-581A-4C2E-C922-3EBFCD77820F}"/>
              </a:ext>
            </a:extLst>
          </p:cNvPr>
          <p:cNvSpPr txBox="1"/>
          <p:nvPr/>
        </p:nvSpPr>
        <p:spPr>
          <a:xfrm>
            <a:off x="-1" y="3429000"/>
            <a:ext cx="12045100" cy="2800767"/>
          </a:xfrm>
          <a:prstGeom prst="rect">
            <a:avLst/>
          </a:prstGeom>
          <a:noFill/>
        </p:spPr>
        <p:txBody>
          <a:bodyPr wrap="square" rtlCol="0">
            <a:spAutoFit/>
          </a:bodyPr>
          <a:lstStyle/>
          <a:p>
            <a:r>
              <a:rPr lang="en-UG" sz="1600" b="1" dirty="0"/>
              <a:t>Model Evaluation </a:t>
            </a:r>
          </a:p>
          <a:p>
            <a:pPr lvl="0"/>
            <a:r>
              <a:rPr lang="en-UG" sz="1600" b="1" dirty="0"/>
              <a:t>Evaluation Metrics:</a:t>
            </a:r>
            <a:r>
              <a:rPr lang="en-UG" sz="1600" dirty="0"/>
              <a:t> </a:t>
            </a:r>
          </a:p>
          <a:p>
            <a:pPr lvl="1"/>
            <a:r>
              <a:rPr lang="en-UG" sz="1600" b="1" dirty="0"/>
              <a:t>Accuracy</a:t>
            </a:r>
            <a:r>
              <a:rPr lang="en-UG" sz="1600" dirty="0"/>
              <a:t> – Overall proportion of correct predictions. </a:t>
            </a:r>
          </a:p>
          <a:p>
            <a:pPr lvl="1"/>
            <a:r>
              <a:rPr lang="en-UG" sz="1600" b="1" dirty="0"/>
              <a:t>Precision</a:t>
            </a:r>
            <a:r>
              <a:rPr lang="en-UG" sz="1600" dirty="0"/>
              <a:t> – Proportion of recommended bundles that were relevant. </a:t>
            </a:r>
          </a:p>
          <a:p>
            <a:pPr lvl="1"/>
            <a:r>
              <a:rPr lang="en-UG" sz="1600" b="1" dirty="0"/>
              <a:t>Recall</a:t>
            </a:r>
            <a:r>
              <a:rPr lang="en-UG" sz="1600" dirty="0"/>
              <a:t> – Ability to correctly identify actual bundle purchases. </a:t>
            </a:r>
          </a:p>
          <a:p>
            <a:pPr lvl="1"/>
            <a:r>
              <a:rPr lang="en-UG" sz="1600" b="1" dirty="0"/>
              <a:t>F1-Score</a:t>
            </a:r>
            <a:r>
              <a:rPr lang="en-UG" sz="1600" dirty="0"/>
              <a:t> – Balanced measure of Precision and Recall for imbalanced data. </a:t>
            </a:r>
          </a:p>
          <a:p>
            <a:pPr lvl="1"/>
            <a:r>
              <a:rPr lang="en-UG" sz="1600" b="1" dirty="0"/>
              <a:t>AUC-ROC</a:t>
            </a:r>
            <a:r>
              <a:rPr lang="en-UG" sz="1600" dirty="0"/>
              <a:t> – Model's ability to distinguish between bundle classes across thresholds. </a:t>
            </a:r>
          </a:p>
          <a:p>
            <a:pPr lvl="0"/>
            <a:r>
              <a:rPr lang="en-UG" sz="1600" b="1" dirty="0"/>
              <a:t>Best Model Selection:</a:t>
            </a:r>
            <a:r>
              <a:rPr lang="en-UG" sz="1600" dirty="0"/>
              <a:t> Based on the highest </a:t>
            </a:r>
            <a:r>
              <a:rPr lang="en-UG" sz="1600" b="1" dirty="0"/>
              <a:t>F1-Score</a:t>
            </a:r>
            <a:r>
              <a:rPr lang="en-UG" sz="1600" dirty="0"/>
              <a:t> and </a:t>
            </a:r>
            <a:r>
              <a:rPr lang="en-UG" sz="1600" b="1" dirty="0"/>
              <a:t>AUC-ROC</a:t>
            </a:r>
            <a:r>
              <a:rPr lang="en-UG" sz="1600" dirty="0"/>
              <a:t> on the test dataset. </a:t>
            </a:r>
          </a:p>
          <a:p>
            <a:pPr lvl="0"/>
            <a:r>
              <a:rPr lang="en-UG" sz="1600" b="1" dirty="0"/>
              <a:t>Feature Importance:</a:t>
            </a:r>
            <a:r>
              <a:rPr lang="en-UG" sz="1600" dirty="0"/>
              <a:t> Used to identify the key drivers of voice bundle recommendations. </a:t>
            </a:r>
          </a:p>
          <a:p>
            <a:pPr lvl="0"/>
            <a:r>
              <a:rPr lang="en-UG" sz="1600" b="1" dirty="0"/>
              <a:t>Strategic Output:</a:t>
            </a:r>
            <a:r>
              <a:rPr lang="en-UG" sz="1600" dirty="0"/>
              <a:t> Quantitative results were integrated with qualitative findings to develop </a:t>
            </a:r>
          </a:p>
          <a:p>
            <a:pPr lvl="0"/>
            <a:r>
              <a:rPr lang="en-UG" sz="1600" dirty="0"/>
              <a:t>recommendations for Airtel Uganda.</a:t>
            </a:r>
          </a:p>
        </p:txBody>
      </p:sp>
    </p:spTree>
    <p:extLst>
      <p:ext uri="{BB962C8B-B14F-4D97-AF65-F5344CB8AC3E}">
        <p14:creationId xmlns:p14="http://schemas.microsoft.com/office/powerpoint/2010/main" val="748145626"/>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88222A-898A-A478-2B4B-D210FDDFCFF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D6771296-CE56-9CFF-1F77-0F050021F26F}"/>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D62D2E4A-B703-C716-1368-F35E18147F78}"/>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34C1718-DE79-5874-1E62-0EB2B89691F7}"/>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211A7A53-7BC8-39B5-79CC-DE9C7116FC00}"/>
              </a:ext>
            </a:extLst>
          </p:cNvPr>
          <p:cNvSpPr/>
          <p:nvPr/>
        </p:nvSpPr>
        <p:spPr>
          <a:xfrm>
            <a:off x="0" y="6466591"/>
            <a:ext cx="12191695" cy="45719"/>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9C2CC7FA-2202-A115-41EF-D0E8D61AF4B9}"/>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4AA9CAE2-8156-6D56-2802-E97FBFB23CA5}"/>
              </a:ext>
            </a:extLst>
          </p:cNvPr>
          <p:cNvSpPr/>
          <p:nvPr/>
        </p:nvSpPr>
        <p:spPr>
          <a:xfrm>
            <a:off x="-1" y="118872"/>
            <a:ext cx="9061807" cy="731520"/>
          </a:xfrm>
          <a:prstGeom prst="rect">
            <a:avLst/>
          </a:prstGeom>
          <a:noFill/>
          <a:ln/>
        </p:spPr>
        <p:txBody>
          <a:bodyPr wrap="square" rtlCol="0" anchor="ctr"/>
          <a:lstStyle/>
          <a:p>
            <a:r>
              <a:rPr lang="en-US" sz="3200" b="1" dirty="0">
                <a:solidFill>
                  <a:srgbClr val="1E3A5F"/>
                </a:solidFill>
                <a:latin typeface="Trebuchet MS" panose="020B0603020202020204" pitchFamily="34" charset="0"/>
              </a:rPr>
              <a:t>Results Summary</a:t>
            </a:r>
            <a:endParaRPr lang="en-US" sz="3200" dirty="0">
              <a:latin typeface="Trebuchet MS" panose="020B0603020202020204" pitchFamily="34" charset="0"/>
            </a:endParaRPr>
          </a:p>
        </p:txBody>
      </p:sp>
      <p:sp>
        <p:nvSpPr>
          <p:cNvPr id="7" name="TextBox 6">
            <a:extLst>
              <a:ext uri="{FF2B5EF4-FFF2-40B4-BE49-F238E27FC236}">
                <a16:creationId xmlns:a16="http://schemas.microsoft.com/office/drawing/2014/main" id="{8D043E08-764E-FF24-3E25-DFA1B6772E91}"/>
              </a:ext>
            </a:extLst>
          </p:cNvPr>
          <p:cNvSpPr txBox="1"/>
          <p:nvPr/>
        </p:nvSpPr>
        <p:spPr>
          <a:xfrm>
            <a:off x="0" y="984971"/>
            <a:ext cx="12191694" cy="5201424"/>
          </a:xfrm>
          <a:prstGeom prst="rect">
            <a:avLst/>
          </a:prstGeom>
          <a:noFill/>
        </p:spPr>
        <p:txBody>
          <a:bodyPr wrap="square" numCol="3" spcCol="216000" rtlCol="0">
            <a:spAutoFit/>
          </a:bodyPr>
          <a:lstStyle/>
          <a:p>
            <a:pPr lvl="0"/>
            <a:r>
              <a:rPr lang="en-UG" sz="1400" b="1" dirty="0"/>
              <a:t>Objective 1 – Key Customer Behavioural Attributes</a:t>
            </a:r>
          </a:p>
          <a:p>
            <a:pPr lvl="0"/>
            <a:endParaRPr lang="en-UG" sz="1200" b="1" dirty="0"/>
          </a:p>
          <a:p>
            <a:pPr lvl="0"/>
            <a:r>
              <a:rPr lang="en-UG" sz="1200" b="1" dirty="0"/>
              <a:t>Statistical tests applied:</a:t>
            </a:r>
            <a:r>
              <a:rPr lang="en-UG" sz="1200" dirty="0"/>
              <a:t> Spearman Rank Correlation, One-Way ANOVA, and Chi-Square. </a:t>
            </a:r>
          </a:p>
          <a:p>
            <a:pPr lvl="0"/>
            <a:r>
              <a:rPr lang="en-UG" sz="1200" b="1" dirty="0"/>
              <a:t>34 of 35 numeric features</a:t>
            </a:r>
            <a:r>
              <a:rPr lang="en-UG" sz="1200" dirty="0"/>
              <a:t> and </a:t>
            </a:r>
            <a:r>
              <a:rPr lang="en-UG" sz="1200" b="1" dirty="0"/>
              <a:t>all 7 categorical features</a:t>
            </a:r>
            <a:r>
              <a:rPr lang="en-UG" sz="1200" dirty="0"/>
              <a:t> were significantly associated with voice bundle segments (</a:t>
            </a:r>
            <a:r>
              <a:rPr lang="en-UG" sz="1200" b="1" dirty="0"/>
              <a:t>p &lt; 0.05</a:t>
            </a:r>
            <a:r>
              <a:rPr lang="en-UG" sz="1200" dirty="0"/>
              <a:t>). </a:t>
            </a:r>
          </a:p>
          <a:p>
            <a:pPr lvl="0"/>
            <a:endParaRPr lang="en-UG" sz="1200" dirty="0"/>
          </a:p>
          <a:p>
            <a:pPr lvl="0"/>
            <a:r>
              <a:rPr lang="en-UG" sz="1200" b="1" dirty="0"/>
              <a:t>UPGRADE_RATE</a:t>
            </a:r>
            <a:r>
              <a:rPr lang="en-UG" sz="1200" dirty="0"/>
              <a:t> was the only non-significant feature. </a:t>
            </a:r>
          </a:p>
          <a:p>
            <a:pPr lvl="0"/>
            <a:endParaRPr lang="en-UG" sz="1200" dirty="0"/>
          </a:p>
          <a:p>
            <a:pPr lvl="0"/>
            <a:r>
              <a:rPr lang="en-UG" sz="1200" dirty="0"/>
              <a:t>Strongest predictors included: </a:t>
            </a:r>
          </a:p>
          <a:p>
            <a:pPr lvl="1"/>
            <a:r>
              <a:rPr lang="en-UG" sz="1200" b="1" dirty="0"/>
              <a:t>Total Revenue</a:t>
            </a:r>
            <a:r>
              <a:rPr lang="en-UG" sz="1200" dirty="0"/>
              <a:t> </a:t>
            </a:r>
          </a:p>
          <a:p>
            <a:pPr lvl="1"/>
            <a:r>
              <a:rPr lang="en-UG" sz="1200" b="1" dirty="0"/>
              <a:t>Voice Intensity</a:t>
            </a:r>
            <a:r>
              <a:rPr lang="en-UG" sz="1200" dirty="0"/>
              <a:t> </a:t>
            </a:r>
          </a:p>
          <a:p>
            <a:pPr lvl="1"/>
            <a:r>
              <a:rPr lang="en-UG" sz="1200" b="1" dirty="0"/>
              <a:t>Bundle Spend (30 Days)</a:t>
            </a:r>
            <a:r>
              <a:rPr lang="en-UG" sz="1200" dirty="0"/>
              <a:t> </a:t>
            </a:r>
          </a:p>
          <a:p>
            <a:pPr lvl="1"/>
            <a:r>
              <a:rPr lang="en-UG" sz="1200" b="1" dirty="0"/>
              <a:t>Smartphone Usage</a:t>
            </a:r>
            <a:r>
              <a:rPr lang="en-UG" sz="1200" dirty="0"/>
              <a:t> </a:t>
            </a:r>
          </a:p>
          <a:p>
            <a:pPr lvl="1"/>
            <a:r>
              <a:rPr lang="en-UG" sz="1200" b="1" dirty="0"/>
              <a:t>Call Activity</a:t>
            </a:r>
            <a:r>
              <a:rPr lang="en-UG" sz="1200" dirty="0"/>
              <a:t> </a:t>
            </a:r>
          </a:p>
          <a:p>
            <a:pPr lvl="1"/>
            <a:endParaRPr lang="en-UG" sz="1200" dirty="0"/>
          </a:p>
          <a:p>
            <a:pPr lvl="0"/>
            <a:r>
              <a:rPr lang="en-UG" sz="1200" b="1" dirty="0"/>
              <a:t>Hypothesis H1 Accepted:</a:t>
            </a:r>
            <a:r>
              <a:rPr lang="en-UG" sz="1200" dirty="0"/>
              <a:t> Customer behavioural attributes significantly predict voice bundle segment membership.</a:t>
            </a:r>
          </a:p>
          <a:p>
            <a:pPr lvl="0"/>
            <a:endParaRPr lang="en-UG" sz="1200" dirty="0"/>
          </a:p>
          <a:p>
            <a:pPr lvl="0"/>
            <a:endParaRPr lang="en-UG" sz="1200" dirty="0"/>
          </a:p>
          <a:p>
            <a:pPr lvl="0"/>
            <a:endParaRPr lang="en-UG" sz="1200" dirty="0"/>
          </a:p>
          <a:p>
            <a:pPr lvl="0"/>
            <a:endParaRPr lang="en-UG" sz="12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r>
              <a:rPr lang="en-UG" sz="1400" b="1" dirty="0"/>
              <a:t>Objective 2 – Machine Learning Model Performance</a:t>
            </a:r>
          </a:p>
          <a:p>
            <a:pPr lvl="0"/>
            <a:endParaRPr lang="en-UG" sz="1200" b="1" dirty="0"/>
          </a:p>
          <a:p>
            <a:pPr lvl="0"/>
            <a:r>
              <a:rPr lang="en-UG" sz="1200" b="1" dirty="0"/>
              <a:t>XGBoost</a:t>
            </a:r>
            <a:r>
              <a:rPr lang="en-UG" sz="1200" dirty="0"/>
              <a:t> achieved the highest Accuracy (68.0%), Precision (67.0%), Recall (68.0%), and </a:t>
            </a:r>
            <a:r>
              <a:rPr lang="en-UG" sz="1200" b="1" dirty="0"/>
              <a:t>F1-Score (0.6611)</a:t>
            </a:r>
            <a:r>
              <a:rPr lang="en-UG" sz="1200" dirty="0"/>
              <a:t>. </a:t>
            </a:r>
          </a:p>
          <a:p>
            <a:pPr lvl="0"/>
            <a:r>
              <a:rPr lang="en-UG" sz="1200" dirty="0"/>
              <a:t>Outperformed all benchmark models on the 8-class classification task. </a:t>
            </a:r>
          </a:p>
          <a:p>
            <a:pPr lvl="0"/>
            <a:endParaRPr lang="en-UG" sz="1200" dirty="0"/>
          </a:p>
          <a:p>
            <a:pPr lvl="0"/>
            <a:endParaRPr lang="en-UG" sz="1200" b="1" dirty="0"/>
          </a:p>
          <a:p>
            <a:pPr lvl="0"/>
            <a:endParaRPr lang="en-UG" sz="1200" b="1" dirty="0"/>
          </a:p>
          <a:p>
            <a:pPr lvl="0"/>
            <a:endParaRPr lang="en-UG" sz="1200" b="1" dirty="0"/>
          </a:p>
          <a:p>
            <a:pPr lvl="0"/>
            <a:endParaRPr lang="en-UG" sz="1200" b="1" dirty="0"/>
          </a:p>
          <a:p>
            <a:pPr lvl="0"/>
            <a:endParaRPr lang="en-UG" sz="1200" b="1" dirty="0"/>
          </a:p>
          <a:p>
            <a:pPr lvl="0"/>
            <a:endParaRPr lang="en-UG" sz="1200" b="1" dirty="0"/>
          </a:p>
          <a:p>
            <a:pPr lvl="0"/>
            <a:endParaRPr lang="en-UG" sz="1200" b="1" dirty="0"/>
          </a:p>
          <a:p>
            <a:pPr lvl="0"/>
            <a:endParaRPr lang="en-UG" sz="1200" b="1" dirty="0"/>
          </a:p>
          <a:p>
            <a:pPr lvl="0"/>
            <a:endParaRPr lang="en-UG" sz="1200" b="1" dirty="0"/>
          </a:p>
          <a:p>
            <a:pPr lvl="0"/>
            <a:r>
              <a:rPr lang="en-UG" sz="1200" b="1" dirty="0"/>
              <a:t>Hypothesis H2 Accepted:</a:t>
            </a:r>
            <a:r>
              <a:rPr lang="en-UG" sz="1200" dirty="0"/>
              <a:t> XGBoost is the best-performing prediction model.</a:t>
            </a:r>
          </a:p>
          <a:p>
            <a:pPr lvl="0"/>
            <a:endParaRPr lang="en-UG" sz="12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endParaRPr lang="en-UG" sz="900" dirty="0"/>
          </a:p>
          <a:p>
            <a:pPr lvl="0"/>
            <a:r>
              <a:rPr lang="en-UG" sz="1400" b="1" dirty="0"/>
              <a:t>Objective 3 – Feature Importance &amp; Business Impact</a:t>
            </a:r>
          </a:p>
          <a:p>
            <a:endParaRPr lang="en-UG" sz="1200" b="1" dirty="0"/>
          </a:p>
          <a:p>
            <a:r>
              <a:rPr lang="en-UG" sz="1200" b="1" dirty="0"/>
              <a:t>Top Predictive Features by Relative Importance – Random Forest Model</a:t>
            </a:r>
          </a:p>
          <a:p>
            <a:endParaRPr lang="en-UG" sz="1200" b="1" dirty="0"/>
          </a:p>
          <a:p>
            <a:pPr lvl="0"/>
            <a:r>
              <a:rPr lang="en-UG" sz="1200" b="1" dirty="0"/>
              <a:t>Total Revenue</a:t>
            </a:r>
            <a:r>
              <a:rPr lang="en-UG" sz="1200" dirty="0"/>
              <a:t> – </a:t>
            </a:r>
            <a:r>
              <a:rPr lang="en-UG" sz="1200" b="1" dirty="0"/>
              <a:t>18.01%</a:t>
            </a:r>
            <a:r>
              <a:rPr lang="en-UG" sz="1200" dirty="0"/>
              <a:t> </a:t>
            </a:r>
          </a:p>
          <a:p>
            <a:pPr lvl="0"/>
            <a:r>
              <a:rPr lang="en-UG" sz="1200" b="1" dirty="0"/>
              <a:t>Spend per Minute</a:t>
            </a:r>
            <a:r>
              <a:rPr lang="en-UG" sz="1200" dirty="0"/>
              <a:t> – </a:t>
            </a:r>
            <a:r>
              <a:rPr lang="en-UG" sz="1200" b="1" dirty="0"/>
              <a:t>6.57%</a:t>
            </a:r>
            <a:r>
              <a:rPr lang="en-UG" sz="1200" dirty="0"/>
              <a:t> </a:t>
            </a:r>
          </a:p>
          <a:p>
            <a:pPr lvl="0"/>
            <a:r>
              <a:rPr lang="en-UG" sz="1200" b="1" dirty="0"/>
              <a:t>Calls</a:t>
            </a:r>
            <a:r>
              <a:rPr lang="en-UG" sz="1200" dirty="0"/>
              <a:t> – </a:t>
            </a:r>
            <a:r>
              <a:rPr lang="en-UG" sz="1200" b="1" dirty="0"/>
              <a:t>5.97%</a:t>
            </a:r>
            <a:r>
              <a:rPr lang="en-UG" sz="1200" dirty="0"/>
              <a:t> </a:t>
            </a:r>
          </a:p>
          <a:p>
            <a:pPr lvl="0"/>
            <a:r>
              <a:rPr lang="en-UG" sz="1200" b="1" dirty="0"/>
              <a:t>Voice Intensity</a:t>
            </a:r>
            <a:r>
              <a:rPr lang="en-UG" sz="1200" dirty="0"/>
              <a:t> – </a:t>
            </a:r>
            <a:r>
              <a:rPr lang="en-UG" sz="1200" b="1" dirty="0"/>
              <a:t>5.87%</a:t>
            </a:r>
            <a:r>
              <a:rPr lang="en-UG" sz="1200" dirty="0"/>
              <a:t> </a:t>
            </a:r>
          </a:p>
          <a:p>
            <a:pPr lvl="0"/>
            <a:r>
              <a:rPr lang="en-UG" sz="1200" b="1" dirty="0"/>
              <a:t>Mobile Money Usage</a:t>
            </a:r>
            <a:r>
              <a:rPr lang="en-UG" sz="1200" dirty="0"/>
              <a:t> – </a:t>
            </a:r>
            <a:r>
              <a:rPr lang="en-UG" sz="1200" b="1" dirty="0"/>
              <a:t>4.64%</a:t>
            </a:r>
            <a:r>
              <a:rPr lang="en-UG" sz="1200" dirty="0"/>
              <a:t> </a:t>
            </a:r>
          </a:p>
          <a:p>
            <a:r>
              <a:rPr lang="en-UG" sz="1200" b="1" dirty="0"/>
              <a:t>Projected Business Impact</a:t>
            </a:r>
          </a:p>
          <a:p>
            <a:pPr lvl="0"/>
            <a:r>
              <a:rPr lang="en-UG" sz="1200" dirty="0"/>
              <a:t>Voice bundle conversion rate: </a:t>
            </a:r>
            <a:r>
              <a:rPr lang="en-UG" sz="1200" b="1" dirty="0"/>
              <a:t>3% → 12–15%</a:t>
            </a:r>
            <a:r>
              <a:rPr lang="en-UG" sz="1200" dirty="0"/>
              <a:t> </a:t>
            </a:r>
          </a:p>
          <a:p>
            <a:pPr lvl="0"/>
            <a:r>
              <a:rPr lang="en-UG" sz="1200" b="1" dirty="0"/>
              <a:t>ARPU increase:</a:t>
            </a:r>
            <a:r>
              <a:rPr lang="en-UG" sz="1200" dirty="0"/>
              <a:t> </a:t>
            </a:r>
            <a:r>
              <a:rPr lang="en-UG" sz="1200" b="1" dirty="0"/>
              <a:t>+9%</a:t>
            </a:r>
            <a:r>
              <a:rPr lang="en-UG" sz="1200" dirty="0"/>
              <a:t> </a:t>
            </a:r>
          </a:p>
          <a:p>
            <a:pPr lvl="0"/>
            <a:r>
              <a:rPr lang="en-UG" sz="1200" dirty="0"/>
              <a:t>Customer satisfaction: </a:t>
            </a:r>
            <a:r>
              <a:rPr lang="en-UG" sz="1200" b="1" dirty="0"/>
              <a:t>15–20% improvement</a:t>
            </a:r>
            <a:r>
              <a:rPr lang="en-UG" sz="1200" dirty="0"/>
              <a:t> </a:t>
            </a:r>
          </a:p>
          <a:p>
            <a:pPr lvl="0"/>
            <a:r>
              <a:rPr lang="en-UG" sz="1200" dirty="0"/>
              <a:t>Supports deployment of a </a:t>
            </a:r>
            <a:r>
              <a:rPr lang="en-UG" sz="1200" b="1" dirty="0"/>
              <a:t>personalised ML-based recommendation engine</a:t>
            </a:r>
            <a:r>
              <a:rPr lang="en-UG" sz="1200" dirty="0"/>
              <a:t>. </a:t>
            </a:r>
          </a:p>
          <a:p>
            <a:pPr lvl="0"/>
            <a:endParaRPr lang="en-UG" sz="1200" dirty="0"/>
          </a:p>
          <a:p>
            <a:r>
              <a:rPr lang="en-UG" sz="1200" b="1" dirty="0"/>
              <a:t>Hypothesis H3:</a:t>
            </a:r>
            <a:r>
              <a:rPr lang="en-UG" sz="1200" dirty="0"/>
              <a:t> Supported by the simulated pilot evaluation.</a:t>
            </a:r>
          </a:p>
          <a:p>
            <a:pPr lvl="0"/>
            <a:endParaRPr lang="en-UG" sz="900" dirty="0"/>
          </a:p>
          <a:p>
            <a:pPr lvl="0"/>
            <a:endParaRPr lang="en-UG" sz="900" dirty="0"/>
          </a:p>
        </p:txBody>
      </p:sp>
      <p:graphicFrame>
        <p:nvGraphicFramePr>
          <p:cNvPr id="11" name="Table 10">
            <a:extLst>
              <a:ext uri="{FF2B5EF4-FFF2-40B4-BE49-F238E27FC236}">
                <a16:creationId xmlns:a16="http://schemas.microsoft.com/office/drawing/2014/main" id="{82BC7AD1-CC79-0572-75A3-A295A8D86493}"/>
              </a:ext>
            </a:extLst>
          </p:cNvPr>
          <p:cNvGraphicFramePr>
            <a:graphicFrameLocks noGrp="1"/>
          </p:cNvGraphicFramePr>
          <p:nvPr>
            <p:extLst>
              <p:ext uri="{D42A27DB-BD31-4B8C-83A1-F6EECF244321}">
                <p14:modId xmlns:p14="http://schemas.microsoft.com/office/powerpoint/2010/main" val="1939434418"/>
              </p:ext>
            </p:extLst>
          </p:nvPr>
        </p:nvGraphicFramePr>
        <p:xfrm>
          <a:off x="83662" y="4459614"/>
          <a:ext cx="5688253" cy="1895466"/>
        </p:xfrm>
        <a:graphic>
          <a:graphicData uri="http://schemas.openxmlformats.org/drawingml/2006/table">
            <a:tbl>
              <a:tblPr firstRow="1" firstCol="1" bandRow="1">
                <a:tableStyleId>{5C22544A-7EE6-4342-B048-85BDC9FD1C3A}</a:tableStyleId>
              </a:tblPr>
              <a:tblGrid>
                <a:gridCol w="1890722">
                  <a:extLst>
                    <a:ext uri="{9D8B030D-6E8A-4147-A177-3AD203B41FA5}">
                      <a16:colId xmlns:a16="http://schemas.microsoft.com/office/drawing/2014/main" val="1456458417"/>
                    </a:ext>
                  </a:extLst>
                </a:gridCol>
                <a:gridCol w="607346">
                  <a:extLst>
                    <a:ext uri="{9D8B030D-6E8A-4147-A177-3AD203B41FA5}">
                      <a16:colId xmlns:a16="http://schemas.microsoft.com/office/drawing/2014/main" val="1696788262"/>
                    </a:ext>
                  </a:extLst>
                </a:gridCol>
                <a:gridCol w="978558">
                  <a:extLst>
                    <a:ext uri="{9D8B030D-6E8A-4147-A177-3AD203B41FA5}">
                      <a16:colId xmlns:a16="http://schemas.microsoft.com/office/drawing/2014/main" val="1031880558"/>
                    </a:ext>
                  </a:extLst>
                </a:gridCol>
                <a:gridCol w="1010818">
                  <a:extLst>
                    <a:ext uri="{9D8B030D-6E8A-4147-A177-3AD203B41FA5}">
                      <a16:colId xmlns:a16="http://schemas.microsoft.com/office/drawing/2014/main" val="2245176287"/>
                    </a:ext>
                  </a:extLst>
                </a:gridCol>
                <a:gridCol w="1200809">
                  <a:extLst>
                    <a:ext uri="{9D8B030D-6E8A-4147-A177-3AD203B41FA5}">
                      <a16:colId xmlns:a16="http://schemas.microsoft.com/office/drawing/2014/main" val="3824640935"/>
                    </a:ext>
                  </a:extLst>
                </a:gridCol>
              </a:tblGrid>
              <a:tr h="368131">
                <a:tc>
                  <a:txBody>
                    <a:bodyPr/>
                    <a:lstStyle/>
                    <a:p>
                      <a:pPr algn="ctr">
                        <a:lnSpc>
                          <a:spcPct val="150000"/>
                        </a:lnSpc>
                        <a:buNone/>
                      </a:pPr>
                      <a:r>
                        <a:rPr lang="en-UG" sz="1000" dirty="0">
                          <a:effectLst/>
                        </a:rPr>
                        <a:t>Model</a:t>
                      </a:r>
                      <a:endParaRPr lang="en-UG" sz="9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dirty="0">
                          <a:effectLst/>
                        </a:rPr>
                        <a:t>Accuracy</a:t>
                      </a:r>
                      <a:endParaRPr lang="en-UG" sz="9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Precision</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Recall</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F1-Score</a:t>
                      </a:r>
                      <a:endParaRPr lang="en-UG" sz="9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163513254"/>
                  </a:ext>
                </a:extLst>
              </a:tr>
              <a:tr h="442522">
                <a:tc>
                  <a:txBody>
                    <a:bodyPr/>
                    <a:lstStyle/>
                    <a:p>
                      <a:pPr>
                        <a:lnSpc>
                          <a:spcPct val="150000"/>
                        </a:lnSpc>
                        <a:buNone/>
                      </a:pPr>
                      <a:r>
                        <a:rPr lang="en-UG" sz="1000" dirty="0">
                          <a:effectLst/>
                        </a:rPr>
                        <a:t>Logistic Regression (Baseline)</a:t>
                      </a:r>
                      <a:endParaRPr lang="en-UG" sz="9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0.5329</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dirty="0">
                          <a:effectLst/>
                        </a:rPr>
                        <a:t>0.4329</a:t>
                      </a:r>
                      <a:endParaRPr lang="en-UG" sz="9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0.5329</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0.4465</a:t>
                      </a:r>
                      <a:endParaRPr lang="en-UG" sz="9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4157122831"/>
                  </a:ext>
                </a:extLst>
              </a:tr>
              <a:tr h="246952">
                <a:tc>
                  <a:txBody>
                    <a:bodyPr/>
                    <a:lstStyle/>
                    <a:p>
                      <a:pPr>
                        <a:lnSpc>
                          <a:spcPct val="150000"/>
                        </a:lnSpc>
                        <a:buNone/>
                      </a:pPr>
                      <a:r>
                        <a:rPr lang="en-UG" sz="1000">
                          <a:effectLst/>
                        </a:rPr>
                        <a:t>Decision Tree</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0.6607</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0.6504</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0.6607</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dirty="0">
                          <a:effectLst/>
                        </a:rPr>
                        <a:t>0.6344</a:t>
                      </a:r>
                      <a:endParaRPr lang="en-UG" sz="9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366712705"/>
                  </a:ext>
                </a:extLst>
              </a:tr>
              <a:tr h="246952">
                <a:tc>
                  <a:txBody>
                    <a:bodyPr/>
                    <a:lstStyle/>
                    <a:p>
                      <a:pPr>
                        <a:lnSpc>
                          <a:spcPct val="150000"/>
                        </a:lnSpc>
                        <a:buNone/>
                      </a:pPr>
                      <a:r>
                        <a:rPr lang="en-UG" sz="1000">
                          <a:effectLst/>
                        </a:rPr>
                        <a:t>Random Forest</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0.6731</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0.6627</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0.6731</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0.6522</a:t>
                      </a:r>
                      <a:endParaRPr lang="en-UG" sz="9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3449591225"/>
                  </a:ext>
                </a:extLst>
              </a:tr>
              <a:tr h="248718">
                <a:tc>
                  <a:txBody>
                    <a:bodyPr/>
                    <a:lstStyle/>
                    <a:p>
                      <a:pPr>
                        <a:lnSpc>
                          <a:spcPct val="150000"/>
                        </a:lnSpc>
                        <a:buNone/>
                      </a:pPr>
                      <a:r>
                        <a:rPr lang="en-UG" sz="1000" dirty="0">
                          <a:effectLst/>
                        </a:rPr>
                        <a:t>XGBoost ◀ BEST</a:t>
                      </a:r>
                      <a:endParaRPr lang="en-UG" sz="9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0.6800</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0.6701</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a:effectLst/>
                        </a:rPr>
                        <a:t>0.6800</a:t>
                      </a:r>
                      <a:endParaRPr lang="en-UG" sz="9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1000" dirty="0">
                          <a:effectLst/>
                        </a:rPr>
                        <a:t>0.6611</a:t>
                      </a:r>
                      <a:endParaRPr lang="en-UG" sz="9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3567226396"/>
                  </a:ext>
                </a:extLst>
              </a:tr>
            </a:tbl>
          </a:graphicData>
        </a:graphic>
      </p:graphicFrame>
      <p:graphicFrame>
        <p:nvGraphicFramePr>
          <p:cNvPr id="13" name="Table 12">
            <a:extLst>
              <a:ext uri="{FF2B5EF4-FFF2-40B4-BE49-F238E27FC236}">
                <a16:creationId xmlns:a16="http://schemas.microsoft.com/office/drawing/2014/main" id="{4F77A84E-F062-2863-C9DF-0D68F88039AB}"/>
              </a:ext>
            </a:extLst>
          </p:cNvPr>
          <p:cNvGraphicFramePr>
            <a:graphicFrameLocks noGrp="1"/>
          </p:cNvGraphicFramePr>
          <p:nvPr>
            <p:extLst>
              <p:ext uri="{D42A27DB-BD31-4B8C-83A1-F6EECF244321}">
                <p14:modId xmlns:p14="http://schemas.microsoft.com/office/powerpoint/2010/main" val="1300359015"/>
              </p:ext>
            </p:extLst>
          </p:nvPr>
        </p:nvGraphicFramePr>
        <p:xfrm>
          <a:off x="6095847" y="4459614"/>
          <a:ext cx="5852029" cy="1916814"/>
        </p:xfrm>
        <a:graphic>
          <a:graphicData uri="http://schemas.openxmlformats.org/drawingml/2006/table">
            <a:tbl>
              <a:tblPr firstRow="1" firstCol="1" bandRow="1">
                <a:tableStyleId>{5C22544A-7EE6-4342-B048-85BDC9FD1C3A}</a:tableStyleId>
              </a:tblPr>
              <a:tblGrid>
                <a:gridCol w="585203">
                  <a:extLst>
                    <a:ext uri="{9D8B030D-6E8A-4147-A177-3AD203B41FA5}">
                      <a16:colId xmlns:a16="http://schemas.microsoft.com/office/drawing/2014/main" val="2812825499"/>
                    </a:ext>
                  </a:extLst>
                </a:gridCol>
                <a:gridCol w="2340812">
                  <a:extLst>
                    <a:ext uri="{9D8B030D-6E8A-4147-A177-3AD203B41FA5}">
                      <a16:colId xmlns:a16="http://schemas.microsoft.com/office/drawing/2014/main" val="3204370992"/>
                    </a:ext>
                  </a:extLst>
                </a:gridCol>
                <a:gridCol w="1463007">
                  <a:extLst>
                    <a:ext uri="{9D8B030D-6E8A-4147-A177-3AD203B41FA5}">
                      <a16:colId xmlns:a16="http://schemas.microsoft.com/office/drawing/2014/main" val="2627500830"/>
                    </a:ext>
                  </a:extLst>
                </a:gridCol>
                <a:gridCol w="1463007">
                  <a:extLst>
                    <a:ext uri="{9D8B030D-6E8A-4147-A177-3AD203B41FA5}">
                      <a16:colId xmlns:a16="http://schemas.microsoft.com/office/drawing/2014/main" val="3421641015"/>
                    </a:ext>
                  </a:extLst>
                </a:gridCol>
              </a:tblGrid>
              <a:tr h="0">
                <a:tc>
                  <a:txBody>
                    <a:bodyPr/>
                    <a:lstStyle/>
                    <a:p>
                      <a:pPr algn="ctr">
                        <a:lnSpc>
                          <a:spcPct val="150000"/>
                        </a:lnSpc>
                        <a:buNone/>
                      </a:pPr>
                      <a:r>
                        <a:rPr lang="en-UG" sz="900">
                          <a:effectLst/>
                        </a:rPr>
                        <a:t>Rank</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dirty="0">
                          <a:effectLst/>
                        </a:rPr>
                        <a:t>Feature</a:t>
                      </a:r>
                      <a:endParaRPr lang="en-UG" sz="800" dirty="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a:effectLst/>
                        </a:rPr>
                        <a:t>Importance (%)</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a:effectLst/>
                        </a:rPr>
                        <a:t>Category</a:t>
                      </a:r>
                      <a:endParaRPr lang="en-UG" sz="8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537357371"/>
                  </a:ext>
                </a:extLst>
              </a:tr>
              <a:tr h="0">
                <a:tc>
                  <a:txBody>
                    <a:bodyPr/>
                    <a:lstStyle/>
                    <a:p>
                      <a:pPr algn="ctr">
                        <a:lnSpc>
                          <a:spcPct val="150000"/>
                        </a:lnSpc>
                        <a:buNone/>
                      </a:pPr>
                      <a:r>
                        <a:rPr lang="en-UG" sz="900">
                          <a:effectLst/>
                        </a:rPr>
                        <a:t>1</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TOTAL_REVENUE (total subscriber revenue)</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a:effectLst/>
                        </a:rPr>
                        <a:t>18.01%</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Financial</a:t>
                      </a:r>
                      <a:endParaRPr lang="en-UG" sz="8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274674731"/>
                  </a:ext>
                </a:extLst>
              </a:tr>
              <a:tr h="0">
                <a:tc>
                  <a:txBody>
                    <a:bodyPr/>
                    <a:lstStyle/>
                    <a:p>
                      <a:pPr algn="ctr">
                        <a:lnSpc>
                          <a:spcPct val="150000"/>
                        </a:lnSpc>
                        <a:buNone/>
                      </a:pPr>
                      <a:r>
                        <a:rPr lang="en-UG" sz="900" dirty="0">
                          <a:effectLst/>
                        </a:rPr>
                        <a:t>2</a:t>
                      </a:r>
                      <a:endParaRPr lang="en-UG" sz="800" dirty="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SPEND_PER_MINUTE (revenue per minute used)</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a:effectLst/>
                        </a:rPr>
                        <a:t>6.57%</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Engineered / Efficiency</a:t>
                      </a:r>
                      <a:endParaRPr lang="en-UG" sz="8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157311010"/>
                  </a:ext>
                </a:extLst>
              </a:tr>
              <a:tr h="0">
                <a:tc>
                  <a:txBody>
                    <a:bodyPr/>
                    <a:lstStyle/>
                    <a:p>
                      <a:pPr algn="ctr">
                        <a:lnSpc>
                          <a:spcPct val="150000"/>
                        </a:lnSpc>
                        <a:buNone/>
                      </a:pPr>
                      <a:r>
                        <a:rPr lang="en-UG" sz="900">
                          <a:effectLst/>
                        </a:rPr>
                        <a:t>3</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CALLS (total call count)</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a:effectLst/>
                        </a:rPr>
                        <a:t>5.97%</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Voice Activity</a:t>
                      </a:r>
                      <a:endParaRPr lang="en-UG" sz="80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026852299"/>
                  </a:ext>
                </a:extLst>
              </a:tr>
              <a:tr h="0">
                <a:tc>
                  <a:txBody>
                    <a:bodyPr/>
                    <a:lstStyle/>
                    <a:p>
                      <a:pPr algn="ctr">
                        <a:lnSpc>
                          <a:spcPct val="150000"/>
                        </a:lnSpc>
                        <a:buNone/>
                      </a:pPr>
                      <a:r>
                        <a:rPr lang="en-UG" sz="900">
                          <a:effectLst/>
                        </a:rPr>
                        <a:t>4</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VOICE_INTENSITY (calls per active day)</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a:effectLst/>
                        </a:rPr>
                        <a:t>5.87%</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dirty="0">
                          <a:effectLst/>
                        </a:rPr>
                        <a:t>Engineered / Behavioral</a:t>
                      </a:r>
                      <a:endParaRPr lang="en-UG" sz="8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1997584781"/>
                  </a:ext>
                </a:extLst>
              </a:tr>
              <a:tr h="0">
                <a:tc>
                  <a:txBody>
                    <a:bodyPr/>
                    <a:lstStyle/>
                    <a:p>
                      <a:pPr algn="ctr">
                        <a:lnSpc>
                          <a:spcPct val="150000"/>
                        </a:lnSpc>
                        <a:buNone/>
                      </a:pPr>
                      <a:r>
                        <a:rPr lang="en-UG" sz="900" dirty="0">
                          <a:effectLst/>
                        </a:rPr>
                        <a:t>5</a:t>
                      </a:r>
                      <a:endParaRPr lang="en-UG" sz="800" dirty="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a:effectLst/>
                        </a:rPr>
                        <a:t>MOBILE_MONEY (mobile money activity)</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gn="ctr">
                        <a:lnSpc>
                          <a:spcPct val="150000"/>
                        </a:lnSpc>
                        <a:buNone/>
                      </a:pPr>
                      <a:r>
                        <a:rPr lang="en-UG" sz="900">
                          <a:effectLst/>
                        </a:rPr>
                        <a:t>4.64%</a:t>
                      </a:r>
                      <a:endParaRPr lang="en-UG" sz="800">
                        <a:effectLst/>
                        <a:latin typeface="Arial" panose="020B0604020202020204" pitchFamily="34" charset="0"/>
                        <a:ea typeface="Arial" panose="020B0604020202020204" pitchFamily="34" charset="0"/>
                      </a:endParaRPr>
                    </a:p>
                  </a:txBody>
                  <a:tcPr marL="76200" marR="76200" marT="50800" marB="50800"/>
                </a:tc>
                <a:tc>
                  <a:txBody>
                    <a:bodyPr/>
                    <a:lstStyle/>
                    <a:p>
                      <a:pPr>
                        <a:lnSpc>
                          <a:spcPct val="150000"/>
                        </a:lnSpc>
                        <a:buNone/>
                      </a:pPr>
                      <a:r>
                        <a:rPr lang="en-UG" sz="900" dirty="0">
                          <a:effectLst/>
                        </a:rPr>
                        <a:t>Financial</a:t>
                      </a:r>
                      <a:endParaRPr lang="en-UG" sz="800" dirty="0">
                        <a:effectLst/>
                        <a:latin typeface="Arial" panose="020B0604020202020204" pitchFamily="34" charset="0"/>
                        <a:ea typeface="Arial" panose="020B0604020202020204" pitchFamily="34" charset="0"/>
                      </a:endParaRPr>
                    </a:p>
                  </a:txBody>
                  <a:tcPr marL="76200" marR="76200" marT="50800" marB="50800"/>
                </a:tc>
                <a:extLst>
                  <a:ext uri="{0D108BD9-81ED-4DB2-BD59-A6C34878D82A}">
                    <a16:rowId xmlns:a16="http://schemas.microsoft.com/office/drawing/2014/main" val="4241415227"/>
                  </a:ext>
                </a:extLst>
              </a:tr>
            </a:tbl>
          </a:graphicData>
        </a:graphic>
      </p:graphicFrame>
    </p:spTree>
    <p:extLst>
      <p:ext uri="{BB962C8B-B14F-4D97-AF65-F5344CB8AC3E}">
        <p14:creationId xmlns:p14="http://schemas.microsoft.com/office/powerpoint/2010/main" val="268983448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ACF449-FB26-0DC1-7253-3D6A2B7C2EA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709F3CAE-F30B-A418-A8F2-561084132C47}"/>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B1B42BB9-85BA-33B0-2008-F7416EBE445D}"/>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7F27B497-E21A-C339-EB80-DDF05CD8884E}"/>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438550F6-A51B-D24C-29C3-E5F1CBB31B34}"/>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461E2CA5-758C-302F-91E9-5F0B126852C4}"/>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467D8A49-8891-2144-5DDA-5DF0F4BA5906}"/>
              </a:ext>
            </a:extLst>
          </p:cNvPr>
          <p:cNvSpPr/>
          <p:nvPr/>
        </p:nvSpPr>
        <p:spPr>
          <a:xfrm>
            <a:off x="-1" y="118872"/>
            <a:ext cx="9061807" cy="731520"/>
          </a:xfrm>
          <a:prstGeom prst="rect">
            <a:avLst/>
          </a:prstGeom>
          <a:noFill/>
          <a:ln/>
        </p:spPr>
        <p:txBody>
          <a:bodyPr wrap="square" rtlCol="0" anchor="ctr"/>
          <a:lstStyle/>
          <a:p>
            <a:r>
              <a:rPr lang="en-US" sz="3200" b="1" dirty="0">
                <a:solidFill>
                  <a:srgbClr val="1E3A5F"/>
                </a:solidFill>
                <a:latin typeface="Trebuchet MS" panose="020B0603020202020204" pitchFamily="34" charset="0"/>
              </a:rPr>
              <a:t>Discussion</a:t>
            </a:r>
            <a:endParaRPr lang="en-US" sz="3200" dirty="0">
              <a:latin typeface="Trebuchet MS" panose="020B0603020202020204" pitchFamily="34" charset="0"/>
            </a:endParaRPr>
          </a:p>
        </p:txBody>
      </p:sp>
      <p:sp>
        <p:nvSpPr>
          <p:cNvPr id="8" name="TextBox 7">
            <a:extLst>
              <a:ext uri="{FF2B5EF4-FFF2-40B4-BE49-F238E27FC236}">
                <a16:creationId xmlns:a16="http://schemas.microsoft.com/office/drawing/2014/main" id="{5E97265E-25E0-1D65-8581-4498E1FC7529}"/>
              </a:ext>
            </a:extLst>
          </p:cNvPr>
          <p:cNvSpPr txBox="1"/>
          <p:nvPr/>
        </p:nvSpPr>
        <p:spPr>
          <a:xfrm>
            <a:off x="-1" y="929743"/>
            <a:ext cx="12191695" cy="5693866"/>
          </a:xfrm>
          <a:prstGeom prst="rect">
            <a:avLst/>
          </a:prstGeom>
          <a:noFill/>
        </p:spPr>
        <p:txBody>
          <a:bodyPr wrap="square" rtlCol="0">
            <a:spAutoFit/>
          </a:bodyPr>
          <a:lstStyle/>
          <a:p>
            <a:r>
              <a:rPr lang="en-UG" sz="1400" b="1" dirty="0"/>
              <a:t>Key Behavioural Predictors (H1)</a:t>
            </a:r>
          </a:p>
          <a:p>
            <a:pPr lvl="1"/>
            <a:r>
              <a:rPr lang="en-UG" sz="1400" b="1" dirty="0"/>
              <a:t>Smartphone ownership</a:t>
            </a:r>
            <a:r>
              <a:rPr lang="en-UG" sz="1400" dirty="0"/>
              <a:t> was the strongest non-revenue predictor of bundle segment. </a:t>
            </a:r>
          </a:p>
          <a:p>
            <a:pPr lvl="1"/>
            <a:r>
              <a:rPr lang="en-UG" sz="1400" b="1" dirty="0"/>
              <a:t>Recent bundle spending, voice intensity, purchase frequency, and active days</a:t>
            </a:r>
            <a:r>
              <a:rPr lang="en-UG" sz="1400" dirty="0"/>
              <a:t> were significant indicators of customer value. </a:t>
            </a:r>
          </a:p>
          <a:p>
            <a:pPr lvl="1"/>
            <a:r>
              <a:rPr lang="en-UG" sz="1400" b="1" dirty="0"/>
              <a:t>UPGRADE_RATE</a:t>
            </a:r>
            <a:r>
              <a:rPr lang="en-UG" sz="1400" dirty="0"/>
              <a:t> showed no meaningful relationship with bundle segment. </a:t>
            </a:r>
          </a:p>
          <a:p>
            <a:pPr lvl="1"/>
            <a:r>
              <a:rPr lang="en-UG" sz="1400" dirty="0"/>
              <a:t>Behavioural features provide </a:t>
            </a:r>
            <a:r>
              <a:rPr lang="en-UG" sz="1400" b="1" dirty="0"/>
              <a:t>better customer segmentation</a:t>
            </a:r>
            <a:r>
              <a:rPr lang="en-UG" sz="1400" dirty="0"/>
              <a:t> than traditional ARPU-based approaches.</a:t>
            </a:r>
          </a:p>
          <a:p>
            <a:pPr lvl="1"/>
            <a:r>
              <a:rPr lang="en-UG" sz="1400" b="1" dirty="0"/>
              <a:t>H1 Accepted:</a:t>
            </a:r>
            <a:r>
              <a:rPr lang="en-UG" sz="1400" dirty="0"/>
              <a:t> Customer behavioural attributes significantly predict voice bundle segment membership.</a:t>
            </a:r>
          </a:p>
          <a:p>
            <a:endParaRPr lang="en-UG" sz="1400" dirty="0"/>
          </a:p>
          <a:p>
            <a:r>
              <a:rPr lang="en-UG" sz="1400" b="1" dirty="0"/>
              <a:t>Model Performance (H2)</a:t>
            </a:r>
          </a:p>
          <a:p>
            <a:pPr lvl="1"/>
            <a:r>
              <a:rPr lang="en-UG" sz="1400" b="1" dirty="0"/>
              <a:t>XGBoost</a:t>
            </a:r>
            <a:r>
              <a:rPr lang="en-UG" sz="1400" dirty="0"/>
              <a:t> outperformed Logistic Regression, Decision Tree, and Random Forest (</a:t>
            </a:r>
            <a:r>
              <a:rPr lang="en-UG" sz="1400" b="1" dirty="0"/>
              <a:t>F1 = 0.6611</a:t>
            </a:r>
            <a:r>
              <a:rPr lang="en-UG" sz="1400" dirty="0"/>
              <a:t>). </a:t>
            </a:r>
          </a:p>
          <a:p>
            <a:pPr lvl="1"/>
            <a:r>
              <a:rPr lang="en-UG" sz="1400" b="1" dirty="0"/>
              <a:t>XGBoost</a:t>
            </a:r>
            <a:r>
              <a:rPr lang="en-UG" sz="1400" dirty="0"/>
              <a:t> demonstrated the best predictive performance for personalised voice bundle recommendations.</a:t>
            </a:r>
          </a:p>
          <a:p>
            <a:pPr lvl="1"/>
            <a:r>
              <a:rPr lang="en-UG" sz="1400" dirty="0"/>
              <a:t>Performance reflects the complexity of an </a:t>
            </a:r>
            <a:r>
              <a:rPr lang="en-UG" sz="1400" b="1" dirty="0"/>
              <a:t>8-class imbalanced classification problem</a:t>
            </a:r>
            <a:r>
              <a:rPr lang="en-UG" sz="1400" dirty="0"/>
              <a:t>, achieving a </a:t>
            </a:r>
            <a:r>
              <a:rPr lang="en-UG" sz="1400" b="1" dirty="0"/>
              <a:t>5.4× improvement over random prediction</a:t>
            </a:r>
            <a:r>
              <a:rPr lang="en-UG" sz="1400" dirty="0"/>
              <a:t>. </a:t>
            </a:r>
          </a:p>
          <a:p>
            <a:pPr lvl="1"/>
            <a:r>
              <a:rPr lang="en-UG" sz="1400" b="1" dirty="0"/>
              <a:t>H2 Accepted:</a:t>
            </a:r>
            <a:r>
              <a:rPr lang="en-UG" sz="1400" dirty="0"/>
              <a:t> XGBoost is the most suitable model for voice bundle recommendation.</a:t>
            </a:r>
          </a:p>
          <a:p>
            <a:pPr lvl="0"/>
            <a:endParaRPr lang="en-UG" sz="1400" dirty="0"/>
          </a:p>
          <a:p>
            <a:r>
              <a:rPr lang="en-UG" sz="1400" b="1" dirty="0"/>
              <a:t>Strategic Insights</a:t>
            </a:r>
          </a:p>
          <a:p>
            <a:pPr lvl="1"/>
            <a:r>
              <a:rPr lang="en-UG" sz="1400" b="1" dirty="0"/>
              <a:t>Spend per Minute</a:t>
            </a:r>
            <a:r>
              <a:rPr lang="en-UG" sz="1400" dirty="0"/>
              <a:t> is a stronger predictor than ARPU, highlighting the limitations of current ARPU-based segmentation. </a:t>
            </a:r>
          </a:p>
          <a:p>
            <a:pPr lvl="1"/>
            <a:r>
              <a:rPr lang="en-UG" sz="1400" b="1" dirty="0"/>
              <a:t>Voice Intensity</a:t>
            </a:r>
            <a:r>
              <a:rPr lang="en-UG" sz="1400" dirty="0"/>
              <a:t> can serve as a </a:t>
            </a:r>
            <a:r>
              <a:rPr lang="en-UG" sz="1400" b="1" dirty="0"/>
              <a:t>real-time trigger</a:t>
            </a:r>
            <a:r>
              <a:rPr lang="en-UG" sz="1400" dirty="0"/>
              <a:t> for personalised bundle recommendations. </a:t>
            </a:r>
          </a:p>
          <a:p>
            <a:pPr lvl="1"/>
            <a:r>
              <a:rPr lang="en-UG" sz="1400" b="1" dirty="0"/>
              <a:t>Mobile Money usage</a:t>
            </a:r>
            <a:r>
              <a:rPr lang="en-UG" sz="1400" dirty="0"/>
              <a:t> provides an additional signal for customer engagement and targeted marketing. </a:t>
            </a:r>
          </a:p>
          <a:p>
            <a:pPr lvl="0"/>
            <a:endParaRPr lang="en-UG" sz="1400" dirty="0"/>
          </a:p>
          <a:p>
            <a:r>
              <a:rPr lang="en-UG" sz="1400" b="1" dirty="0"/>
              <a:t>Projected Business Impact</a:t>
            </a:r>
          </a:p>
          <a:p>
            <a:pPr lvl="1"/>
            <a:r>
              <a:rPr lang="en-UG" sz="1400" dirty="0"/>
              <a:t>Recommendation precision: </a:t>
            </a:r>
            <a:r>
              <a:rPr lang="en-UG" sz="1400" b="1" dirty="0"/>
              <a:t>67%</a:t>
            </a:r>
            <a:r>
              <a:rPr lang="en-UG" sz="1400" dirty="0"/>
              <a:t> </a:t>
            </a:r>
          </a:p>
          <a:p>
            <a:pPr lvl="1"/>
            <a:r>
              <a:rPr lang="en-UG" sz="1400" dirty="0"/>
              <a:t>Conversion rate improvement: </a:t>
            </a:r>
            <a:r>
              <a:rPr lang="en-UG" sz="1400" b="1" dirty="0"/>
              <a:t>3% → 12–15%</a:t>
            </a:r>
            <a:r>
              <a:rPr lang="en-UG" sz="1400" dirty="0"/>
              <a:t> </a:t>
            </a:r>
          </a:p>
          <a:p>
            <a:pPr lvl="1"/>
            <a:r>
              <a:rPr lang="en-UG" sz="1400" dirty="0"/>
              <a:t>Estimated </a:t>
            </a:r>
            <a:r>
              <a:rPr lang="en-UG" sz="1400" b="1" dirty="0"/>
              <a:t>9% increase in ARPU</a:t>
            </a:r>
            <a:r>
              <a:rPr lang="en-UG" sz="1400" dirty="0"/>
              <a:t> </a:t>
            </a:r>
          </a:p>
          <a:p>
            <a:pPr lvl="1"/>
            <a:r>
              <a:rPr lang="en-UG" sz="1400" dirty="0"/>
              <a:t>The proposed ML framework has the potential to </a:t>
            </a:r>
            <a:r>
              <a:rPr lang="en-UG" sz="1400" b="1" dirty="0"/>
              <a:t>improve customer targeting, increase conversion rates, and enhance revenue</a:t>
            </a:r>
            <a:r>
              <a:rPr lang="en-UG" sz="1400" dirty="0"/>
              <a:t>, while reducing irrelevant promotions.</a:t>
            </a:r>
          </a:p>
          <a:p>
            <a:pPr lvl="1"/>
            <a:r>
              <a:rPr lang="en-UG" sz="1400" b="1" dirty="0"/>
              <a:t>H3:</a:t>
            </a:r>
            <a:r>
              <a:rPr lang="en-UG" sz="1400" dirty="0"/>
              <a:t> Preliminary support was achieved, but a live </a:t>
            </a:r>
            <a:r>
              <a:rPr lang="en-UG" sz="1400" b="1" dirty="0"/>
              <a:t>A/B test</a:t>
            </a:r>
            <a:r>
              <a:rPr lang="en-UG" sz="1400" dirty="0"/>
              <a:t> is required to validate the projected business benefits.</a:t>
            </a:r>
          </a:p>
        </p:txBody>
      </p:sp>
    </p:spTree>
    <p:extLst>
      <p:ext uri="{BB962C8B-B14F-4D97-AF65-F5344CB8AC3E}">
        <p14:creationId xmlns:p14="http://schemas.microsoft.com/office/powerpoint/2010/main" val="2625660437"/>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F40B9-6C22-49F1-38C9-CFBC571BE1F9}"/>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FAC92947-AB05-B43E-998A-C598278E5670}"/>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F810CFF6-7854-4C4C-929B-2E7BAD8C2C73}"/>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0DD6BC70-207D-AE18-FDB5-42C54F262398}"/>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22F365C8-B446-6D77-7A2E-33A159704E2F}"/>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9DF77993-198C-B36D-8F2D-07EFE7F418E8}"/>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BA901FB6-B931-B5C4-4207-D59467105693}"/>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Recommendations</a:t>
            </a:r>
            <a:endParaRPr lang="en-US" sz="3600" dirty="0">
              <a:latin typeface="Trebuchet MS" panose="020B0603020202020204" pitchFamily="34" charset="0"/>
            </a:endParaRPr>
          </a:p>
        </p:txBody>
      </p:sp>
      <p:graphicFrame>
        <p:nvGraphicFramePr>
          <p:cNvPr id="8" name="Table 7">
            <a:extLst>
              <a:ext uri="{FF2B5EF4-FFF2-40B4-BE49-F238E27FC236}">
                <a16:creationId xmlns:a16="http://schemas.microsoft.com/office/drawing/2014/main" id="{520B9397-718B-7DB8-0A51-A26FA9019F5F}"/>
              </a:ext>
            </a:extLst>
          </p:cNvPr>
          <p:cNvGraphicFramePr>
            <a:graphicFrameLocks noGrp="1"/>
          </p:cNvGraphicFramePr>
          <p:nvPr>
            <p:extLst>
              <p:ext uri="{D42A27DB-BD31-4B8C-83A1-F6EECF244321}">
                <p14:modId xmlns:p14="http://schemas.microsoft.com/office/powerpoint/2010/main" val="2936242285"/>
              </p:ext>
            </p:extLst>
          </p:nvPr>
        </p:nvGraphicFramePr>
        <p:xfrm>
          <a:off x="92365" y="1081583"/>
          <a:ext cx="12099330" cy="5194146"/>
        </p:xfrm>
        <a:graphic>
          <a:graphicData uri="http://schemas.openxmlformats.org/drawingml/2006/table">
            <a:tbl>
              <a:tblPr firstRow="1" bandRow="1">
                <a:tableStyleId>{5C22544A-7EE6-4342-B048-85BDC9FD1C3A}</a:tableStyleId>
              </a:tblPr>
              <a:tblGrid>
                <a:gridCol w="4033110">
                  <a:extLst>
                    <a:ext uri="{9D8B030D-6E8A-4147-A177-3AD203B41FA5}">
                      <a16:colId xmlns:a16="http://schemas.microsoft.com/office/drawing/2014/main" val="3421758982"/>
                    </a:ext>
                  </a:extLst>
                </a:gridCol>
                <a:gridCol w="4033110">
                  <a:extLst>
                    <a:ext uri="{9D8B030D-6E8A-4147-A177-3AD203B41FA5}">
                      <a16:colId xmlns:a16="http://schemas.microsoft.com/office/drawing/2014/main" val="2126591973"/>
                    </a:ext>
                  </a:extLst>
                </a:gridCol>
                <a:gridCol w="4033110">
                  <a:extLst>
                    <a:ext uri="{9D8B030D-6E8A-4147-A177-3AD203B41FA5}">
                      <a16:colId xmlns:a16="http://schemas.microsoft.com/office/drawing/2014/main" val="2534319604"/>
                    </a:ext>
                  </a:extLst>
                </a:gridCol>
              </a:tblGrid>
              <a:tr h="618351">
                <a:tc>
                  <a:txBody>
                    <a:bodyPr/>
                    <a:lstStyle/>
                    <a:p>
                      <a:r>
                        <a:rPr lang="en-UG" sz="1600" dirty="0"/>
                        <a:t>Deploy a Personalised Recommendation Engine</a:t>
                      </a:r>
                    </a:p>
                  </a:txBody>
                  <a:tcPr/>
                </a:tc>
                <a:tc>
                  <a:txBody>
                    <a:bodyPr/>
                    <a:lstStyle/>
                    <a:p>
                      <a:r>
                        <a:rPr lang="en-UG" sz="1600" dirty="0"/>
                        <a:t>Enrich Customer Segmentation</a:t>
                      </a:r>
                    </a:p>
                  </a:txBody>
                  <a:tcPr/>
                </a:tc>
                <a:tc>
                  <a:txBody>
                    <a:bodyPr/>
                    <a:lstStyle/>
                    <a:p>
                      <a:r>
                        <a:rPr lang="en-UG" sz="1600" dirty="0"/>
                        <a:t>Establish Testing and Governance Frameworks</a:t>
                      </a:r>
                    </a:p>
                  </a:txBody>
                  <a:tcPr/>
                </a:tc>
                <a:extLst>
                  <a:ext uri="{0D108BD9-81ED-4DB2-BD59-A6C34878D82A}">
                    <a16:rowId xmlns:a16="http://schemas.microsoft.com/office/drawing/2014/main" val="9738955"/>
                  </a:ext>
                </a:extLst>
              </a:tr>
              <a:tr h="1607712">
                <a:tc>
                  <a:txBody>
                    <a:bodyPr/>
                    <a:lstStyle/>
                    <a:p>
                      <a:r>
                        <a:rPr lang="en-UG" sz="1600" dirty="0"/>
                        <a:t>Transition from periodic marketing campaigns to a dynamic, event-driven architecture that delivers personalized recommendations via USSD or SMS.</a:t>
                      </a:r>
                    </a:p>
                  </a:txBody>
                  <a:tcPr/>
                </a:tc>
                <a:tc>
                  <a:txBody>
                    <a:bodyPr/>
                    <a:lstStyle/>
                    <a:p>
                      <a:r>
                        <a:rPr lang="en-UG" sz="1600" dirty="0"/>
                        <a:t>Update the segmentation framework by incorporating real-time behavioral signals, including handset generation (2G, 3G, 4G, or 5G), preferred transaction channel (USSD, App, or agent), and geographic region.</a:t>
                      </a:r>
                    </a:p>
                  </a:txBody>
                  <a:tcPr/>
                </a:tc>
                <a:tc>
                  <a:txBody>
                    <a:bodyPr/>
                    <a:lstStyle/>
                    <a:p>
                      <a:r>
                        <a:rPr lang="en-UG" sz="1600" dirty="0"/>
                        <a:t>Launch a live, randomized A/B test for a minimum of 90 days to compare the new XGBoost recommendations (treatment) against the standard generic experience (control).</a:t>
                      </a:r>
                    </a:p>
                  </a:txBody>
                  <a:tcPr/>
                </a:tc>
                <a:extLst>
                  <a:ext uri="{0D108BD9-81ED-4DB2-BD59-A6C34878D82A}">
                    <a16:rowId xmlns:a16="http://schemas.microsoft.com/office/drawing/2014/main" val="2528587153"/>
                  </a:ext>
                </a:extLst>
              </a:tr>
              <a:tr h="1360371">
                <a:tc>
                  <a:txBody>
                    <a:bodyPr/>
                    <a:lstStyle/>
                    <a:p>
                      <a:r>
                        <a:rPr lang="en-UG" sz="1600" dirty="0"/>
                        <a:t>Utilize the XGBoost classification model to trigger recommendations when a subscriber's </a:t>
                      </a:r>
                      <a:r>
                        <a:rPr lang="en-UG" sz="1600" kern="1200" dirty="0">
                          <a:solidFill>
                            <a:schemeClr val="dk1"/>
                          </a:solidFill>
                          <a:latin typeface="+mn-lt"/>
                          <a:ea typeface="+mn-ea"/>
                          <a:cs typeface="+mn-cs"/>
                        </a:rPr>
                        <a:t>VOICE_INTENSITY</a:t>
                      </a:r>
                      <a:r>
                        <a:rPr lang="en-UG" sz="1600" dirty="0"/>
                        <a:t> (calls per active day) surpasses their 30-day rolling average by more than 20 percent.</a:t>
                      </a:r>
                    </a:p>
                  </a:txBody>
                  <a:tcPr/>
                </a:tc>
                <a:tc>
                  <a:txBody>
                    <a:bodyPr/>
                    <a:lstStyle/>
                    <a:p>
                      <a:r>
                        <a:rPr lang="en-UG" sz="1600" dirty="0"/>
                        <a:t>Implement this new segmentation via a phased rollout, initially targeting subscribers in the Kampala, Central 1, and Central 2 regions before expanding nationally.</a:t>
                      </a:r>
                    </a:p>
                  </a:txBody>
                  <a:tcPr/>
                </a:tc>
                <a:tc>
                  <a:txBody>
                    <a:bodyPr/>
                    <a:lstStyle/>
                    <a:p>
                      <a:r>
                        <a:rPr lang="en-UG" sz="1600" dirty="0"/>
                        <a:t>Track key business metrics during the test, specifically focusing on bundle purchase conversion rates, Average Revenue Per User (ARPU), and bundle repurchase frequency.</a:t>
                      </a:r>
                    </a:p>
                  </a:txBody>
                  <a:tcPr/>
                </a:tc>
                <a:extLst>
                  <a:ext uri="{0D108BD9-81ED-4DB2-BD59-A6C34878D82A}">
                    <a16:rowId xmlns:a16="http://schemas.microsoft.com/office/drawing/2014/main" val="1288680805"/>
                  </a:ext>
                </a:extLst>
              </a:tr>
              <a:tr h="1607712">
                <a:tc>
                  <a:txBody>
                    <a:bodyPr/>
                    <a:lstStyle/>
                    <a:p>
                      <a:r>
                        <a:rPr lang="en-UG" sz="1600" dirty="0"/>
                        <a:t>Offer higher-tier bundles to users whose </a:t>
                      </a:r>
                      <a:r>
                        <a:rPr lang="en-UG" sz="1600" kern="1200" dirty="0">
                          <a:solidFill>
                            <a:schemeClr val="dk1"/>
                          </a:solidFill>
                          <a:latin typeface="+mn-lt"/>
                          <a:ea typeface="+mn-ea"/>
                          <a:cs typeface="+mn-cs"/>
                        </a:rPr>
                        <a:t>SPEND_PER_MINUTE</a:t>
                      </a:r>
                      <a:r>
                        <a:rPr lang="en-UG" sz="1600" dirty="0"/>
                        <a:t> exceeds the median for their specific value segment.</a:t>
                      </a:r>
                    </a:p>
                  </a:txBody>
                  <a:tcPr/>
                </a:tc>
                <a:tc>
                  <a:txBody>
                    <a:bodyPr/>
                    <a:lstStyle/>
                    <a:p>
                      <a:endParaRPr lang="en-UG" sz="1600"/>
                    </a:p>
                  </a:txBody>
                  <a:tcPr/>
                </a:tc>
                <a:tc>
                  <a:txBody>
                    <a:bodyPr/>
                    <a:lstStyle/>
                    <a:p>
                      <a:r>
                        <a:rPr lang="en-UG" sz="1600" dirty="0"/>
                        <a:t>Create a formal Model Governance Framework that includes a real-time performance dashboard, quarterly model retraining cycles, and a closed-loop feedback system to log and learn from each recommendation event.</a:t>
                      </a:r>
                    </a:p>
                  </a:txBody>
                  <a:tcPr/>
                </a:tc>
                <a:extLst>
                  <a:ext uri="{0D108BD9-81ED-4DB2-BD59-A6C34878D82A}">
                    <a16:rowId xmlns:a16="http://schemas.microsoft.com/office/drawing/2014/main" val="3576239314"/>
                  </a:ext>
                </a:extLst>
              </a:tr>
            </a:tbl>
          </a:graphicData>
        </a:graphic>
      </p:graphicFrame>
    </p:spTree>
    <p:extLst>
      <p:ext uri="{BB962C8B-B14F-4D97-AF65-F5344CB8AC3E}">
        <p14:creationId xmlns:p14="http://schemas.microsoft.com/office/powerpoint/2010/main" val="2181690768"/>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7CA270-CE06-28C9-34F4-C4C5F49475CB}"/>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442C2E56-0632-9F1F-FADA-21D1434847AC}"/>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D5BD47B-D264-5CB7-2C91-96A5ED2DF976}"/>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512B6F69-0E5D-9C2C-50C3-D55D90D16408}"/>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CC5AA34B-9999-A7E9-8AD1-90211590210A}"/>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35E81499-1FE8-2030-6867-1AB83AE1EA90}"/>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2375E58E-775A-7E1A-8438-B90C81F4637B}"/>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Limitations of the Study</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438897C2-595A-F7D0-3DD3-2815CBF43308}"/>
              </a:ext>
            </a:extLst>
          </p:cNvPr>
          <p:cNvSpPr txBox="1"/>
          <p:nvPr/>
        </p:nvSpPr>
        <p:spPr>
          <a:xfrm>
            <a:off x="0" y="1065802"/>
            <a:ext cx="12106634" cy="5016758"/>
          </a:xfrm>
          <a:prstGeom prst="rect">
            <a:avLst/>
          </a:prstGeom>
          <a:noFill/>
        </p:spPr>
        <p:txBody>
          <a:bodyPr wrap="square" rtlCol="0">
            <a:spAutoFit/>
          </a:bodyPr>
          <a:lstStyle/>
          <a:p>
            <a:pPr lvl="0"/>
            <a:r>
              <a:rPr lang="en-UG" sz="1600" b="1" dirty="0"/>
              <a:t>Model Constraints:</a:t>
            </a:r>
            <a:r>
              <a:rPr lang="en-UG" sz="1600" dirty="0"/>
              <a:t> Addressed a complex 8-class prediction problem with severe data imbalance, affecting minority class performance. Most of the subs fall under the Silver customer value segment.</a:t>
            </a:r>
          </a:p>
          <a:p>
            <a:pPr lvl="0"/>
            <a:endParaRPr lang="en-UG" sz="1600" dirty="0"/>
          </a:p>
          <a:p>
            <a:pPr lvl="0"/>
            <a:r>
              <a:rPr lang="en-UG" sz="1600" b="1" dirty="0"/>
              <a:t>Data Matching:</a:t>
            </a:r>
            <a:r>
              <a:rPr lang="en-UG" sz="1600" dirty="0"/>
              <a:t> Discrepancies existed between historical purchase timing data and the current product catalogue.</a:t>
            </a:r>
          </a:p>
          <a:p>
            <a:pPr lvl="0"/>
            <a:endParaRPr lang="en-UG" sz="1600" dirty="0"/>
          </a:p>
          <a:p>
            <a:pPr lvl="0"/>
            <a:r>
              <a:rPr lang="en-UG" sz="1600" b="1" dirty="0"/>
              <a:t>Scope &amp; Validation:</a:t>
            </a:r>
            <a:r>
              <a:rPr lang="en-UG" sz="1600" dirty="0"/>
              <a:t> Findings are limited to Central Uganda regions and rely on projected—rather than live, commercially observed—outcomes.</a:t>
            </a:r>
          </a:p>
          <a:p>
            <a:pPr lvl="0"/>
            <a:endParaRPr lang="en-UG" sz="1600" dirty="0"/>
          </a:p>
          <a:p>
            <a:r>
              <a:rPr lang="en-UG" sz="1600" b="1" dirty="0"/>
              <a:t>Short Observation Window/Seasonality:</a:t>
            </a:r>
            <a:r>
              <a:rPr lang="en-UG" sz="1600" dirty="0"/>
              <a:t> While a three-month data window effectively captures short-term behavior, it may miss broader seasonal shifts like holidays, school terms, festive seasons or annual economic cycles.</a:t>
            </a:r>
          </a:p>
          <a:p>
            <a:pPr lvl="0"/>
            <a:endParaRPr lang="en-UG" sz="1600" b="1" dirty="0"/>
          </a:p>
          <a:p>
            <a:pPr lvl="0"/>
            <a:r>
              <a:rPr lang="en-UG" sz="1600" b="1" dirty="0"/>
              <a:t>Data Privacy &amp; Replicability:</a:t>
            </a:r>
            <a:r>
              <a:rPr lang="en-UG" sz="1600" dirty="0"/>
              <a:t> Due to the commercially sensitive and proprietary nature of Airtel Uganda's transactional data, the exact model outputs and feature engineering pipeline cannot be fully disclosed, restricting external replicability.</a:t>
            </a:r>
          </a:p>
          <a:p>
            <a:pPr lvl="0"/>
            <a:endParaRPr lang="en-UG" sz="1600" dirty="0"/>
          </a:p>
          <a:p>
            <a:pPr lvl="0"/>
            <a:r>
              <a:rPr lang="en-UG" sz="1600" b="1" dirty="0"/>
              <a:t>Absence of Live Validation:</a:t>
            </a:r>
            <a:r>
              <a:rPr lang="en-UG" sz="1600" dirty="0"/>
              <a:t> Projected business impacts—such as conversion rate improvements and ARPU uplift—are based on simulated pilot tests. These remain estimates until empirically validated through a live, randomized A/B test.</a:t>
            </a:r>
          </a:p>
          <a:p>
            <a:pPr lvl="0"/>
            <a:endParaRPr lang="en-UG" sz="1600" dirty="0"/>
          </a:p>
          <a:p>
            <a:pPr lvl="0"/>
            <a:r>
              <a:rPr lang="en-UG" sz="1600" b="1" dirty="0"/>
              <a:t>Bias in Success Metrics:</a:t>
            </a:r>
            <a:r>
              <a:rPr lang="en-UG" sz="1600" dirty="0"/>
              <a:t> The study relies primarily on quantitative commercial metrics (revenue and conversions) to measure success, which may overlook the subjective customer experience that direct customer surveys would capture.</a:t>
            </a:r>
          </a:p>
          <a:p>
            <a:pPr lvl="0"/>
            <a:endParaRPr lang="en-UG" sz="1600" b="1" dirty="0"/>
          </a:p>
          <a:p>
            <a:endParaRPr lang="en-UG" sz="1600" dirty="0"/>
          </a:p>
        </p:txBody>
      </p:sp>
    </p:spTree>
    <p:extLst>
      <p:ext uri="{BB962C8B-B14F-4D97-AF65-F5344CB8AC3E}">
        <p14:creationId xmlns:p14="http://schemas.microsoft.com/office/powerpoint/2010/main" val="1115005140"/>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58DD13-C73F-1945-22B0-F7CB59C07B6F}"/>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CC02E64A-721F-9854-B1B3-01E0DE9B1B20}"/>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A684B3F-718D-E2C2-06A0-CBF232C21026}"/>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981624B5-C3A0-8C81-7336-113D1CA9A8CB}"/>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85B99669-86A9-1FA8-164D-17B6DFC3B5B2}"/>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A79A39FA-F3CF-C32C-40BB-06BE1CFF007F}"/>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977EC848-1F54-5922-ABCA-62E5FA85F965}"/>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Conclusion</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6E390D60-AD3E-84E2-5FF5-25377C920821}"/>
              </a:ext>
            </a:extLst>
          </p:cNvPr>
          <p:cNvSpPr txBox="1"/>
          <p:nvPr/>
        </p:nvSpPr>
        <p:spPr>
          <a:xfrm>
            <a:off x="42530" y="1745121"/>
            <a:ext cx="12106634" cy="3108543"/>
          </a:xfrm>
          <a:prstGeom prst="rect">
            <a:avLst/>
          </a:prstGeom>
          <a:noFill/>
        </p:spPr>
        <p:txBody>
          <a:bodyPr wrap="square" rtlCol="0">
            <a:spAutoFit/>
          </a:bodyPr>
          <a:lstStyle/>
          <a:p>
            <a:pPr lvl="0"/>
            <a:r>
              <a:rPr lang="en-UG" b="1" dirty="0"/>
              <a:t>Validated ML Framework:</a:t>
            </a:r>
            <a:r>
              <a:rPr lang="en-UG" dirty="0"/>
              <a:t> Delivered the first published, data-driven recommendation system for Uganda's prepaid market, analyzing 1.45 million subscriber records.</a:t>
            </a:r>
          </a:p>
          <a:p>
            <a:pPr lvl="0"/>
            <a:endParaRPr lang="en-UG" dirty="0"/>
          </a:p>
          <a:p>
            <a:pPr lvl="0"/>
            <a:r>
              <a:rPr lang="en-UG" b="1" dirty="0"/>
              <a:t>A Shift in Predictors:</a:t>
            </a:r>
            <a:r>
              <a:rPr lang="en-UG" dirty="0"/>
              <a:t> Proved that </a:t>
            </a:r>
            <a:r>
              <a:rPr lang="en-UG" b="1" dirty="0"/>
              <a:t>spend efficiency</a:t>
            </a:r>
            <a:r>
              <a:rPr lang="en-UG" dirty="0"/>
              <a:t> (SPEND_PER_MINUTE) and </a:t>
            </a:r>
            <a:r>
              <a:rPr lang="en-UG" b="1" dirty="0"/>
              <a:t>call frequency</a:t>
            </a:r>
            <a:r>
              <a:rPr lang="en-UG" dirty="0"/>
              <a:t> (VOICE_INTENSITY) are the most powerful behavioral triggers, challenging the traditional reliance on absolute spend (ARPU).</a:t>
            </a:r>
          </a:p>
          <a:p>
            <a:pPr lvl="0"/>
            <a:endParaRPr lang="en-UG" dirty="0"/>
          </a:p>
          <a:p>
            <a:pPr lvl="0"/>
            <a:r>
              <a:rPr lang="en-UG" b="1" dirty="0"/>
              <a:t>Massive Performance Gains:</a:t>
            </a:r>
            <a:r>
              <a:rPr lang="en-UG" dirty="0"/>
              <a:t> The XGBoost model achieved a 0.6611 F1-Score, representing a 5.4-fold improvement over random targeting and a </a:t>
            </a:r>
            <a:r>
              <a:rPr lang="en-UG" b="1" dirty="0"/>
              <a:t>22-fold improvement</a:t>
            </a:r>
            <a:r>
              <a:rPr lang="en-UG" dirty="0"/>
              <a:t> over current generic conversion rates.</a:t>
            </a:r>
          </a:p>
          <a:p>
            <a:pPr lvl="0"/>
            <a:endParaRPr lang="en-UG" dirty="0"/>
          </a:p>
          <a:p>
            <a:pPr lvl="0"/>
            <a:endParaRPr lang="en-UG" dirty="0"/>
          </a:p>
          <a:p>
            <a:endParaRPr lang="en-UG" sz="1600" dirty="0"/>
          </a:p>
        </p:txBody>
      </p:sp>
    </p:spTree>
    <p:extLst>
      <p:ext uri="{BB962C8B-B14F-4D97-AF65-F5344CB8AC3E}">
        <p14:creationId xmlns:p14="http://schemas.microsoft.com/office/powerpoint/2010/main" val="1187043805"/>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DF4CFF-DF34-90F7-266B-465FBA6473D1}"/>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385034F7-69D9-A1F3-1DF6-FF8B6DBFF4EE}"/>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1E5F1A98-3D3C-3ACF-4151-5AD6348E2FFA}"/>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18816849-205A-EB13-FB7B-328B785390F6}"/>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93A308A5-B40C-0FE9-6582-E33CE91B550E}"/>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a:extLst>
              <a:ext uri="{FF2B5EF4-FFF2-40B4-BE49-F238E27FC236}">
                <a16:creationId xmlns:a16="http://schemas.microsoft.com/office/drawing/2014/main" id="{27E84290-E433-D84C-2DCA-3E62E3989D83}"/>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 0">
            <a:extLst>
              <a:ext uri="{FF2B5EF4-FFF2-40B4-BE49-F238E27FC236}">
                <a16:creationId xmlns:a16="http://schemas.microsoft.com/office/drawing/2014/main" id="{CA709C38-DE4F-1266-C258-C28B29F59424}"/>
              </a:ext>
            </a:extLst>
          </p:cNvPr>
          <p:cNvSpPr/>
          <p:nvPr/>
        </p:nvSpPr>
        <p:spPr>
          <a:xfrm>
            <a:off x="0" y="118872"/>
            <a:ext cx="8473440" cy="731520"/>
          </a:xfrm>
          <a:prstGeom prst="rect">
            <a:avLst/>
          </a:prstGeom>
          <a:noFill/>
          <a:ln/>
        </p:spPr>
        <p:txBody>
          <a:bodyPr wrap="square" rtlCol="0" anchor="ctr"/>
          <a:lstStyle/>
          <a:p>
            <a:r>
              <a:rPr lang="en-US" sz="3600" b="1" dirty="0">
                <a:solidFill>
                  <a:srgbClr val="1E3A5F"/>
                </a:solidFill>
                <a:latin typeface="Trebuchet MS" panose="020B0603020202020204" pitchFamily="34" charset="0"/>
              </a:rPr>
              <a:t>Directions of Future Research</a:t>
            </a:r>
            <a:endParaRPr lang="en-US" sz="3600" dirty="0">
              <a:latin typeface="Trebuchet MS" panose="020B0603020202020204" pitchFamily="34" charset="0"/>
            </a:endParaRPr>
          </a:p>
        </p:txBody>
      </p:sp>
      <p:sp>
        <p:nvSpPr>
          <p:cNvPr id="7" name="TextBox 6">
            <a:extLst>
              <a:ext uri="{FF2B5EF4-FFF2-40B4-BE49-F238E27FC236}">
                <a16:creationId xmlns:a16="http://schemas.microsoft.com/office/drawing/2014/main" id="{936E6066-0FD8-7E17-8FB0-6B92D6CCDD0F}"/>
              </a:ext>
            </a:extLst>
          </p:cNvPr>
          <p:cNvSpPr txBox="1"/>
          <p:nvPr/>
        </p:nvSpPr>
        <p:spPr>
          <a:xfrm>
            <a:off x="85060" y="1067934"/>
            <a:ext cx="12106634" cy="3293209"/>
          </a:xfrm>
          <a:prstGeom prst="rect">
            <a:avLst/>
          </a:prstGeom>
          <a:noFill/>
        </p:spPr>
        <p:txBody>
          <a:bodyPr wrap="square" rtlCol="0">
            <a:spAutoFit/>
          </a:bodyPr>
          <a:lstStyle/>
          <a:p>
            <a:pPr lvl="0"/>
            <a:endParaRPr lang="en-UG" sz="1600" dirty="0"/>
          </a:p>
          <a:p>
            <a:pPr lvl="0"/>
            <a:r>
              <a:rPr lang="en-UG" sz="1600" b="1" dirty="0"/>
              <a:t>Live Commercial Validation:</a:t>
            </a:r>
            <a:r>
              <a:rPr lang="en-UG" sz="1600" dirty="0"/>
              <a:t> Execute a live A/B test to empirically confirm the projected business impacts and return on investment.</a:t>
            </a:r>
          </a:p>
          <a:p>
            <a:pPr lvl="0"/>
            <a:endParaRPr lang="en-UG" sz="1600" dirty="0"/>
          </a:p>
          <a:p>
            <a:pPr lvl="0"/>
            <a:r>
              <a:rPr lang="en-UG" sz="1600" b="1" dirty="0"/>
              <a:t>Historical Data Integration:</a:t>
            </a:r>
            <a:r>
              <a:rPr lang="en-UG" sz="1600" dirty="0"/>
              <a:t> Utilize historical product catalogs to resolve matching discrepancies and fully capture complex bundle-switching behaviors.</a:t>
            </a:r>
          </a:p>
          <a:p>
            <a:pPr lvl="0"/>
            <a:endParaRPr lang="en-UG" sz="1600" dirty="0"/>
          </a:p>
          <a:p>
            <a:pPr lvl="0"/>
            <a:r>
              <a:rPr lang="en-UG" sz="1600" b="1" dirty="0"/>
              <a:t>Deep Reinforcement Learning (DRL):</a:t>
            </a:r>
            <a:r>
              <a:rPr lang="en-UG" sz="1600" dirty="0"/>
              <a:t> Evolve the framework by deploying DRL agents that dynamically learn and optimize for long-term customer lifetime value.</a:t>
            </a:r>
          </a:p>
          <a:p>
            <a:pPr lvl="0"/>
            <a:endParaRPr lang="en-UG" sz="1600" dirty="0"/>
          </a:p>
          <a:p>
            <a:pPr lvl="0"/>
            <a:r>
              <a:rPr lang="en-UG" sz="1600" b="1" dirty="0"/>
              <a:t>Geographic Expansion:</a:t>
            </a:r>
            <a:r>
              <a:rPr lang="en-UG" sz="1600" dirty="0"/>
              <a:t> Broaden the data scope to Northern, Western, and Eastern Uganda to test if the identified trigger signals are nationally generalizable.</a:t>
            </a:r>
          </a:p>
          <a:p>
            <a:pPr lvl="0"/>
            <a:endParaRPr lang="en-UG" sz="1600" dirty="0"/>
          </a:p>
          <a:p>
            <a:endParaRPr lang="en-UG" sz="1600" dirty="0"/>
          </a:p>
        </p:txBody>
      </p:sp>
    </p:spTree>
    <p:extLst>
      <p:ext uri="{BB962C8B-B14F-4D97-AF65-F5344CB8AC3E}">
        <p14:creationId xmlns:p14="http://schemas.microsoft.com/office/powerpoint/2010/main" val="3435733921"/>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77B16E-68EB-BC97-23E1-E6BE1F361D55}"/>
            </a:ext>
          </a:extLst>
        </p:cNvPr>
        <p:cNvGrpSpPr/>
        <p:nvPr/>
      </p:nvGrpSpPr>
      <p:grpSpPr>
        <a:xfrm>
          <a:off x="0" y="0"/>
          <a:ext cx="0" cy="0"/>
          <a:chOff x="0" y="0"/>
          <a:chExt cx="0" cy="0"/>
        </a:xfrm>
      </p:grpSpPr>
      <p:sp>
        <p:nvSpPr>
          <p:cNvPr id="3" name="Rectangle 2">
            <a:extLst>
              <a:ext uri="{FF2B5EF4-FFF2-40B4-BE49-F238E27FC236}">
                <a16:creationId xmlns:a16="http://schemas.microsoft.com/office/drawing/2014/main" id="{22B1234D-52FA-3CDD-4965-4177B2A504C3}"/>
              </a:ext>
            </a:extLst>
          </p:cNvPr>
          <p:cNvSpPr/>
          <p:nvPr/>
        </p:nvSpPr>
        <p:spPr>
          <a:xfrm flipV="1">
            <a:off x="0" y="799462"/>
            <a:ext cx="1404906" cy="75907"/>
          </a:xfrm>
          <a:prstGeom prst="rect">
            <a:avLst/>
          </a:prstGeom>
          <a:solidFill>
            <a:srgbClr val="D6005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a:extLst>
              <a:ext uri="{FF2B5EF4-FFF2-40B4-BE49-F238E27FC236}">
                <a16:creationId xmlns:a16="http://schemas.microsoft.com/office/drawing/2014/main" id="{0DBDE92F-72B5-7DC0-4865-A1F59F9638C9}"/>
              </a:ext>
            </a:extLst>
          </p:cNvPr>
          <p:cNvSpPr/>
          <p:nvPr/>
        </p:nvSpPr>
        <p:spPr>
          <a:xfrm>
            <a:off x="1404906" y="799462"/>
            <a:ext cx="1404905" cy="75907"/>
          </a:xfrm>
          <a:prstGeom prst="rect">
            <a:avLst/>
          </a:prstGeom>
          <a:solidFill>
            <a:srgbClr val="FFCC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a:extLst>
              <a:ext uri="{FF2B5EF4-FFF2-40B4-BE49-F238E27FC236}">
                <a16:creationId xmlns:a16="http://schemas.microsoft.com/office/drawing/2014/main" id="{668E60C3-78B9-7EE0-D79B-07C3A2A19367}"/>
              </a:ext>
            </a:extLst>
          </p:cNvPr>
          <p:cNvSpPr/>
          <p:nvPr/>
        </p:nvSpPr>
        <p:spPr>
          <a:xfrm>
            <a:off x="2809811" y="799461"/>
            <a:ext cx="9381883" cy="75907"/>
          </a:xfrm>
          <a:prstGeom prst="rect">
            <a:avLst/>
          </a:prstGeom>
          <a:solidFill>
            <a:srgbClr val="003D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a:extLst>
              <a:ext uri="{FF2B5EF4-FFF2-40B4-BE49-F238E27FC236}">
                <a16:creationId xmlns:a16="http://schemas.microsoft.com/office/drawing/2014/main" id="{8ED4A783-B209-6468-7C77-0689352E674D}"/>
              </a:ext>
            </a:extLst>
          </p:cNvPr>
          <p:cNvSpPr/>
          <p:nvPr/>
        </p:nvSpPr>
        <p:spPr>
          <a:xfrm>
            <a:off x="0" y="6355080"/>
            <a:ext cx="12191695" cy="18288"/>
          </a:xfrm>
          <a:prstGeom prst="rect">
            <a:avLst/>
          </a:prstGeom>
          <a:solidFill>
            <a:srgbClr val="DC14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a:extLst>
              <a:ext uri="{FF2B5EF4-FFF2-40B4-BE49-F238E27FC236}">
                <a16:creationId xmlns:a16="http://schemas.microsoft.com/office/drawing/2014/main" id="{07D771B5-375E-1A9A-73F0-88A1FCB1AC10}"/>
              </a:ext>
            </a:extLst>
          </p:cNvPr>
          <p:cNvPicPr>
            <a:picLocks noChangeAspect="1"/>
          </p:cNvPicPr>
          <p:nvPr/>
        </p:nvPicPr>
        <p:blipFill>
          <a:blip r:embed="rId2"/>
          <a:stretch>
            <a:fillRect/>
          </a:stretch>
        </p:blipFill>
        <p:spPr>
          <a:xfrm>
            <a:off x="3205383" y="4020757"/>
            <a:ext cx="4876800" cy="1485900"/>
          </a:xfrm>
          <a:prstGeom prst="rect">
            <a:avLst/>
          </a:prstGeom>
        </p:spPr>
      </p:pic>
      <p:pic>
        <p:nvPicPr>
          <p:cNvPr id="12" name="Picture 11">
            <a:extLst>
              <a:ext uri="{FF2B5EF4-FFF2-40B4-BE49-F238E27FC236}">
                <a16:creationId xmlns:a16="http://schemas.microsoft.com/office/drawing/2014/main" id="{2D9AD099-9DB7-0C7C-6E8B-013B0D9E4DD2}"/>
              </a:ext>
            </a:extLst>
          </p:cNvPr>
          <p:cNvPicPr>
            <a:picLocks noChangeAspect="1"/>
          </p:cNvPicPr>
          <p:nvPr/>
        </p:nvPicPr>
        <p:blipFill>
          <a:blip r:embed="rId3"/>
          <a:stretch>
            <a:fillRect/>
          </a:stretch>
        </p:blipFill>
        <p:spPr>
          <a:xfrm>
            <a:off x="8750364" y="-121022"/>
            <a:ext cx="3441636" cy="1050765"/>
          </a:xfrm>
          <a:prstGeom prst="rect">
            <a:avLst/>
          </a:prstGeom>
        </p:spPr>
      </p:pic>
      <p:sp>
        <p:nvSpPr>
          <p:cNvPr id="2" name="TextBox 1">
            <a:extLst>
              <a:ext uri="{FF2B5EF4-FFF2-40B4-BE49-F238E27FC236}">
                <a16:creationId xmlns:a16="http://schemas.microsoft.com/office/drawing/2014/main" id="{401CF68A-C2E7-1273-A2C5-F6CC96430378}"/>
              </a:ext>
            </a:extLst>
          </p:cNvPr>
          <p:cNvSpPr txBox="1"/>
          <p:nvPr/>
        </p:nvSpPr>
        <p:spPr>
          <a:xfrm>
            <a:off x="5067087" y="2467912"/>
            <a:ext cx="1153393" cy="369332"/>
          </a:xfrm>
          <a:prstGeom prst="rect">
            <a:avLst/>
          </a:prstGeom>
          <a:noFill/>
        </p:spPr>
        <p:txBody>
          <a:bodyPr wrap="none" rtlCol="0">
            <a:spAutoFit/>
          </a:bodyPr>
          <a:lstStyle/>
          <a:p>
            <a:r>
              <a:rPr lang="en-UG" dirty="0"/>
              <a:t>Thank you</a:t>
            </a:r>
          </a:p>
        </p:txBody>
      </p:sp>
    </p:spTree>
    <p:extLst>
      <p:ext uri="{BB962C8B-B14F-4D97-AF65-F5344CB8AC3E}">
        <p14:creationId xmlns:p14="http://schemas.microsoft.com/office/powerpoint/2010/main" val="2543503069"/>
      </p:ext>
    </p:extLst>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25329</TotalTime>
  <Words>10004</Words>
  <Application>Microsoft Macintosh PowerPoint</Application>
  <PresentationFormat>Widescreen</PresentationFormat>
  <Paragraphs>608</Paragraphs>
  <Slides>16</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Microsoft Office User</cp:lastModifiedBy>
  <cp:revision>10</cp:revision>
  <dcterms:created xsi:type="dcterms:W3CDTF">2013-01-27T09:14:16Z</dcterms:created>
  <dcterms:modified xsi:type="dcterms:W3CDTF">2026-08-08T10:07:00Z</dcterms:modified>
  <cp:category/>
</cp:coreProperties>
</file>