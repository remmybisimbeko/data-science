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23"/>
    <p:restoredTop sz="96132"/>
  </p:normalViewPr>
  <p:slideViewPr>
    <p:cSldViewPr snapToGrid="0" snapToObjects="1">
      <p:cViewPr varScale="1">
        <p:scale>
          <a:sx n="121" d="100"/>
          <a:sy n="121" d="100"/>
        </p:scale>
        <p:origin x="39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F1-Score</c:v>
                </c:pt>
              </c:strCache>
            </c:strRef>
          </c:tx>
          <c:spPr>
            <a:solidFill>
              <a:srgbClr val="8593AD">
                <a:alpha val="100000"/>
              </a:srgbClr>
            </a:solidFill>
            <a:effectLst/>
          </c:spPr>
          <c:invertIfNegative val="0"/>
          <c:dPt>
            <c:idx val="0"/>
            <c:invertIfNegative val="0"/>
            <c:bubble3D val="0"/>
            <c:spPr>
              <a:solidFill>
                <a:srgbClr val="8593AD"/>
              </a:solidFill>
              <a:effectLst/>
            </c:spPr>
            <c:extLst>
              <c:ext xmlns:c16="http://schemas.microsoft.com/office/drawing/2014/chart" uri="{C3380CC4-5D6E-409C-BE32-E72D297353CC}">
                <c16:uniqueId val="{00000001-7483-1F46-8EA9-7988AE11D627}"/>
              </c:ext>
            </c:extLst>
          </c:dPt>
          <c:dPt>
            <c:idx val="1"/>
            <c:invertIfNegative val="0"/>
            <c:bubble3D val="0"/>
            <c:spPr>
              <a:solidFill>
                <a:srgbClr val="8593AD"/>
              </a:solidFill>
              <a:effectLst/>
            </c:spPr>
            <c:extLst>
              <c:ext xmlns:c16="http://schemas.microsoft.com/office/drawing/2014/chart" uri="{C3380CC4-5D6E-409C-BE32-E72D297353CC}">
                <c16:uniqueId val="{00000003-7483-1F46-8EA9-7988AE11D627}"/>
              </c:ext>
            </c:extLst>
          </c:dPt>
          <c:dPt>
            <c:idx val="2"/>
            <c:invertIfNegative val="0"/>
            <c:bubble3D val="0"/>
            <c:spPr>
              <a:solidFill>
                <a:srgbClr val="8593AD"/>
              </a:solidFill>
              <a:effectLst/>
            </c:spPr>
            <c:extLst>
              <c:ext xmlns:c16="http://schemas.microsoft.com/office/drawing/2014/chart" uri="{C3380CC4-5D6E-409C-BE32-E72D297353CC}">
                <c16:uniqueId val="{00000005-7483-1F46-8EA9-7988AE11D627}"/>
              </c:ext>
            </c:extLst>
          </c:dPt>
          <c:dPt>
            <c:idx val="3"/>
            <c:invertIfNegative val="0"/>
            <c:bubble3D val="0"/>
            <c:spPr>
              <a:solidFill>
                <a:srgbClr val="E40000"/>
              </a:solidFill>
              <a:effectLst/>
            </c:spPr>
            <c:extLst>
              <c:ext xmlns:c16="http://schemas.microsoft.com/office/drawing/2014/chart" uri="{C3380CC4-5D6E-409C-BE32-E72D297353CC}">
                <c16:uniqueId val="{00000007-7483-1F46-8EA9-7988AE11D627}"/>
              </c:ext>
            </c:extLst>
          </c:dPt>
          <c:dLbls>
            <c:numFmt formatCode="#,##0" sourceLinked="0"/>
            <c:spPr>
              <a:noFill/>
              <a:ln>
                <a:noFill/>
              </a:ln>
              <a:effectLst/>
            </c:spPr>
            <c:txPr>
              <a:bodyPr/>
              <a:lstStyle/>
              <a:p>
                <a:pPr>
                  <a:defRPr sz="1300" b="1" i="0" u="none" strike="noStrike">
                    <a:solidFill>
                      <a:srgbClr val="1E2761"/>
                    </a:solidFill>
                    <a:latin typeface="Arial"/>
                  </a:defRPr>
                </a:pPr>
                <a:endParaRPr lang="en-UG"/>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Logistic Regression</c:v>
                </c:pt>
                <c:pt idx="1">
                  <c:v>Decision Tree</c:v>
                </c:pt>
                <c:pt idx="2">
                  <c:v>Random Forest</c:v>
                </c:pt>
                <c:pt idx="3">
                  <c:v>XGBoost</c:v>
                </c:pt>
              </c:strCache>
            </c:strRef>
          </c:cat>
          <c:val>
            <c:numRef>
              <c:f>Sheet1!$B$2:$B$5</c:f>
              <c:numCache>
                <c:formatCode>General</c:formatCode>
                <c:ptCount val="4"/>
                <c:pt idx="0">
                  <c:v>0.44650000000000001</c:v>
                </c:pt>
                <c:pt idx="1">
                  <c:v>0.63439999999999996</c:v>
                </c:pt>
                <c:pt idx="2">
                  <c:v>0.6522</c:v>
                </c:pt>
                <c:pt idx="3">
                  <c:v>0.66110000000000002</c:v>
                </c:pt>
              </c:numCache>
            </c:numRef>
          </c:val>
          <c:extLst>
            <c:ext xmlns:c16="http://schemas.microsoft.com/office/drawing/2014/chart" uri="{C3380CC4-5D6E-409C-BE32-E72D297353CC}">
              <c16:uniqueId val="{00000008-7483-1F46-8EA9-7988AE11D62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2761"/>
                </a:solidFill>
                <a:latin typeface="Arial"/>
              </a:defRPr>
            </a:pPr>
            <a:endParaRPr lang="en-US"/>
          </a:p>
        </c:txPr>
        <c:crossAx val="2094734552"/>
        <c:crosses val="autoZero"/>
        <c:auto val="1"/>
        <c:lblAlgn val="ctr"/>
        <c:lblOffset val="100"/>
        <c:noMultiLvlLbl val="1"/>
      </c:catAx>
      <c:valAx>
        <c:axId val="2094734552"/>
        <c:scaling>
          <c:orientation val="minMax"/>
          <c:max val="0.8"/>
          <c:min val="0"/>
        </c:scaling>
        <c:delete val="0"/>
        <c:axPos val="l"/>
        <c:majorGridlines>
          <c:spPr>
            <a:ln w="12700" cap="flat">
              <a:solidFill>
                <a:srgbClr val="E4E9F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47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Importance (%)</c:v>
                </c:pt>
              </c:strCache>
            </c:strRef>
          </c:tx>
          <c:spPr>
            <a:solidFill>
              <a:srgbClr val="8593AD"/>
            </a:solidFill>
            <a:effectLst/>
          </c:spPr>
          <c:invertIfNegative val="0"/>
          <c:dPt>
            <c:idx val="0"/>
            <c:invertIfNegative val="0"/>
            <c:bubble3D val="0"/>
            <c:extLst>
              <c:ext xmlns:c16="http://schemas.microsoft.com/office/drawing/2014/chart" uri="{C3380CC4-5D6E-409C-BE32-E72D297353CC}">
                <c16:uniqueId val="{00000001-B5D9-E342-AE1E-FE3D85B27340}"/>
              </c:ext>
            </c:extLst>
          </c:dPt>
          <c:dPt>
            <c:idx val="1"/>
            <c:invertIfNegative val="0"/>
            <c:bubble3D val="0"/>
            <c:spPr>
              <a:solidFill>
                <a:srgbClr val="E40000"/>
              </a:solidFill>
              <a:effectLst/>
            </c:spPr>
            <c:extLst>
              <c:ext xmlns:c16="http://schemas.microsoft.com/office/drawing/2014/chart" uri="{C3380CC4-5D6E-409C-BE32-E72D297353CC}">
                <c16:uniqueId val="{00000003-B5D9-E342-AE1E-FE3D85B27340}"/>
              </c:ext>
            </c:extLst>
          </c:dPt>
          <c:dPt>
            <c:idx val="2"/>
            <c:invertIfNegative val="0"/>
            <c:bubble3D val="0"/>
            <c:extLst>
              <c:ext xmlns:c16="http://schemas.microsoft.com/office/drawing/2014/chart" uri="{C3380CC4-5D6E-409C-BE32-E72D297353CC}">
                <c16:uniqueId val="{00000005-B5D9-E342-AE1E-FE3D85B27340}"/>
              </c:ext>
            </c:extLst>
          </c:dPt>
          <c:dPt>
            <c:idx val="3"/>
            <c:invertIfNegative val="0"/>
            <c:bubble3D val="0"/>
            <c:spPr>
              <a:solidFill>
                <a:srgbClr val="E40000"/>
              </a:solidFill>
              <a:effectLst/>
            </c:spPr>
            <c:extLst>
              <c:ext xmlns:c16="http://schemas.microsoft.com/office/drawing/2014/chart" uri="{C3380CC4-5D6E-409C-BE32-E72D297353CC}">
                <c16:uniqueId val="{00000007-B5D9-E342-AE1E-FE3D85B27340}"/>
              </c:ext>
            </c:extLst>
          </c:dPt>
          <c:dPt>
            <c:idx val="4"/>
            <c:invertIfNegative val="0"/>
            <c:bubble3D val="0"/>
            <c:spPr>
              <a:solidFill>
                <a:srgbClr val="1E2761"/>
              </a:solidFill>
              <a:effectLst/>
            </c:spPr>
            <c:extLst>
              <c:ext xmlns:c16="http://schemas.microsoft.com/office/drawing/2014/chart" uri="{C3380CC4-5D6E-409C-BE32-E72D297353CC}">
                <c16:uniqueId val="{00000009-B5D9-E342-AE1E-FE3D85B27340}"/>
              </c:ext>
            </c:extLst>
          </c:dPt>
          <c:dLbls>
            <c:numFmt formatCode="#,##0" sourceLinked="0"/>
            <c:spPr>
              <a:noFill/>
              <a:ln>
                <a:noFill/>
              </a:ln>
              <a:effectLst/>
            </c:spPr>
            <c:txPr>
              <a:bodyPr/>
              <a:lstStyle/>
              <a:p>
                <a:pPr>
                  <a:defRPr sz="1200" b="1" i="0" u="none" strike="noStrike">
                    <a:solidFill>
                      <a:srgbClr val="1E2761"/>
                    </a:solidFill>
                    <a:latin typeface="Arial"/>
                  </a:defRPr>
                </a:pPr>
                <a:endParaRPr lang="en-UG"/>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MOBILE_MONEY</c:v>
                </c:pt>
                <c:pt idx="1">
                  <c:v>VOICE_INTENSITY</c:v>
                </c:pt>
                <c:pt idx="2">
                  <c:v>CALLS</c:v>
                </c:pt>
                <c:pt idx="3">
                  <c:v>SPEND_PER_MINUTE</c:v>
                </c:pt>
                <c:pt idx="4">
                  <c:v>TOTAL_REVENUE</c:v>
                </c:pt>
              </c:strCache>
            </c:strRef>
          </c:cat>
          <c:val>
            <c:numRef>
              <c:f>Sheet1!$B$2:$B$6</c:f>
              <c:numCache>
                <c:formatCode>General</c:formatCode>
                <c:ptCount val="5"/>
                <c:pt idx="0">
                  <c:v>4.6399999999999997</c:v>
                </c:pt>
                <c:pt idx="1">
                  <c:v>5.87</c:v>
                </c:pt>
                <c:pt idx="2">
                  <c:v>5.97</c:v>
                </c:pt>
                <c:pt idx="3">
                  <c:v>6.57</c:v>
                </c:pt>
                <c:pt idx="4">
                  <c:v>18.010000000000002</c:v>
                </c:pt>
              </c:numCache>
            </c:numRef>
          </c:val>
          <c:extLst>
            <c:ext xmlns:c16="http://schemas.microsoft.com/office/drawing/2014/chart" uri="{C3380CC4-5D6E-409C-BE32-E72D297353CC}">
              <c16:uniqueId val="{0000000A-B5D9-E342-AE1E-FE3D85B2734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E2761"/>
                </a:solidFill>
                <a:latin typeface="Arial"/>
              </a:defRPr>
            </a:pPr>
            <a:endParaRPr lang="en-US"/>
          </a:p>
        </c:txPr>
        <c:crossAx val="2094734552"/>
        <c:crosses val="autoZero"/>
        <c:auto val="1"/>
        <c:lblAlgn val="ctr"/>
        <c:lblOffset val="100"/>
        <c:noMultiLvlLbl val="1"/>
      </c:catAx>
      <c:valAx>
        <c:axId val="2094734552"/>
        <c:scaling>
          <c:orientation val="minMax"/>
          <c:max val="20"/>
        </c:scaling>
        <c:delete val="0"/>
        <c:axPos val="b"/>
        <c:majorGridlines>
          <c:spPr>
            <a:ln w="12700" cap="flat">
              <a:solidFill>
                <a:srgbClr val="E4E9F4"/>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647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67277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panel. My name is Bisimbeko Remmy and today I present my MSc thesis on leveraging machine learning for personalised voice bundle recommendations, a case study of Airtel Uganda. [30 seconds — move fast]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problem: Airtel's campaigns convert below 3%, wasting roughly a fifth of marketing spend. The root cause is ARPU-banded targeting that ignores behaviour. And academically — no validated ML recommendation framework exists for the Ugandan prepaid market. That is the gap this study fills. [90 seconds]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objectives, each with a testable hypothesis: identify the predictive attributes, find the best model, and translate outputs into strategy. Each maps directly to a results section you will see. [60 seconds]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Methodology in 5 steps. Key defensible choices: cluster-based sampling preserved complete 90-day histories per subscriber; SMOTE was CAPPED at 50K synthetic samples per minority class to avoid dataset explosion; Spearman over Pearson because behavioural data is non-normal; the target segments are ordinal. The qualitative strand triangulates feasibility. [2 minutes]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production data — not synthetic, not public benchmarks. 1.46 million subscribers with full 90-day transaction histories, extracted by me under a formal Data Use Agreement, fully anonymised. Sample size vastly exceeds the Cochran minimum of 385. [60 seconds]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 verdict: overwhelming evidence — but I present it honestly. With 1.46 million records, statistical power makes almost everything significant, so the substantive story is the RANKING of effect sizes. Smartphone ownership, recent bundle spend, and active days lead. And UPGRADE_RATE being non-significant is a genuinely interesting null result. [90 seconds]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models, same pipeline, same split. XGBoost wins on every weighted metric. Panel will ask about the 0.82 benchmark — my answer: that figure comes from BINARY churn tasks; mine is 8-class with extreme imbalance (34 Diamond vs 777K Silver). Against the honest baseline — 12.5% random for 8 classes — we achieve a 5.4-fold improvement. [2 minutes]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study's central contribution. Yes, TOTAL_REVENUE leads — expected, since segments are partly revenue-defined. The interesting result is SPEND_PER_MINUTE: an engineered efficiency ratio beating raw activity counts. This directly challenges ARPU banding. And VOICE_INTENSITY is network-observable in real time — that becomes Recommendation 1. [60 seconds]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careful with the word 'projected'. These figures derive from the model's 0.67 precision on the hold-out set and external benchmarks — NOT from a live deployment. That is why H3 is 'preliminarily supported' and why Recommendation 3 is a formal A/B test. Being upfront about this is a strength, not a weakness. [60 seconds]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 1 operationalises the two engineered features directly. Recommendation 2 is deliberately zero-cost — every variable already sits in Airtel's production tables. Recommendation 3 closes the evidence gap on H3. Together they form a deployment pathway, not just findings. [60 seconds]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the coordinator's guidance — I name my limitations before the panel does. Each one comes with either a mitigation already applied or a concrete fix in future work. If a panellist raises something I missed, I acknowledge it. [45 seconds]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contribution — first of its kind for Uganda, honest about limits, deployable by design, fully reproducible on GitHub. Then hand over to questions with confidence. [30 seconds] TOTAL: ~12 minutes.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731520" y="685800"/>
            <a:ext cx="10698480" cy="365760"/>
          </a:xfrm>
          <a:prstGeom prst="rect">
            <a:avLst/>
          </a:prstGeom>
          <a:noFill/>
          <a:ln/>
        </p:spPr>
        <p:txBody>
          <a:bodyPr wrap="square" lIns="0" tIns="0" rIns="0" bIns="0" rtlCol="0" anchor="ctr"/>
          <a:lstStyle/>
          <a:p>
            <a:pPr marL="0" indent="0">
              <a:buNone/>
            </a:pPr>
            <a:r>
              <a:rPr lang="en-US" sz="1400" b="1" kern="0" spc="300" dirty="0">
                <a:solidFill>
                  <a:srgbClr val="E40000"/>
                </a:solidFill>
                <a:latin typeface="Calibri" pitchFamily="34" charset="0"/>
                <a:ea typeface="Calibri" pitchFamily="34" charset="-122"/>
                <a:cs typeface="Calibri" pitchFamily="34" charset="-120"/>
              </a:rPr>
              <a:t>MSc THESIS DEFENSE</a:t>
            </a:r>
            <a:endParaRPr lang="en-US" sz="1400" dirty="0"/>
          </a:p>
        </p:txBody>
      </p:sp>
      <p:sp>
        <p:nvSpPr>
          <p:cNvPr id="3" name="Text 1"/>
          <p:cNvSpPr/>
          <p:nvPr/>
        </p:nvSpPr>
        <p:spPr>
          <a:xfrm>
            <a:off x="731520" y="1234440"/>
            <a:ext cx="10698480" cy="1554480"/>
          </a:xfrm>
          <a:prstGeom prst="rect">
            <a:avLst/>
          </a:prstGeom>
          <a:noFill/>
          <a:ln/>
        </p:spPr>
        <p:txBody>
          <a:bodyPr wrap="square" lIns="0" tIns="0" rIns="0" bIns="0" rtlCol="0" anchor="ctr"/>
          <a:lstStyle/>
          <a:p>
            <a:pPr marL="0" indent="0">
              <a:lnSpc>
                <a:spcPts val="4000"/>
              </a:lnSpc>
              <a:buNone/>
            </a:pPr>
            <a:r>
              <a:rPr lang="en-US" sz="3300" b="1" dirty="0">
                <a:solidFill>
                  <a:srgbClr val="FFFFFF"/>
                </a:solidFill>
                <a:latin typeface="Cambria" pitchFamily="34" charset="0"/>
                <a:ea typeface="Cambria" pitchFamily="34" charset="-122"/>
                <a:cs typeface="Cambria" pitchFamily="34" charset="-120"/>
              </a:rPr>
              <a:t>Leveraging Machine Learning for Data-Driven and Personalised Voice Bundle Recommendations</a:t>
            </a:r>
            <a:endParaRPr lang="en-US" sz="3300" dirty="0"/>
          </a:p>
        </p:txBody>
      </p:sp>
      <p:sp>
        <p:nvSpPr>
          <p:cNvPr id="4" name="Text 2"/>
          <p:cNvSpPr/>
          <p:nvPr/>
        </p:nvSpPr>
        <p:spPr>
          <a:xfrm>
            <a:off x="731520" y="2880360"/>
            <a:ext cx="10058400" cy="777240"/>
          </a:xfrm>
          <a:prstGeom prst="rect">
            <a:avLst/>
          </a:prstGeom>
          <a:noFill/>
          <a:ln/>
        </p:spPr>
        <p:txBody>
          <a:bodyPr wrap="square" lIns="0" tIns="0" rIns="0" bIns="0"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Improving Customer Satisfaction and Informing Business Decisions for Revenue Optimisation — A Case Study of Airtel Uganda Limited</a:t>
            </a:r>
            <a:endParaRPr lang="en-US" sz="1600" dirty="0"/>
          </a:p>
        </p:txBody>
      </p:sp>
      <p:sp>
        <p:nvSpPr>
          <p:cNvPr id="5" name="Text 3"/>
          <p:cNvSpPr/>
          <p:nvPr/>
        </p:nvSpPr>
        <p:spPr>
          <a:xfrm>
            <a:off x="731520" y="4206240"/>
            <a:ext cx="7772400" cy="1463040"/>
          </a:xfrm>
          <a:prstGeom prst="rect">
            <a:avLst/>
          </a:prstGeom>
          <a:noFill/>
          <a:ln/>
        </p:spPr>
        <p:txBody>
          <a:bodyPr wrap="square" lIns="0" tIns="0" rIns="0" bIns="0" rtlCol="0" anchor="ctr"/>
          <a:lstStyle/>
          <a:p>
            <a:pPr marL="0" indent="0">
              <a:spcAft>
                <a:spcPts val="400"/>
              </a:spcAft>
              <a:buNone/>
            </a:pPr>
            <a:r>
              <a:rPr lang="en-US" sz="1800" b="1" dirty="0">
                <a:solidFill>
                  <a:srgbClr val="FFFFFF"/>
                </a:solidFill>
                <a:latin typeface="Calibri" pitchFamily="34" charset="0"/>
                <a:ea typeface="Calibri" pitchFamily="34" charset="-122"/>
                <a:cs typeface="Calibri" pitchFamily="34" charset="-120"/>
              </a:rPr>
              <a:t>Bisimbeko Remmy</a:t>
            </a:r>
            <a:endParaRPr lang="en-US" sz="1800" dirty="0"/>
          </a:p>
          <a:p>
            <a:pPr marL="0" indent="0">
              <a:spcAft>
                <a:spcPts val="400"/>
              </a:spcAft>
              <a:buNone/>
            </a:pPr>
            <a:r>
              <a:rPr lang="en-US" sz="1300" dirty="0">
                <a:solidFill>
                  <a:srgbClr val="CADCFC"/>
                </a:solidFill>
                <a:latin typeface="Calibri" pitchFamily="34" charset="0"/>
                <a:ea typeface="Calibri" pitchFamily="34" charset="-122"/>
                <a:cs typeface="Calibri" pitchFamily="34" charset="-120"/>
              </a:rPr>
              <a:t>Reg No: J24MD19/007  |  Student No: B26099</a:t>
            </a:r>
            <a:endParaRPr lang="en-US" sz="1800" dirty="0"/>
          </a:p>
          <a:p>
            <a:pPr marL="0" indent="0">
              <a:spcAft>
                <a:spcPts val="400"/>
              </a:spcAft>
              <a:buNone/>
            </a:pPr>
            <a:r>
              <a:rPr lang="en-US" sz="1300" dirty="0">
                <a:solidFill>
                  <a:srgbClr val="CADCFC"/>
                </a:solidFill>
                <a:latin typeface="Calibri" pitchFamily="34" charset="0"/>
                <a:ea typeface="Calibri" pitchFamily="34" charset="-122"/>
                <a:cs typeface="Calibri" pitchFamily="34" charset="-120"/>
              </a:rPr>
              <a:t>MSc Data Science and Analytics — Uganda Christian University</a:t>
            </a:r>
            <a:endParaRPr lang="en-US" sz="1800" dirty="0"/>
          </a:p>
          <a:p>
            <a:pPr marL="0" indent="0">
              <a:spcAft>
                <a:spcPts val="400"/>
              </a:spcAft>
              <a:buNone/>
            </a:pPr>
            <a:r>
              <a:rPr lang="en-US" sz="1300" dirty="0">
                <a:solidFill>
                  <a:srgbClr val="CADCFC"/>
                </a:solidFill>
                <a:latin typeface="Calibri" pitchFamily="34" charset="0"/>
                <a:ea typeface="Calibri" pitchFamily="34" charset="-122"/>
                <a:cs typeface="Calibri" pitchFamily="34" charset="-120"/>
              </a:rPr>
              <a:t>Supervisor: Dr. Daphne Nyachaki Bitalo</a:t>
            </a:r>
            <a:endParaRPr lang="en-US" sz="1800" dirty="0"/>
          </a:p>
        </p:txBody>
      </p:sp>
      <p:sp>
        <p:nvSpPr>
          <p:cNvPr id="6" name="Text 4"/>
          <p:cNvSpPr/>
          <p:nvPr/>
        </p:nvSpPr>
        <p:spPr>
          <a:xfrm>
            <a:off x="731520" y="6035040"/>
            <a:ext cx="5486400" cy="365760"/>
          </a:xfrm>
          <a:prstGeom prst="rect">
            <a:avLst/>
          </a:prstGeom>
          <a:noFill/>
          <a:ln/>
        </p:spPr>
        <p:txBody>
          <a:bodyPr wrap="square" lIns="0" tIns="0" rIns="0" bIns="0" rtlCol="0" anchor="ctr"/>
          <a:lstStyle/>
          <a:p>
            <a:pPr marL="0" indent="0">
              <a:buNone/>
            </a:pPr>
            <a:r>
              <a:rPr lang="en-US" sz="1300" dirty="0">
                <a:solidFill>
                  <a:srgbClr val="5A6478"/>
                </a:solidFill>
                <a:latin typeface="Calibri" pitchFamily="34" charset="0"/>
                <a:ea typeface="Calibri" pitchFamily="34" charset="-122"/>
                <a:cs typeface="Calibri" pitchFamily="34" charset="-120"/>
              </a:rPr>
              <a:t>Thursday, 23rd July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320040"/>
          </a:xfrm>
          <a:prstGeom prst="rect">
            <a:avLst/>
          </a:prstGeom>
          <a:noFill/>
          <a:ln/>
        </p:spPr>
        <p:txBody>
          <a:bodyPr wrap="square" lIns="0" tIns="0" rIns="0" bIns="0" rtlCol="0" anchor="ctr"/>
          <a:lstStyle/>
          <a:p>
            <a:pPr marL="0" indent="0">
              <a:buNone/>
            </a:pPr>
            <a:r>
              <a:rPr lang="en-US" sz="1200" b="1" kern="0" spc="200" dirty="0">
                <a:solidFill>
                  <a:srgbClr val="E40000"/>
                </a:solidFill>
                <a:latin typeface="Calibri" pitchFamily="34" charset="0"/>
                <a:ea typeface="Calibri" pitchFamily="34" charset="-122"/>
                <a:cs typeface="Calibri" pitchFamily="34" charset="-120"/>
              </a:rPr>
              <a:t>01 · PROBLEM</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The Problem: Generic Offers, Wasted Budget</a:t>
            </a:r>
            <a:endParaRPr lang="en-US" sz="3000" dirty="0"/>
          </a:p>
        </p:txBody>
      </p:sp>
      <p:sp>
        <p:nvSpPr>
          <p:cNvPr id="4" name="Shape 2"/>
          <p:cNvSpPr/>
          <p:nvPr/>
        </p:nvSpPr>
        <p:spPr>
          <a:xfrm>
            <a:off x="548640" y="1508760"/>
            <a:ext cx="5212080" cy="1371600"/>
          </a:xfrm>
          <a:prstGeom prst="roundRect">
            <a:avLst>
              <a:gd name="adj" fmla="val 5333"/>
            </a:avLst>
          </a:prstGeom>
          <a:solidFill>
            <a:srgbClr val="F4F7FE"/>
          </a:solidFill>
          <a:ln/>
        </p:spPr>
      </p:sp>
      <p:sp>
        <p:nvSpPr>
          <p:cNvPr id="5" name="Text 3"/>
          <p:cNvSpPr/>
          <p:nvPr/>
        </p:nvSpPr>
        <p:spPr>
          <a:xfrm>
            <a:off x="777240" y="1572768"/>
            <a:ext cx="1737360" cy="1234440"/>
          </a:xfrm>
          <a:prstGeom prst="rect">
            <a:avLst/>
          </a:prstGeom>
          <a:noFill/>
          <a:ln/>
        </p:spPr>
        <p:txBody>
          <a:bodyPr wrap="square" lIns="0" tIns="0" rIns="0" bIns="0" rtlCol="0" anchor="ctr"/>
          <a:lstStyle/>
          <a:p>
            <a:pPr marL="0" indent="0">
              <a:buNone/>
            </a:pPr>
            <a:r>
              <a:rPr lang="en-US" sz="4000" b="1" dirty="0">
                <a:solidFill>
                  <a:srgbClr val="E40000"/>
                </a:solidFill>
                <a:latin typeface="Cambria" pitchFamily="34" charset="0"/>
                <a:ea typeface="Cambria" pitchFamily="34" charset="-122"/>
                <a:cs typeface="Cambria" pitchFamily="34" charset="-120"/>
              </a:rPr>
              <a:t>&lt;3%</a:t>
            </a:r>
            <a:endParaRPr lang="en-US" sz="4000" dirty="0"/>
          </a:p>
        </p:txBody>
      </p:sp>
      <p:sp>
        <p:nvSpPr>
          <p:cNvPr id="6" name="Text 4"/>
          <p:cNvSpPr/>
          <p:nvPr/>
        </p:nvSpPr>
        <p:spPr>
          <a:xfrm>
            <a:off x="2606040" y="1572768"/>
            <a:ext cx="3017520" cy="1234440"/>
          </a:xfrm>
          <a:prstGeom prst="rect">
            <a:avLst/>
          </a:prstGeom>
          <a:noFill/>
          <a:ln/>
        </p:spPr>
        <p:txBody>
          <a:bodyPr wrap="square" lIns="0" tIns="0" rIns="0" bIns="0" rtlCol="0" anchor="ctr"/>
          <a:lstStyle/>
          <a:p>
            <a:pPr marL="0" indent="0">
              <a:buNone/>
            </a:pPr>
            <a:r>
              <a:rPr lang="en-US" sz="1350" dirty="0">
                <a:solidFill>
                  <a:srgbClr val="1E2761"/>
                </a:solidFill>
                <a:latin typeface="Calibri" pitchFamily="34" charset="0"/>
                <a:ea typeface="Calibri" pitchFamily="34" charset="-122"/>
                <a:cs typeface="Calibri" pitchFamily="34" charset="-120"/>
              </a:rPr>
              <a:t>conversion rate on current ARPU-banded bundle campaigns</a:t>
            </a:r>
            <a:endParaRPr lang="en-US" sz="1350" dirty="0"/>
          </a:p>
        </p:txBody>
      </p:sp>
      <p:sp>
        <p:nvSpPr>
          <p:cNvPr id="7" name="Shape 5"/>
          <p:cNvSpPr/>
          <p:nvPr/>
        </p:nvSpPr>
        <p:spPr>
          <a:xfrm>
            <a:off x="548640" y="3081528"/>
            <a:ext cx="5212080" cy="1371600"/>
          </a:xfrm>
          <a:prstGeom prst="roundRect">
            <a:avLst>
              <a:gd name="adj" fmla="val 5333"/>
            </a:avLst>
          </a:prstGeom>
          <a:solidFill>
            <a:srgbClr val="F4F7FE"/>
          </a:solidFill>
          <a:ln/>
        </p:spPr>
      </p:sp>
      <p:sp>
        <p:nvSpPr>
          <p:cNvPr id="8" name="Text 6"/>
          <p:cNvSpPr/>
          <p:nvPr/>
        </p:nvSpPr>
        <p:spPr>
          <a:xfrm>
            <a:off x="777240" y="3145536"/>
            <a:ext cx="1737360" cy="1234440"/>
          </a:xfrm>
          <a:prstGeom prst="rect">
            <a:avLst/>
          </a:prstGeom>
          <a:noFill/>
          <a:ln/>
        </p:spPr>
        <p:txBody>
          <a:bodyPr wrap="square" lIns="0" tIns="0" rIns="0" bIns="0" rtlCol="0" anchor="ctr"/>
          <a:lstStyle/>
          <a:p>
            <a:pPr marL="0" indent="0">
              <a:buNone/>
            </a:pPr>
            <a:r>
              <a:rPr lang="en-US" sz="4000" b="1" dirty="0">
                <a:solidFill>
                  <a:srgbClr val="E40000"/>
                </a:solidFill>
                <a:latin typeface="Cambria" pitchFamily="34" charset="0"/>
                <a:ea typeface="Cambria" pitchFamily="34" charset="-122"/>
                <a:cs typeface="Cambria" pitchFamily="34" charset="-120"/>
              </a:rPr>
              <a:t>~20%</a:t>
            </a:r>
            <a:endParaRPr lang="en-US" sz="4000" dirty="0"/>
          </a:p>
        </p:txBody>
      </p:sp>
      <p:sp>
        <p:nvSpPr>
          <p:cNvPr id="9" name="Text 7"/>
          <p:cNvSpPr/>
          <p:nvPr/>
        </p:nvSpPr>
        <p:spPr>
          <a:xfrm>
            <a:off x="2606040" y="3145536"/>
            <a:ext cx="3017520" cy="1234440"/>
          </a:xfrm>
          <a:prstGeom prst="rect">
            <a:avLst/>
          </a:prstGeom>
          <a:noFill/>
          <a:ln/>
        </p:spPr>
        <p:txBody>
          <a:bodyPr wrap="square" lIns="0" tIns="0" rIns="0" bIns="0" rtlCol="0" anchor="ctr"/>
          <a:lstStyle/>
          <a:p>
            <a:pPr marL="0" indent="0">
              <a:buNone/>
            </a:pPr>
            <a:r>
              <a:rPr lang="en-US" sz="1350" dirty="0">
                <a:solidFill>
                  <a:srgbClr val="1E2761"/>
                </a:solidFill>
                <a:latin typeface="Calibri" pitchFamily="34" charset="0"/>
                <a:ea typeface="Calibri" pitchFamily="34" charset="-122"/>
                <a:cs typeface="Calibri" pitchFamily="34" charset="-120"/>
              </a:rPr>
              <a:t>of marketing budget wasted on untargeted communications</a:t>
            </a:r>
            <a:endParaRPr lang="en-US" sz="1350" dirty="0"/>
          </a:p>
        </p:txBody>
      </p:sp>
      <p:sp>
        <p:nvSpPr>
          <p:cNvPr id="10" name="Shape 8"/>
          <p:cNvSpPr/>
          <p:nvPr/>
        </p:nvSpPr>
        <p:spPr>
          <a:xfrm>
            <a:off x="548640" y="4654296"/>
            <a:ext cx="5212080" cy="1371600"/>
          </a:xfrm>
          <a:prstGeom prst="roundRect">
            <a:avLst>
              <a:gd name="adj" fmla="val 5333"/>
            </a:avLst>
          </a:prstGeom>
          <a:solidFill>
            <a:srgbClr val="F4F7FE"/>
          </a:solidFill>
          <a:ln/>
        </p:spPr>
      </p:sp>
      <p:sp>
        <p:nvSpPr>
          <p:cNvPr id="11" name="Text 9"/>
          <p:cNvSpPr/>
          <p:nvPr/>
        </p:nvSpPr>
        <p:spPr>
          <a:xfrm>
            <a:off x="777240" y="4718304"/>
            <a:ext cx="1737360" cy="1234440"/>
          </a:xfrm>
          <a:prstGeom prst="rect">
            <a:avLst/>
          </a:prstGeom>
          <a:noFill/>
          <a:ln/>
        </p:spPr>
        <p:txBody>
          <a:bodyPr wrap="square" lIns="0" tIns="0" rIns="0" bIns="0" rtlCol="0" anchor="ctr"/>
          <a:lstStyle/>
          <a:p>
            <a:pPr marL="0" indent="0">
              <a:buNone/>
            </a:pPr>
            <a:r>
              <a:rPr lang="en-US" sz="4000" b="1" dirty="0">
                <a:solidFill>
                  <a:srgbClr val="E40000"/>
                </a:solidFill>
                <a:latin typeface="Cambria" pitchFamily="34" charset="0"/>
                <a:ea typeface="Cambria" pitchFamily="34" charset="-122"/>
                <a:cs typeface="Cambria" pitchFamily="34" charset="-120"/>
              </a:rPr>
              <a:t>150+</a:t>
            </a:r>
            <a:endParaRPr lang="en-US" sz="4000" dirty="0"/>
          </a:p>
        </p:txBody>
      </p:sp>
      <p:sp>
        <p:nvSpPr>
          <p:cNvPr id="12" name="Text 10"/>
          <p:cNvSpPr/>
          <p:nvPr/>
        </p:nvSpPr>
        <p:spPr>
          <a:xfrm>
            <a:off x="2606040" y="4718304"/>
            <a:ext cx="3017520" cy="1234440"/>
          </a:xfrm>
          <a:prstGeom prst="rect">
            <a:avLst/>
          </a:prstGeom>
          <a:noFill/>
          <a:ln/>
        </p:spPr>
        <p:txBody>
          <a:bodyPr wrap="square" lIns="0" tIns="0" rIns="0" bIns="0" rtlCol="0" anchor="ctr"/>
          <a:lstStyle/>
          <a:p>
            <a:pPr marL="0" indent="0">
              <a:buNone/>
            </a:pPr>
            <a:r>
              <a:rPr lang="en-US" sz="1350" dirty="0">
                <a:solidFill>
                  <a:srgbClr val="1E2761"/>
                </a:solidFill>
                <a:latin typeface="Calibri" pitchFamily="34" charset="0"/>
                <a:ea typeface="Calibri" pitchFamily="34" charset="-122"/>
                <a:cs typeface="Calibri" pitchFamily="34" charset="-120"/>
              </a:rPr>
              <a:t>voice bundle products a customer must navigate via USSD menus</a:t>
            </a:r>
            <a:endParaRPr lang="en-US" sz="1350" dirty="0"/>
          </a:p>
        </p:txBody>
      </p:sp>
      <p:sp>
        <p:nvSpPr>
          <p:cNvPr id="13" name="Text 11"/>
          <p:cNvSpPr/>
          <p:nvPr/>
        </p:nvSpPr>
        <p:spPr>
          <a:xfrm>
            <a:off x="6309360" y="1554480"/>
            <a:ext cx="5212080" cy="36576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The core issue</a:t>
            </a:r>
            <a:endParaRPr lang="en-US" sz="1500" dirty="0"/>
          </a:p>
        </p:txBody>
      </p:sp>
      <p:sp>
        <p:nvSpPr>
          <p:cNvPr id="14" name="Text 12"/>
          <p:cNvSpPr/>
          <p:nvPr/>
        </p:nvSpPr>
        <p:spPr>
          <a:xfrm>
            <a:off x="6309360" y="1965960"/>
            <a:ext cx="5257800" cy="3931920"/>
          </a:xfrm>
          <a:prstGeom prst="rect">
            <a:avLst/>
          </a:prstGeom>
          <a:noFill/>
          <a:ln/>
        </p:spPr>
        <p:txBody>
          <a:bodyPr wrap="square" lIns="0" tIns="0" rIns="0" bIns="0" rtlCol="0" anchor="ctr"/>
          <a:lstStyle/>
          <a:p>
            <a:pPr marL="342900" indent="-342900">
              <a:spcAft>
                <a:spcPts val="1200"/>
              </a:spcAft>
              <a:buSzPct val="100000"/>
              <a:buChar char="•"/>
            </a:pPr>
            <a:r>
              <a:rPr lang="en-US" sz="1450" dirty="0">
                <a:solidFill>
                  <a:srgbClr val="5A6478"/>
                </a:solidFill>
                <a:latin typeface="Calibri" pitchFamily="34" charset="0"/>
                <a:ea typeface="Calibri" pitchFamily="34" charset="-122"/>
                <a:cs typeface="Calibri" pitchFamily="34" charset="-120"/>
              </a:rPr>
              <a:t>Airtel Uganda serves ~10.5M subscribers (47% market share) using one-size-fits-all ARPU bands.</a:t>
            </a:r>
            <a:endParaRPr lang="en-US" sz="1450" dirty="0"/>
          </a:p>
          <a:p>
            <a:pPr marL="342900" indent="-342900">
              <a:spcAft>
                <a:spcPts val="1200"/>
              </a:spcAft>
              <a:buSzPct val="100000"/>
              <a:buChar char="•"/>
            </a:pPr>
            <a:r>
              <a:rPr lang="en-US" sz="1450" dirty="0">
                <a:solidFill>
                  <a:srgbClr val="5A6478"/>
                </a:solidFill>
                <a:latin typeface="Calibri" pitchFamily="34" charset="0"/>
                <a:ea typeface="Calibri" pitchFamily="34" charset="-122"/>
                <a:cs typeface="Calibri" pitchFamily="34" charset="-120"/>
              </a:rPr>
              <a:t>Bundle offers ignore how a customer actually behaves — their call intensity, spend efficiency, device, and purchase channel.</a:t>
            </a:r>
            <a:endParaRPr lang="en-US" sz="1450" dirty="0"/>
          </a:p>
          <a:p>
            <a:pPr marL="342900" indent="-342900">
              <a:spcAft>
                <a:spcPts val="1200"/>
              </a:spcAft>
              <a:buSzPct val="100000"/>
              <a:buChar char="•"/>
            </a:pPr>
            <a:r>
              <a:rPr lang="en-US" sz="1450" dirty="0">
                <a:solidFill>
                  <a:srgbClr val="5A6478"/>
                </a:solidFill>
                <a:latin typeface="Calibri" pitchFamily="34" charset="0"/>
                <a:ea typeface="Calibri" pitchFamily="34" charset="-122"/>
                <a:cs typeface="Calibri" pitchFamily="34" charset="-120"/>
              </a:rPr>
              <a:t>Monthly churn of 3–5% is partly driven by product–need mismatch.</a:t>
            </a:r>
            <a:endParaRPr lang="en-US" sz="1450" dirty="0"/>
          </a:p>
          <a:p>
            <a:pPr marL="342900" indent="-342900">
              <a:spcAft>
                <a:spcPts val="1200"/>
              </a:spcAft>
              <a:buSzPct val="100000"/>
              <a:buChar char="•"/>
            </a:pPr>
            <a:r>
              <a:rPr lang="en-US" sz="1450" b="1" dirty="0">
                <a:solidFill>
                  <a:srgbClr val="E40000"/>
                </a:solidFill>
                <a:latin typeface="Calibri" pitchFamily="34" charset="0"/>
                <a:ea typeface="Calibri" pitchFamily="34" charset="-122"/>
                <a:cs typeface="Calibri" pitchFamily="34" charset="-120"/>
              </a:rPr>
              <a:t>No published, empirically validated ML recommendation framework exists for the Ugandan prepaid market.</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320040"/>
          </a:xfrm>
          <a:prstGeom prst="rect">
            <a:avLst/>
          </a:prstGeom>
          <a:noFill/>
          <a:ln/>
        </p:spPr>
        <p:txBody>
          <a:bodyPr wrap="square" lIns="0" tIns="0" rIns="0" bIns="0" rtlCol="0" anchor="ctr"/>
          <a:lstStyle/>
          <a:p>
            <a:pPr marL="0" indent="0">
              <a:buNone/>
            </a:pPr>
            <a:r>
              <a:rPr lang="en-US" sz="1200" b="1" kern="0" spc="200" dirty="0">
                <a:solidFill>
                  <a:srgbClr val="E40000"/>
                </a:solidFill>
                <a:latin typeface="Calibri" pitchFamily="34" charset="0"/>
                <a:ea typeface="Calibri" pitchFamily="34" charset="-122"/>
                <a:cs typeface="Calibri" pitchFamily="34" charset="-120"/>
              </a:rPr>
              <a:t>02 · RESEARCH DESIGN</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Research Objectives &amp; Hypotheses</a:t>
            </a:r>
            <a:endParaRPr lang="en-US" sz="3000" dirty="0"/>
          </a:p>
        </p:txBody>
      </p:sp>
      <p:sp>
        <p:nvSpPr>
          <p:cNvPr id="4" name="Shape 2"/>
          <p:cNvSpPr/>
          <p:nvPr/>
        </p:nvSpPr>
        <p:spPr>
          <a:xfrm>
            <a:off x="548640" y="1828800"/>
            <a:ext cx="3566160" cy="3977640"/>
          </a:xfrm>
          <a:prstGeom prst="roundRect">
            <a:avLst>
              <a:gd name="adj" fmla="val 2051"/>
            </a:avLst>
          </a:prstGeom>
          <a:solidFill>
            <a:srgbClr val="F4F7FE"/>
          </a:solidFill>
          <a:ln/>
        </p:spPr>
      </p:sp>
      <p:sp>
        <p:nvSpPr>
          <p:cNvPr id="5" name="Shape 3"/>
          <p:cNvSpPr/>
          <p:nvPr/>
        </p:nvSpPr>
        <p:spPr>
          <a:xfrm>
            <a:off x="777240" y="1828800"/>
            <a:ext cx="566928" cy="566928"/>
          </a:xfrm>
          <a:prstGeom prst="ellipse">
            <a:avLst/>
          </a:prstGeom>
          <a:solidFill>
            <a:srgbClr val="1E2761"/>
          </a:solidFill>
          <a:ln/>
        </p:spPr>
      </p:sp>
      <p:sp>
        <p:nvSpPr>
          <p:cNvPr id="6" name="Text 4"/>
          <p:cNvSpPr/>
          <p:nvPr/>
        </p:nvSpPr>
        <p:spPr>
          <a:xfrm>
            <a:off x="777240" y="182880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777240" y="2606040"/>
            <a:ext cx="3108960" cy="77724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Identify key behavioural attributes</a:t>
            </a:r>
            <a:endParaRPr lang="en-US" sz="1600" dirty="0"/>
          </a:p>
        </p:txBody>
      </p:sp>
      <p:sp>
        <p:nvSpPr>
          <p:cNvPr id="8" name="Text 6"/>
          <p:cNvSpPr/>
          <p:nvPr/>
        </p:nvSpPr>
        <p:spPr>
          <a:xfrm>
            <a:off x="777240" y="3429000"/>
            <a:ext cx="3108960" cy="1143000"/>
          </a:xfrm>
          <a:prstGeom prst="rect">
            <a:avLst/>
          </a:prstGeom>
          <a:noFill/>
          <a:ln/>
        </p:spPr>
        <p:txBody>
          <a:bodyPr wrap="square" lIns="0" tIns="0" rIns="0" bIns="0" rtlCol="0" anchor="ctr"/>
          <a:lstStyle/>
          <a:p>
            <a:pPr marL="0" indent="0">
              <a:buNone/>
            </a:pPr>
            <a:r>
              <a:rPr lang="en-US" sz="1250" dirty="0">
                <a:solidFill>
                  <a:srgbClr val="5A6478"/>
                </a:solidFill>
                <a:latin typeface="Calibri" pitchFamily="34" charset="0"/>
                <a:ea typeface="Calibri" pitchFamily="34" charset="-122"/>
                <a:cs typeface="Calibri" pitchFamily="34" charset="-120"/>
              </a:rPr>
              <a:t>Which customer attributes most effectively predict voice bundle segment?</a:t>
            </a:r>
            <a:endParaRPr lang="en-US" sz="1250" dirty="0"/>
          </a:p>
        </p:txBody>
      </p:sp>
      <p:sp>
        <p:nvSpPr>
          <p:cNvPr id="9" name="Text 7"/>
          <p:cNvSpPr/>
          <p:nvPr/>
        </p:nvSpPr>
        <p:spPr>
          <a:xfrm>
            <a:off x="777240" y="4663440"/>
            <a:ext cx="3108960" cy="960120"/>
          </a:xfrm>
          <a:prstGeom prst="rect">
            <a:avLst/>
          </a:prstGeom>
          <a:noFill/>
          <a:ln/>
        </p:spPr>
        <p:txBody>
          <a:bodyPr wrap="square" lIns="0" tIns="0" rIns="0" bIns="0" rtlCol="0" anchor="ctr"/>
          <a:lstStyle/>
          <a:p>
            <a:pPr marL="0" indent="0">
              <a:buNone/>
            </a:pPr>
            <a:r>
              <a:rPr lang="en-US" sz="1200" b="1" i="1" dirty="0">
                <a:solidFill>
                  <a:srgbClr val="E40000"/>
                </a:solidFill>
                <a:latin typeface="Calibri" pitchFamily="34" charset="0"/>
                <a:ea typeface="Calibri" pitchFamily="34" charset="-122"/>
                <a:cs typeface="Calibri" pitchFamily="34" charset="-120"/>
              </a:rPr>
              <a:t>H1: At least one attribute is a significant predictor</a:t>
            </a:r>
            <a:endParaRPr lang="en-US" sz="1200" dirty="0"/>
          </a:p>
        </p:txBody>
      </p:sp>
      <p:sp>
        <p:nvSpPr>
          <p:cNvPr id="10" name="Shape 8"/>
          <p:cNvSpPr/>
          <p:nvPr/>
        </p:nvSpPr>
        <p:spPr>
          <a:xfrm>
            <a:off x="4343400" y="1828798"/>
            <a:ext cx="3566160" cy="3977641"/>
          </a:xfrm>
          <a:prstGeom prst="roundRect">
            <a:avLst>
              <a:gd name="adj" fmla="val 2051"/>
            </a:avLst>
          </a:prstGeom>
          <a:solidFill>
            <a:srgbClr val="F4F7FE"/>
          </a:solidFill>
          <a:ln/>
        </p:spPr>
      </p:sp>
      <p:sp>
        <p:nvSpPr>
          <p:cNvPr id="11" name="Shape 9"/>
          <p:cNvSpPr/>
          <p:nvPr/>
        </p:nvSpPr>
        <p:spPr>
          <a:xfrm>
            <a:off x="4572000" y="1828800"/>
            <a:ext cx="566928" cy="566928"/>
          </a:xfrm>
          <a:prstGeom prst="ellipse">
            <a:avLst/>
          </a:prstGeom>
          <a:solidFill>
            <a:srgbClr val="1E2761"/>
          </a:solidFill>
          <a:ln/>
        </p:spPr>
      </p:sp>
      <p:sp>
        <p:nvSpPr>
          <p:cNvPr id="12" name="Text 10"/>
          <p:cNvSpPr/>
          <p:nvPr/>
        </p:nvSpPr>
        <p:spPr>
          <a:xfrm>
            <a:off x="4572000" y="182880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3" name="Text 11"/>
          <p:cNvSpPr/>
          <p:nvPr/>
        </p:nvSpPr>
        <p:spPr>
          <a:xfrm>
            <a:off x="4572000" y="2606040"/>
            <a:ext cx="3108960" cy="77724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Test &amp; evaluate ML models</a:t>
            </a:r>
            <a:endParaRPr lang="en-US" sz="1600" dirty="0"/>
          </a:p>
        </p:txBody>
      </p:sp>
      <p:sp>
        <p:nvSpPr>
          <p:cNvPr id="14" name="Text 12"/>
          <p:cNvSpPr/>
          <p:nvPr/>
        </p:nvSpPr>
        <p:spPr>
          <a:xfrm>
            <a:off x="4572000" y="3429000"/>
            <a:ext cx="3108960" cy="1143000"/>
          </a:xfrm>
          <a:prstGeom prst="rect">
            <a:avLst/>
          </a:prstGeom>
          <a:noFill/>
          <a:ln/>
        </p:spPr>
        <p:txBody>
          <a:bodyPr wrap="square" lIns="0" tIns="0" rIns="0" bIns="0" rtlCol="0" anchor="ctr"/>
          <a:lstStyle/>
          <a:p>
            <a:pPr marL="0" indent="0">
              <a:buNone/>
            </a:pPr>
            <a:r>
              <a:rPr lang="en-US" sz="1250" dirty="0">
                <a:solidFill>
                  <a:srgbClr val="5A6478"/>
                </a:solidFill>
                <a:latin typeface="Calibri" pitchFamily="34" charset="0"/>
                <a:ea typeface="Calibri" pitchFamily="34" charset="-122"/>
                <a:cs typeface="Calibri" pitchFamily="34" charset="-120"/>
              </a:rPr>
              <a:t>Which model most accurately classifies subscribers into bundle segments?</a:t>
            </a:r>
            <a:endParaRPr lang="en-US" sz="1250" dirty="0"/>
          </a:p>
        </p:txBody>
      </p:sp>
      <p:sp>
        <p:nvSpPr>
          <p:cNvPr id="15" name="Text 13"/>
          <p:cNvSpPr/>
          <p:nvPr/>
        </p:nvSpPr>
        <p:spPr>
          <a:xfrm>
            <a:off x="4572000" y="4663440"/>
            <a:ext cx="3108960" cy="960120"/>
          </a:xfrm>
          <a:prstGeom prst="rect">
            <a:avLst/>
          </a:prstGeom>
          <a:noFill/>
          <a:ln/>
        </p:spPr>
        <p:txBody>
          <a:bodyPr wrap="square" lIns="0" tIns="0" rIns="0" bIns="0" rtlCol="0" anchor="ctr"/>
          <a:lstStyle/>
          <a:p>
            <a:pPr marL="0" indent="0">
              <a:buNone/>
            </a:pPr>
            <a:r>
              <a:rPr lang="en-US" sz="1200" b="1" i="1" dirty="0">
                <a:solidFill>
                  <a:srgbClr val="E40000"/>
                </a:solidFill>
                <a:latin typeface="Calibri" pitchFamily="34" charset="0"/>
                <a:ea typeface="Calibri" pitchFamily="34" charset="-122"/>
                <a:cs typeface="Calibri" pitchFamily="34" charset="-120"/>
              </a:rPr>
              <a:t>H2: At least one model significantly outperforms the others</a:t>
            </a:r>
            <a:endParaRPr lang="en-US" sz="1200" dirty="0"/>
          </a:p>
        </p:txBody>
      </p:sp>
      <p:sp>
        <p:nvSpPr>
          <p:cNvPr id="16" name="Shape 14"/>
          <p:cNvSpPr/>
          <p:nvPr/>
        </p:nvSpPr>
        <p:spPr>
          <a:xfrm>
            <a:off x="8138160" y="1828798"/>
            <a:ext cx="3566160" cy="3977642"/>
          </a:xfrm>
          <a:prstGeom prst="roundRect">
            <a:avLst>
              <a:gd name="adj" fmla="val 2051"/>
            </a:avLst>
          </a:prstGeom>
          <a:solidFill>
            <a:srgbClr val="F4F7FE"/>
          </a:solidFill>
          <a:ln/>
        </p:spPr>
      </p:sp>
      <p:sp>
        <p:nvSpPr>
          <p:cNvPr id="17" name="Shape 15"/>
          <p:cNvSpPr/>
          <p:nvPr/>
        </p:nvSpPr>
        <p:spPr>
          <a:xfrm>
            <a:off x="8366760" y="1828800"/>
            <a:ext cx="566928" cy="566928"/>
          </a:xfrm>
          <a:prstGeom prst="ellipse">
            <a:avLst/>
          </a:prstGeom>
          <a:solidFill>
            <a:srgbClr val="1E2761"/>
          </a:solidFill>
          <a:ln/>
        </p:spPr>
      </p:sp>
      <p:sp>
        <p:nvSpPr>
          <p:cNvPr id="18" name="Text 16"/>
          <p:cNvSpPr/>
          <p:nvPr/>
        </p:nvSpPr>
        <p:spPr>
          <a:xfrm>
            <a:off x="8366760" y="182880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9" name="Text 17"/>
          <p:cNvSpPr/>
          <p:nvPr/>
        </p:nvSpPr>
        <p:spPr>
          <a:xfrm>
            <a:off x="8366760" y="2606040"/>
            <a:ext cx="3108960" cy="77724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Formulate strategic recommendations</a:t>
            </a:r>
            <a:endParaRPr lang="en-US" sz="1600" dirty="0"/>
          </a:p>
        </p:txBody>
      </p:sp>
      <p:sp>
        <p:nvSpPr>
          <p:cNvPr id="20" name="Text 18"/>
          <p:cNvSpPr/>
          <p:nvPr/>
        </p:nvSpPr>
        <p:spPr>
          <a:xfrm>
            <a:off x="8366760" y="3429000"/>
            <a:ext cx="3108960" cy="1143000"/>
          </a:xfrm>
          <a:prstGeom prst="rect">
            <a:avLst/>
          </a:prstGeom>
          <a:noFill/>
          <a:ln/>
        </p:spPr>
        <p:txBody>
          <a:bodyPr wrap="square" lIns="0" tIns="0" rIns="0" bIns="0" rtlCol="0" anchor="ctr"/>
          <a:lstStyle/>
          <a:p>
            <a:pPr marL="0" indent="0">
              <a:buNone/>
            </a:pPr>
            <a:r>
              <a:rPr lang="en-US" sz="1250" dirty="0">
                <a:solidFill>
                  <a:srgbClr val="5A6478"/>
                </a:solidFill>
                <a:latin typeface="Calibri" pitchFamily="34" charset="0"/>
                <a:ea typeface="Calibri" pitchFamily="34" charset="-122"/>
                <a:cs typeface="Calibri" pitchFamily="34" charset="-120"/>
              </a:rPr>
              <a:t>How can model outputs inform business decisions for revenue optimisation?</a:t>
            </a:r>
            <a:endParaRPr lang="en-US" sz="1250" dirty="0"/>
          </a:p>
        </p:txBody>
      </p:sp>
      <p:sp>
        <p:nvSpPr>
          <p:cNvPr id="21" name="Text 19"/>
          <p:cNvSpPr/>
          <p:nvPr/>
        </p:nvSpPr>
        <p:spPr>
          <a:xfrm>
            <a:off x="8366760" y="4663440"/>
            <a:ext cx="3108960" cy="960120"/>
          </a:xfrm>
          <a:prstGeom prst="rect">
            <a:avLst/>
          </a:prstGeom>
          <a:noFill/>
          <a:ln/>
        </p:spPr>
        <p:txBody>
          <a:bodyPr wrap="square" lIns="0" tIns="0" rIns="0" bIns="0" rtlCol="0" anchor="ctr"/>
          <a:lstStyle/>
          <a:p>
            <a:pPr marL="0" indent="0">
              <a:buNone/>
            </a:pPr>
            <a:r>
              <a:rPr lang="en-US" sz="1200" b="1" i="1" dirty="0">
                <a:solidFill>
                  <a:srgbClr val="E40000"/>
                </a:solidFill>
                <a:latin typeface="Calibri" pitchFamily="34" charset="0"/>
                <a:ea typeface="Calibri" pitchFamily="34" charset="-122"/>
                <a:cs typeface="Calibri" pitchFamily="34" charset="-120"/>
              </a:rPr>
              <a:t>H3: Model outputs generate actionable strategic insights</a:t>
            </a:r>
            <a:endParaRPr lang="en-US" sz="1200" dirty="0"/>
          </a:p>
        </p:txBody>
      </p:sp>
      <p:sp>
        <p:nvSpPr>
          <p:cNvPr id="22" name="TextBox 21">
            <a:extLst>
              <a:ext uri="{FF2B5EF4-FFF2-40B4-BE49-F238E27FC236}">
                <a16:creationId xmlns:a16="http://schemas.microsoft.com/office/drawing/2014/main" id="{91AE84E8-7476-363D-DACB-5E824C5A348A}"/>
              </a:ext>
            </a:extLst>
          </p:cNvPr>
          <p:cNvSpPr txBox="1"/>
          <p:nvPr/>
        </p:nvSpPr>
        <p:spPr>
          <a:xfrm>
            <a:off x="548640" y="1188718"/>
            <a:ext cx="11094720" cy="800219"/>
          </a:xfrm>
          <a:prstGeom prst="rect">
            <a:avLst/>
          </a:prstGeom>
          <a:noFill/>
        </p:spPr>
        <p:txBody>
          <a:bodyPr wrap="square" rtlCol="0">
            <a:spAutoFit/>
          </a:bodyPr>
          <a:lstStyle/>
          <a:p>
            <a:r>
              <a:rPr lang="en-UG" b="1" dirty="0"/>
              <a:t>MAIN OBJECTIVE: </a:t>
            </a:r>
            <a:r>
              <a:rPr lang="en-UG" sz="1400" dirty="0"/>
              <a:t>To identify the key customer behavioural attributes that can be used to predict appropriate voice bundles for individual Airtel Uganda subscribers and to leverage these attributes to develop a machine learning-based recommendation framework that supports Airtel Uganda's business growth objectives. </a:t>
            </a:r>
            <a:endParaRPr lang="en-UG"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320040"/>
          </a:xfrm>
          <a:prstGeom prst="rect">
            <a:avLst/>
          </a:prstGeom>
          <a:noFill/>
          <a:ln/>
        </p:spPr>
        <p:txBody>
          <a:bodyPr wrap="square" lIns="0" tIns="0" rIns="0" bIns="0" rtlCol="0" anchor="ctr"/>
          <a:lstStyle/>
          <a:p>
            <a:pPr marL="0" indent="0">
              <a:buNone/>
            </a:pPr>
            <a:r>
              <a:rPr lang="en-US" sz="1200" b="1" kern="0" spc="200" dirty="0">
                <a:solidFill>
                  <a:srgbClr val="E40000"/>
                </a:solidFill>
                <a:latin typeface="Calibri" pitchFamily="34" charset="0"/>
                <a:ea typeface="Calibri" pitchFamily="34" charset="-122"/>
                <a:cs typeface="Calibri" pitchFamily="34" charset="-120"/>
              </a:rPr>
              <a:t>03 · METHODOLOGY</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Methodology: Mixed-Methods, Real Production Data</a:t>
            </a:r>
            <a:endParaRPr lang="en-US" sz="3000" dirty="0"/>
          </a:p>
        </p:txBody>
      </p:sp>
      <p:sp>
        <p:nvSpPr>
          <p:cNvPr id="4" name="Shape 2"/>
          <p:cNvSpPr/>
          <p:nvPr/>
        </p:nvSpPr>
        <p:spPr>
          <a:xfrm>
            <a:off x="548640" y="1737360"/>
            <a:ext cx="2103120" cy="2377440"/>
          </a:xfrm>
          <a:prstGeom prst="roundRect">
            <a:avLst>
              <a:gd name="adj" fmla="val 3478"/>
            </a:avLst>
          </a:prstGeom>
          <a:solidFill>
            <a:srgbClr val="F4F7FE"/>
          </a:solidFill>
          <a:ln/>
        </p:spPr>
      </p:sp>
      <p:sp>
        <p:nvSpPr>
          <p:cNvPr id="5" name="Text 3"/>
          <p:cNvSpPr/>
          <p:nvPr/>
        </p:nvSpPr>
        <p:spPr>
          <a:xfrm>
            <a:off x="685800" y="1874520"/>
            <a:ext cx="457200" cy="365760"/>
          </a:xfrm>
          <a:prstGeom prst="rect">
            <a:avLst/>
          </a:prstGeom>
          <a:noFill/>
          <a:ln/>
        </p:spPr>
        <p:txBody>
          <a:bodyPr wrap="square" lIns="0" tIns="0" rIns="0" bIns="0" rtlCol="0" anchor="ctr"/>
          <a:lstStyle/>
          <a:p>
            <a:pPr marL="0" indent="0">
              <a:buNone/>
            </a:pPr>
            <a:r>
              <a:rPr lang="en-US" sz="1800" b="1" dirty="0">
                <a:solidFill>
                  <a:srgbClr val="E40000"/>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685800" y="2286000"/>
            <a:ext cx="1828800" cy="41148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Extract</a:t>
            </a:r>
            <a:endParaRPr lang="en-US" sz="1500" dirty="0"/>
          </a:p>
        </p:txBody>
      </p:sp>
      <p:sp>
        <p:nvSpPr>
          <p:cNvPr id="7" name="Text 5"/>
          <p:cNvSpPr/>
          <p:nvPr/>
        </p:nvSpPr>
        <p:spPr>
          <a:xfrm>
            <a:off x="685800" y="2743200"/>
            <a:ext cx="1847088" cy="1280160"/>
          </a:xfrm>
          <a:prstGeom prst="rect">
            <a:avLst/>
          </a:prstGeom>
          <a:noFill/>
          <a:ln/>
        </p:spPr>
        <p:txBody>
          <a:bodyPr wrap="square" lIns="0" tIns="0" rIns="0" bIns="0" rtlCol="0" anchor="ctr"/>
          <a:lstStyle/>
          <a:p>
            <a:pPr marL="0" indent="0">
              <a:buNone/>
            </a:pPr>
            <a:r>
              <a:rPr lang="en-US" sz="1050" dirty="0">
                <a:solidFill>
                  <a:srgbClr val="5A6478"/>
                </a:solidFill>
                <a:latin typeface="Calibri" pitchFamily="34" charset="0"/>
                <a:ea typeface="Calibri" pitchFamily="34" charset="-122"/>
                <a:cs typeface="Calibri" pitchFamily="34" charset="-120"/>
              </a:rPr>
              <a:t>Presto/Hive SQL on Airtel production DB — 4 source tables, 5 exports</a:t>
            </a:r>
            <a:endParaRPr lang="en-US" sz="1050" dirty="0"/>
          </a:p>
        </p:txBody>
      </p:sp>
      <p:sp>
        <p:nvSpPr>
          <p:cNvPr id="8" name="Shape 6"/>
          <p:cNvSpPr/>
          <p:nvPr/>
        </p:nvSpPr>
        <p:spPr>
          <a:xfrm>
            <a:off x="2834640" y="1737360"/>
            <a:ext cx="2103120" cy="2377440"/>
          </a:xfrm>
          <a:prstGeom prst="roundRect">
            <a:avLst>
              <a:gd name="adj" fmla="val 3478"/>
            </a:avLst>
          </a:prstGeom>
          <a:solidFill>
            <a:srgbClr val="F4F7FE"/>
          </a:solidFill>
          <a:ln/>
        </p:spPr>
      </p:sp>
      <p:sp>
        <p:nvSpPr>
          <p:cNvPr id="9" name="Text 7"/>
          <p:cNvSpPr/>
          <p:nvPr/>
        </p:nvSpPr>
        <p:spPr>
          <a:xfrm>
            <a:off x="2971800" y="1874520"/>
            <a:ext cx="457200" cy="365760"/>
          </a:xfrm>
          <a:prstGeom prst="rect">
            <a:avLst/>
          </a:prstGeom>
          <a:noFill/>
          <a:ln/>
        </p:spPr>
        <p:txBody>
          <a:bodyPr wrap="square" lIns="0" tIns="0" rIns="0" bIns="0" rtlCol="0" anchor="ctr"/>
          <a:lstStyle/>
          <a:p>
            <a:pPr marL="0" indent="0">
              <a:buNone/>
            </a:pPr>
            <a:r>
              <a:rPr lang="en-US" sz="1800" b="1" dirty="0">
                <a:solidFill>
                  <a:srgbClr val="E40000"/>
                </a:solidFill>
                <a:latin typeface="Cambria" pitchFamily="34" charset="0"/>
                <a:ea typeface="Cambria" pitchFamily="34" charset="-122"/>
                <a:cs typeface="Cambria" pitchFamily="34" charset="-120"/>
              </a:rPr>
              <a:t>2</a:t>
            </a:r>
            <a:endParaRPr lang="en-US" sz="1800" dirty="0"/>
          </a:p>
        </p:txBody>
      </p:sp>
      <p:sp>
        <p:nvSpPr>
          <p:cNvPr id="10" name="Text 8"/>
          <p:cNvSpPr/>
          <p:nvPr/>
        </p:nvSpPr>
        <p:spPr>
          <a:xfrm>
            <a:off x="2971800" y="2286000"/>
            <a:ext cx="1828800" cy="41148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Engineer</a:t>
            </a:r>
            <a:endParaRPr lang="en-US" sz="1500" dirty="0"/>
          </a:p>
        </p:txBody>
      </p:sp>
      <p:sp>
        <p:nvSpPr>
          <p:cNvPr id="11" name="Text 9"/>
          <p:cNvSpPr/>
          <p:nvPr/>
        </p:nvSpPr>
        <p:spPr>
          <a:xfrm>
            <a:off x="2971800" y="2743200"/>
            <a:ext cx="1847088" cy="1280160"/>
          </a:xfrm>
          <a:prstGeom prst="rect">
            <a:avLst/>
          </a:prstGeom>
          <a:noFill/>
          <a:ln/>
        </p:spPr>
        <p:txBody>
          <a:bodyPr wrap="square" lIns="0" tIns="0" rIns="0" bIns="0" rtlCol="0" anchor="ctr"/>
          <a:lstStyle/>
          <a:p>
            <a:pPr marL="0" indent="0">
              <a:buNone/>
            </a:pPr>
            <a:r>
              <a:rPr lang="en-US" sz="1050" dirty="0">
                <a:solidFill>
                  <a:srgbClr val="5A6478"/>
                </a:solidFill>
                <a:latin typeface="Calibri" pitchFamily="34" charset="0"/>
                <a:ea typeface="Calibri" pitchFamily="34" charset="-122"/>
                <a:cs typeface="Calibri" pitchFamily="34" charset="-120"/>
              </a:rPr>
              <a:t>35 features incl. SPEND_PER_MINUTE &amp; VOICE_INTENSITY; median imputation; capped SMOTE</a:t>
            </a:r>
            <a:endParaRPr lang="en-US" sz="1050" dirty="0"/>
          </a:p>
        </p:txBody>
      </p:sp>
      <p:sp>
        <p:nvSpPr>
          <p:cNvPr id="12" name="Shape 10"/>
          <p:cNvSpPr/>
          <p:nvPr/>
        </p:nvSpPr>
        <p:spPr>
          <a:xfrm>
            <a:off x="5120640" y="1737360"/>
            <a:ext cx="2103120" cy="2377440"/>
          </a:xfrm>
          <a:prstGeom prst="roundRect">
            <a:avLst>
              <a:gd name="adj" fmla="val 3478"/>
            </a:avLst>
          </a:prstGeom>
          <a:solidFill>
            <a:srgbClr val="F4F7FE"/>
          </a:solidFill>
          <a:ln/>
        </p:spPr>
      </p:sp>
      <p:sp>
        <p:nvSpPr>
          <p:cNvPr id="13" name="Text 11"/>
          <p:cNvSpPr/>
          <p:nvPr/>
        </p:nvSpPr>
        <p:spPr>
          <a:xfrm>
            <a:off x="5257800" y="1874520"/>
            <a:ext cx="457200" cy="365760"/>
          </a:xfrm>
          <a:prstGeom prst="rect">
            <a:avLst/>
          </a:prstGeom>
          <a:noFill/>
          <a:ln/>
        </p:spPr>
        <p:txBody>
          <a:bodyPr wrap="square" lIns="0" tIns="0" rIns="0" bIns="0" rtlCol="0" anchor="ctr"/>
          <a:lstStyle/>
          <a:p>
            <a:pPr marL="0" indent="0">
              <a:buNone/>
            </a:pPr>
            <a:r>
              <a:rPr lang="en-US" sz="1800" b="1" dirty="0">
                <a:solidFill>
                  <a:srgbClr val="E40000"/>
                </a:solidFill>
                <a:latin typeface="Cambria" pitchFamily="34" charset="0"/>
                <a:ea typeface="Cambria" pitchFamily="34" charset="-122"/>
                <a:cs typeface="Cambria" pitchFamily="34" charset="-120"/>
              </a:rPr>
              <a:t>3</a:t>
            </a:r>
            <a:endParaRPr lang="en-US" sz="1800" dirty="0"/>
          </a:p>
        </p:txBody>
      </p:sp>
      <p:sp>
        <p:nvSpPr>
          <p:cNvPr id="14" name="Text 12"/>
          <p:cNvSpPr/>
          <p:nvPr/>
        </p:nvSpPr>
        <p:spPr>
          <a:xfrm>
            <a:off x="5257800" y="2286000"/>
            <a:ext cx="1828800" cy="41148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Test</a:t>
            </a:r>
            <a:endParaRPr lang="en-US" sz="1500" dirty="0"/>
          </a:p>
        </p:txBody>
      </p:sp>
      <p:sp>
        <p:nvSpPr>
          <p:cNvPr id="15" name="Text 13"/>
          <p:cNvSpPr/>
          <p:nvPr/>
        </p:nvSpPr>
        <p:spPr>
          <a:xfrm>
            <a:off x="5257800" y="2743200"/>
            <a:ext cx="1847088" cy="1280160"/>
          </a:xfrm>
          <a:prstGeom prst="rect">
            <a:avLst/>
          </a:prstGeom>
          <a:noFill/>
          <a:ln/>
        </p:spPr>
        <p:txBody>
          <a:bodyPr wrap="square" lIns="0" tIns="0" rIns="0" bIns="0" rtlCol="0" anchor="ctr"/>
          <a:lstStyle/>
          <a:p>
            <a:pPr marL="0" indent="0">
              <a:buNone/>
            </a:pPr>
            <a:r>
              <a:rPr lang="en-US" sz="1050" dirty="0">
                <a:solidFill>
                  <a:srgbClr val="5A6478"/>
                </a:solidFill>
                <a:latin typeface="Calibri" pitchFamily="34" charset="0"/>
                <a:ea typeface="Calibri" pitchFamily="34" charset="-122"/>
                <a:cs typeface="Calibri" pitchFamily="34" charset="-120"/>
              </a:rPr>
              <a:t>Spearman (α=0.05, Cohen 1988), one-way ANOVA, Chi-Square</a:t>
            </a:r>
            <a:endParaRPr lang="en-US" sz="1050" dirty="0"/>
          </a:p>
        </p:txBody>
      </p:sp>
      <p:sp>
        <p:nvSpPr>
          <p:cNvPr id="16" name="Shape 14"/>
          <p:cNvSpPr/>
          <p:nvPr/>
        </p:nvSpPr>
        <p:spPr>
          <a:xfrm>
            <a:off x="7406640" y="1737360"/>
            <a:ext cx="2103120" cy="2377440"/>
          </a:xfrm>
          <a:prstGeom prst="roundRect">
            <a:avLst>
              <a:gd name="adj" fmla="val 3478"/>
            </a:avLst>
          </a:prstGeom>
          <a:solidFill>
            <a:srgbClr val="F4F7FE"/>
          </a:solidFill>
          <a:ln/>
        </p:spPr>
      </p:sp>
      <p:sp>
        <p:nvSpPr>
          <p:cNvPr id="17" name="Text 15"/>
          <p:cNvSpPr/>
          <p:nvPr/>
        </p:nvSpPr>
        <p:spPr>
          <a:xfrm>
            <a:off x="7543800" y="1874520"/>
            <a:ext cx="457200" cy="365760"/>
          </a:xfrm>
          <a:prstGeom prst="rect">
            <a:avLst/>
          </a:prstGeom>
          <a:noFill/>
          <a:ln/>
        </p:spPr>
        <p:txBody>
          <a:bodyPr wrap="square" lIns="0" tIns="0" rIns="0" bIns="0" rtlCol="0" anchor="ctr"/>
          <a:lstStyle/>
          <a:p>
            <a:pPr marL="0" indent="0">
              <a:buNone/>
            </a:pPr>
            <a:r>
              <a:rPr lang="en-US" sz="1800" b="1" dirty="0">
                <a:solidFill>
                  <a:srgbClr val="E40000"/>
                </a:solidFill>
                <a:latin typeface="Cambria" pitchFamily="34" charset="0"/>
                <a:ea typeface="Cambria" pitchFamily="34" charset="-122"/>
                <a:cs typeface="Cambria" pitchFamily="34" charset="-120"/>
              </a:rPr>
              <a:t>4</a:t>
            </a:r>
            <a:endParaRPr lang="en-US" sz="1800" dirty="0"/>
          </a:p>
        </p:txBody>
      </p:sp>
      <p:sp>
        <p:nvSpPr>
          <p:cNvPr id="18" name="Text 16"/>
          <p:cNvSpPr/>
          <p:nvPr/>
        </p:nvSpPr>
        <p:spPr>
          <a:xfrm>
            <a:off x="7543800" y="2286000"/>
            <a:ext cx="1828800" cy="41148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Model</a:t>
            </a:r>
            <a:endParaRPr lang="en-US" sz="1500" dirty="0"/>
          </a:p>
        </p:txBody>
      </p:sp>
      <p:sp>
        <p:nvSpPr>
          <p:cNvPr id="19" name="Text 17"/>
          <p:cNvSpPr/>
          <p:nvPr/>
        </p:nvSpPr>
        <p:spPr>
          <a:xfrm>
            <a:off x="7543800" y="2743200"/>
            <a:ext cx="1847088" cy="1280160"/>
          </a:xfrm>
          <a:prstGeom prst="rect">
            <a:avLst/>
          </a:prstGeom>
          <a:noFill/>
          <a:ln/>
        </p:spPr>
        <p:txBody>
          <a:bodyPr wrap="square" lIns="0" tIns="0" rIns="0" bIns="0" rtlCol="0" anchor="ctr"/>
          <a:lstStyle/>
          <a:p>
            <a:pPr marL="0" indent="0">
              <a:buNone/>
            </a:pPr>
            <a:r>
              <a:rPr lang="en-US" sz="1050" dirty="0">
                <a:solidFill>
                  <a:srgbClr val="5A6478"/>
                </a:solidFill>
                <a:latin typeface="Calibri" pitchFamily="34" charset="0"/>
                <a:ea typeface="Calibri" pitchFamily="34" charset="-122"/>
                <a:cs typeface="Calibri" pitchFamily="34" charset="-120"/>
              </a:rPr>
              <a:t>Logistic Regression · Decision Tree · Random Forest · XGBoost — 70/30 split</a:t>
            </a:r>
            <a:endParaRPr lang="en-US" sz="1050" dirty="0"/>
          </a:p>
        </p:txBody>
      </p:sp>
      <p:sp>
        <p:nvSpPr>
          <p:cNvPr id="20" name="Shape 18"/>
          <p:cNvSpPr/>
          <p:nvPr/>
        </p:nvSpPr>
        <p:spPr>
          <a:xfrm>
            <a:off x="9692640" y="1737360"/>
            <a:ext cx="2103120" cy="2377440"/>
          </a:xfrm>
          <a:prstGeom prst="roundRect">
            <a:avLst>
              <a:gd name="adj" fmla="val 3478"/>
            </a:avLst>
          </a:prstGeom>
          <a:solidFill>
            <a:srgbClr val="1E2761"/>
          </a:solidFill>
          <a:ln/>
        </p:spPr>
      </p:sp>
      <p:sp>
        <p:nvSpPr>
          <p:cNvPr id="21" name="Text 19"/>
          <p:cNvSpPr/>
          <p:nvPr/>
        </p:nvSpPr>
        <p:spPr>
          <a:xfrm>
            <a:off x="9829800" y="1874520"/>
            <a:ext cx="457200" cy="365760"/>
          </a:xfrm>
          <a:prstGeom prst="rect">
            <a:avLst/>
          </a:prstGeom>
          <a:noFill/>
          <a:ln/>
        </p:spPr>
        <p:txBody>
          <a:bodyPr wrap="square" lIns="0" tIns="0" rIns="0" bIns="0" rtlCol="0" anchor="ctr"/>
          <a:lstStyle/>
          <a:p>
            <a:pPr marL="0" indent="0">
              <a:buNone/>
            </a:pPr>
            <a:r>
              <a:rPr lang="en-US" sz="1800" b="1" dirty="0">
                <a:solidFill>
                  <a:srgbClr val="E40000"/>
                </a:solidFill>
                <a:latin typeface="Cambria" pitchFamily="34" charset="0"/>
                <a:ea typeface="Cambria" pitchFamily="34" charset="-122"/>
                <a:cs typeface="Cambria" pitchFamily="34" charset="-120"/>
              </a:rPr>
              <a:t>5</a:t>
            </a:r>
            <a:endParaRPr lang="en-US" sz="1800" dirty="0"/>
          </a:p>
        </p:txBody>
      </p:sp>
      <p:sp>
        <p:nvSpPr>
          <p:cNvPr id="22" name="Text 20"/>
          <p:cNvSpPr/>
          <p:nvPr/>
        </p:nvSpPr>
        <p:spPr>
          <a:xfrm>
            <a:off x="9829800" y="2286000"/>
            <a:ext cx="1828800" cy="4114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Validate</a:t>
            </a:r>
            <a:endParaRPr lang="en-US" sz="1500" dirty="0"/>
          </a:p>
        </p:txBody>
      </p:sp>
      <p:sp>
        <p:nvSpPr>
          <p:cNvPr id="23" name="Text 21"/>
          <p:cNvSpPr/>
          <p:nvPr/>
        </p:nvSpPr>
        <p:spPr>
          <a:xfrm>
            <a:off x="9829800" y="2743200"/>
            <a:ext cx="1847088" cy="128016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Weighted Accuracy, Precision, Recall, F1 on 446,599 hold-out records</a:t>
            </a:r>
            <a:endParaRPr lang="en-US" sz="1050" dirty="0"/>
          </a:p>
        </p:txBody>
      </p:sp>
      <p:sp>
        <p:nvSpPr>
          <p:cNvPr id="24" name="Shape 22"/>
          <p:cNvSpPr/>
          <p:nvPr/>
        </p:nvSpPr>
        <p:spPr>
          <a:xfrm>
            <a:off x="548640" y="4480560"/>
            <a:ext cx="11018520" cy="1371600"/>
          </a:xfrm>
          <a:prstGeom prst="roundRect">
            <a:avLst>
              <a:gd name="adj" fmla="val 5333"/>
            </a:avLst>
          </a:prstGeom>
          <a:solidFill>
            <a:srgbClr val="F4F7FE"/>
          </a:solidFill>
          <a:ln/>
        </p:spPr>
      </p:sp>
      <p:sp>
        <p:nvSpPr>
          <p:cNvPr id="25" name="Text 23"/>
          <p:cNvSpPr/>
          <p:nvPr/>
        </p:nvSpPr>
        <p:spPr>
          <a:xfrm>
            <a:off x="822960" y="4617720"/>
            <a:ext cx="10515600" cy="109728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Qualitative strand:  </a:t>
            </a:r>
            <a:r>
              <a:rPr lang="en-US" sz="1350" dirty="0">
                <a:solidFill>
                  <a:srgbClr val="5A6478"/>
                </a:solidFill>
                <a:latin typeface="Calibri" pitchFamily="34" charset="0"/>
                <a:ea typeface="Calibri" pitchFamily="34" charset="-122"/>
                <a:cs typeface="Calibri" pitchFamily="34" charset="-120"/>
              </a:rPr>
              <a:t>Semi-structured interviews with 8 key informants from Airtel Uganda's commercial and analytics teams — validating feasibility, data infrastructure readiness, and deployment constraints. Convergent mixed-methods design (Creswell &amp; Creswell, 2018).</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320040"/>
          </a:xfrm>
          <a:prstGeom prst="rect">
            <a:avLst/>
          </a:prstGeom>
          <a:noFill/>
          <a:ln/>
        </p:spPr>
        <p:txBody>
          <a:bodyPr wrap="square" lIns="0" tIns="0" rIns="0" bIns="0" rtlCol="0" anchor="ctr"/>
          <a:lstStyle/>
          <a:p>
            <a:pPr marL="0" indent="0">
              <a:buNone/>
            </a:pPr>
            <a:r>
              <a:rPr lang="en-US" sz="1200" b="1" kern="0" spc="200" dirty="0">
                <a:solidFill>
                  <a:srgbClr val="E40000"/>
                </a:solidFill>
                <a:latin typeface="Calibri" pitchFamily="34" charset="0"/>
                <a:ea typeface="Calibri" pitchFamily="34" charset="-122"/>
                <a:cs typeface="Calibri" pitchFamily="34" charset="-120"/>
              </a:rPr>
              <a:t>04 · DATA</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The Data: 1.46M Real Airtel Subscribers</a:t>
            </a:r>
            <a:endParaRPr lang="en-US" sz="3000" dirty="0"/>
          </a:p>
        </p:txBody>
      </p:sp>
      <p:sp>
        <p:nvSpPr>
          <p:cNvPr id="4" name="Shape 2"/>
          <p:cNvSpPr/>
          <p:nvPr/>
        </p:nvSpPr>
        <p:spPr>
          <a:xfrm>
            <a:off x="548640" y="1691640"/>
            <a:ext cx="3566160" cy="1920240"/>
          </a:xfrm>
          <a:prstGeom prst="roundRect">
            <a:avLst>
              <a:gd name="adj" fmla="val 3810"/>
            </a:avLst>
          </a:prstGeom>
          <a:solidFill>
            <a:srgbClr val="1E2761"/>
          </a:solidFill>
          <a:ln/>
        </p:spPr>
      </p:sp>
      <p:sp>
        <p:nvSpPr>
          <p:cNvPr id="5" name="Text 3"/>
          <p:cNvSpPr/>
          <p:nvPr/>
        </p:nvSpPr>
        <p:spPr>
          <a:xfrm>
            <a:off x="777240" y="1874520"/>
            <a:ext cx="3108960" cy="86868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1,458,900</a:t>
            </a:r>
            <a:endParaRPr lang="en-US" sz="3300" dirty="0"/>
          </a:p>
        </p:txBody>
      </p:sp>
      <p:sp>
        <p:nvSpPr>
          <p:cNvPr id="6" name="Text 4"/>
          <p:cNvSpPr/>
          <p:nvPr/>
        </p:nvSpPr>
        <p:spPr>
          <a:xfrm>
            <a:off x="777240" y="2743200"/>
            <a:ext cx="3108960" cy="77724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unique active prepaid subscribers (after cleaning)</a:t>
            </a:r>
            <a:endParaRPr lang="en-US" sz="1200" dirty="0"/>
          </a:p>
        </p:txBody>
      </p:sp>
      <p:sp>
        <p:nvSpPr>
          <p:cNvPr id="7" name="Shape 5"/>
          <p:cNvSpPr/>
          <p:nvPr/>
        </p:nvSpPr>
        <p:spPr>
          <a:xfrm>
            <a:off x="4343400" y="1691640"/>
            <a:ext cx="3566160" cy="1920240"/>
          </a:xfrm>
          <a:prstGeom prst="roundRect">
            <a:avLst>
              <a:gd name="adj" fmla="val 3810"/>
            </a:avLst>
          </a:prstGeom>
          <a:solidFill>
            <a:srgbClr val="1E2761"/>
          </a:solidFill>
          <a:ln/>
        </p:spPr>
      </p:sp>
      <p:sp>
        <p:nvSpPr>
          <p:cNvPr id="8" name="Text 6"/>
          <p:cNvSpPr/>
          <p:nvPr/>
        </p:nvSpPr>
        <p:spPr>
          <a:xfrm>
            <a:off x="4572000" y="1874520"/>
            <a:ext cx="3108960" cy="86868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90 days</a:t>
            </a:r>
            <a:endParaRPr lang="en-US" sz="3300" dirty="0"/>
          </a:p>
        </p:txBody>
      </p:sp>
      <p:sp>
        <p:nvSpPr>
          <p:cNvPr id="9" name="Text 7"/>
          <p:cNvSpPr/>
          <p:nvPr/>
        </p:nvSpPr>
        <p:spPr>
          <a:xfrm>
            <a:off x="4572000" y="2743200"/>
            <a:ext cx="3108960" cy="77724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Feb 1 – Apr 30, 2026 · Kampala, Central 1 &amp; Central 2</a:t>
            </a:r>
            <a:endParaRPr lang="en-US" sz="1200" dirty="0"/>
          </a:p>
        </p:txBody>
      </p:sp>
      <p:sp>
        <p:nvSpPr>
          <p:cNvPr id="10" name="Shape 8"/>
          <p:cNvSpPr/>
          <p:nvPr/>
        </p:nvSpPr>
        <p:spPr>
          <a:xfrm>
            <a:off x="8138160" y="1691640"/>
            <a:ext cx="3566160" cy="1920240"/>
          </a:xfrm>
          <a:prstGeom prst="roundRect">
            <a:avLst>
              <a:gd name="adj" fmla="val 3810"/>
            </a:avLst>
          </a:prstGeom>
          <a:solidFill>
            <a:srgbClr val="1E2761"/>
          </a:solidFill>
          <a:ln/>
        </p:spPr>
      </p:sp>
      <p:sp>
        <p:nvSpPr>
          <p:cNvPr id="11" name="Text 9"/>
          <p:cNvSpPr/>
          <p:nvPr/>
        </p:nvSpPr>
        <p:spPr>
          <a:xfrm>
            <a:off x="8366760" y="1874520"/>
            <a:ext cx="3108960" cy="86868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~59M</a:t>
            </a:r>
            <a:endParaRPr lang="en-US" sz="3300" dirty="0"/>
          </a:p>
        </p:txBody>
      </p:sp>
      <p:sp>
        <p:nvSpPr>
          <p:cNvPr id="12" name="Text 10"/>
          <p:cNvSpPr/>
          <p:nvPr/>
        </p:nvSpPr>
        <p:spPr>
          <a:xfrm>
            <a:off x="8366760" y="2743200"/>
            <a:ext cx="3108960" cy="77724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voice bundle purchase transactions processed</a:t>
            </a:r>
            <a:endParaRPr lang="en-US" sz="1200" dirty="0"/>
          </a:p>
        </p:txBody>
      </p:sp>
      <p:sp>
        <p:nvSpPr>
          <p:cNvPr id="13" name="Shape 11"/>
          <p:cNvSpPr/>
          <p:nvPr/>
        </p:nvSpPr>
        <p:spPr>
          <a:xfrm>
            <a:off x="548640" y="3840480"/>
            <a:ext cx="3566160" cy="1920240"/>
          </a:xfrm>
          <a:prstGeom prst="roundRect">
            <a:avLst>
              <a:gd name="adj" fmla="val 3810"/>
            </a:avLst>
          </a:prstGeom>
          <a:solidFill>
            <a:srgbClr val="F4F7FE"/>
          </a:solidFill>
          <a:ln/>
        </p:spPr>
      </p:sp>
      <p:sp>
        <p:nvSpPr>
          <p:cNvPr id="14" name="Text 12"/>
          <p:cNvSpPr/>
          <p:nvPr/>
        </p:nvSpPr>
        <p:spPr>
          <a:xfrm>
            <a:off x="777240" y="4023360"/>
            <a:ext cx="3108960" cy="868680"/>
          </a:xfrm>
          <a:prstGeom prst="rect">
            <a:avLst/>
          </a:prstGeom>
          <a:noFill/>
          <a:ln/>
        </p:spPr>
        <p:txBody>
          <a:bodyPr wrap="square" lIns="0" tIns="0" rIns="0" bIns="0" rtlCol="0" anchor="ctr"/>
          <a:lstStyle/>
          <a:p>
            <a:pPr marL="0" indent="0">
              <a:buNone/>
            </a:pPr>
            <a:r>
              <a:rPr lang="en-US" sz="3300" b="1" dirty="0">
                <a:solidFill>
                  <a:srgbClr val="1E2761"/>
                </a:solidFill>
                <a:latin typeface="Cambria" pitchFamily="34" charset="0"/>
                <a:ea typeface="Cambria" pitchFamily="34" charset="-122"/>
                <a:cs typeface="Cambria" pitchFamily="34" charset="-120"/>
              </a:rPr>
              <a:t>738</a:t>
            </a:r>
            <a:endParaRPr lang="en-US" sz="3300" dirty="0"/>
          </a:p>
        </p:txBody>
      </p:sp>
      <p:sp>
        <p:nvSpPr>
          <p:cNvPr id="15" name="Text 13"/>
          <p:cNvSpPr/>
          <p:nvPr/>
        </p:nvSpPr>
        <p:spPr>
          <a:xfrm>
            <a:off x="777240" y="4892040"/>
            <a:ext cx="3108960" cy="777240"/>
          </a:xfrm>
          <a:prstGeom prst="rect">
            <a:avLst/>
          </a:prstGeom>
          <a:noFill/>
          <a:ln/>
        </p:spPr>
        <p:txBody>
          <a:bodyPr wrap="square" lIns="0" tIns="0" rIns="0" bIns="0" rtlCol="0" anchor="ctr"/>
          <a:lstStyle/>
          <a:p>
            <a:pPr marL="0" indent="0">
              <a:buNone/>
            </a:pPr>
            <a:r>
              <a:rPr lang="en-US" sz="1200" dirty="0">
                <a:solidFill>
                  <a:srgbClr val="5A6478"/>
                </a:solidFill>
                <a:latin typeface="Calibri" pitchFamily="34" charset="0"/>
                <a:ea typeface="Calibri" pitchFamily="34" charset="-122"/>
                <a:cs typeface="Calibri" pitchFamily="34" charset="-120"/>
              </a:rPr>
              <a:t>voice &amp; combo bundle products in scope</a:t>
            </a:r>
            <a:endParaRPr lang="en-US" sz="1200" dirty="0"/>
          </a:p>
        </p:txBody>
      </p:sp>
      <p:sp>
        <p:nvSpPr>
          <p:cNvPr id="16" name="Shape 14"/>
          <p:cNvSpPr/>
          <p:nvPr/>
        </p:nvSpPr>
        <p:spPr>
          <a:xfrm>
            <a:off x="4343400" y="3840480"/>
            <a:ext cx="3566160" cy="1920240"/>
          </a:xfrm>
          <a:prstGeom prst="roundRect">
            <a:avLst>
              <a:gd name="adj" fmla="val 3810"/>
            </a:avLst>
          </a:prstGeom>
          <a:solidFill>
            <a:srgbClr val="F4F7FE"/>
          </a:solidFill>
          <a:ln/>
        </p:spPr>
      </p:sp>
      <p:sp>
        <p:nvSpPr>
          <p:cNvPr id="17" name="Text 15"/>
          <p:cNvSpPr/>
          <p:nvPr/>
        </p:nvSpPr>
        <p:spPr>
          <a:xfrm>
            <a:off x="4572000" y="4023360"/>
            <a:ext cx="3108960" cy="868680"/>
          </a:xfrm>
          <a:prstGeom prst="rect">
            <a:avLst/>
          </a:prstGeom>
          <a:noFill/>
          <a:ln/>
        </p:spPr>
        <p:txBody>
          <a:bodyPr wrap="square" lIns="0" tIns="0" rIns="0" bIns="0" rtlCol="0" anchor="ctr"/>
          <a:lstStyle/>
          <a:p>
            <a:pPr marL="0" indent="0">
              <a:buNone/>
            </a:pPr>
            <a:r>
              <a:rPr lang="en-US" sz="3300" b="1" dirty="0">
                <a:solidFill>
                  <a:srgbClr val="1E2761"/>
                </a:solidFill>
                <a:latin typeface="Cambria" pitchFamily="34" charset="0"/>
                <a:ea typeface="Cambria" pitchFamily="34" charset="-122"/>
                <a:cs typeface="Cambria" pitchFamily="34" charset="-120"/>
              </a:rPr>
              <a:t>35</a:t>
            </a:r>
            <a:endParaRPr lang="en-US" sz="3300" dirty="0"/>
          </a:p>
        </p:txBody>
      </p:sp>
      <p:sp>
        <p:nvSpPr>
          <p:cNvPr id="18" name="Text 16"/>
          <p:cNvSpPr/>
          <p:nvPr/>
        </p:nvSpPr>
        <p:spPr>
          <a:xfrm>
            <a:off x="4572000" y="4892040"/>
            <a:ext cx="3108960" cy="777240"/>
          </a:xfrm>
          <a:prstGeom prst="rect">
            <a:avLst/>
          </a:prstGeom>
          <a:noFill/>
          <a:ln/>
        </p:spPr>
        <p:txBody>
          <a:bodyPr wrap="square" lIns="0" tIns="0" rIns="0" bIns="0" rtlCol="0" anchor="ctr"/>
          <a:lstStyle/>
          <a:p>
            <a:pPr marL="0" indent="0">
              <a:buNone/>
            </a:pPr>
            <a:r>
              <a:rPr lang="en-US" sz="1200" dirty="0">
                <a:solidFill>
                  <a:srgbClr val="5A6478"/>
                </a:solidFill>
                <a:latin typeface="Calibri" pitchFamily="34" charset="0"/>
                <a:ea typeface="Calibri" pitchFamily="34" charset="-122"/>
                <a:cs typeface="Calibri" pitchFamily="34" charset="-120"/>
              </a:rPr>
              <a:t>engineered behavioural features</a:t>
            </a:r>
            <a:endParaRPr lang="en-US" sz="1200" dirty="0"/>
          </a:p>
        </p:txBody>
      </p:sp>
      <p:sp>
        <p:nvSpPr>
          <p:cNvPr id="19" name="Shape 17"/>
          <p:cNvSpPr/>
          <p:nvPr/>
        </p:nvSpPr>
        <p:spPr>
          <a:xfrm>
            <a:off x="8138160" y="3840480"/>
            <a:ext cx="3566160" cy="1920240"/>
          </a:xfrm>
          <a:prstGeom prst="roundRect">
            <a:avLst>
              <a:gd name="adj" fmla="val 3810"/>
            </a:avLst>
          </a:prstGeom>
          <a:solidFill>
            <a:srgbClr val="F4F7FE"/>
          </a:solidFill>
          <a:ln/>
        </p:spPr>
      </p:sp>
      <p:sp>
        <p:nvSpPr>
          <p:cNvPr id="20" name="Text 18"/>
          <p:cNvSpPr/>
          <p:nvPr/>
        </p:nvSpPr>
        <p:spPr>
          <a:xfrm>
            <a:off x="8366760" y="4023360"/>
            <a:ext cx="3108960" cy="868680"/>
          </a:xfrm>
          <a:prstGeom prst="rect">
            <a:avLst/>
          </a:prstGeom>
          <a:noFill/>
          <a:ln/>
        </p:spPr>
        <p:txBody>
          <a:bodyPr wrap="square" lIns="0" tIns="0" rIns="0" bIns="0" rtlCol="0" anchor="ctr"/>
          <a:lstStyle/>
          <a:p>
            <a:pPr marL="0" indent="0">
              <a:buNone/>
            </a:pPr>
            <a:r>
              <a:rPr lang="en-US" sz="3300" b="1" dirty="0">
                <a:solidFill>
                  <a:srgbClr val="1E2761"/>
                </a:solidFill>
                <a:latin typeface="Cambria" pitchFamily="34" charset="0"/>
                <a:ea typeface="Cambria" pitchFamily="34" charset="-122"/>
                <a:cs typeface="Cambria" pitchFamily="34" charset="-120"/>
              </a:rPr>
              <a:t>8</a:t>
            </a:r>
            <a:endParaRPr lang="en-US" sz="3300" dirty="0"/>
          </a:p>
        </p:txBody>
      </p:sp>
      <p:sp>
        <p:nvSpPr>
          <p:cNvPr id="21" name="Text 19"/>
          <p:cNvSpPr/>
          <p:nvPr/>
        </p:nvSpPr>
        <p:spPr>
          <a:xfrm>
            <a:off x="8366760" y="4892040"/>
            <a:ext cx="3108960" cy="777240"/>
          </a:xfrm>
          <a:prstGeom prst="rect">
            <a:avLst/>
          </a:prstGeom>
          <a:noFill/>
          <a:ln/>
        </p:spPr>
        <p:txBody>
          <a:bodyPr wrap="square" lIns="0" tIns="0" rIns="0" bIns="0" rtlCol="0" anchor="ctr"/>
          <a:lstStyle/>
          <a:p>
            <a:pPr marL="0" indent="0">
              <a:buNone/>
            </a:pPr>
            <a:r>
              <a:rPr lang="en-US" sz="1200" dirty="0">
                <a:solidFill>
                  <a:srgbClr val="5A6478"/>
                </a:solidFill>
                <a:latin typeface="Calibri" pitchFamily="34" charset="0"/>
                <a:ea typeface="Calibri" pitchFamily="34" charset="-122"/>
                <a:cs typeface="Calibri" pitchFamily="34" charset="-120"/>
              </a:rPr>
              <a:t>value segments (Diamond → Silver) as target classes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320040"/>
          </a:xfrm>
          <a:prstGeom prst="rect">
            <a:avLst/>
          </a:prstGeom>
          <a:noFill/>
          <a:ln/>
        </p:spPr>
        <p:txBody>
          <a:bodyPr wrap="square" lIns="0" tIns="0" rIns="0" bIns="0" rtlCol="0" anchor="ctr"/>
          <a:lstStyle/>
          <a:p>
            <a:pPr marL="0" indent="0">
              <a:buNone/>
            </a:pPr>
            <a:r>
              <a:rPr lang="en-US" sz="1200" b="1" kern="0" spc="200" dirty="0">
                <a:solidFill>
                  <a:srgbClr val="E40000"/>
                </a:solidFill>
                <a:latin typeface="Calibri" pitchFamily="34" charset="0"/>
                <a:ea typeface="Calibri" pitchFamily="34" charset="-122"/>
                <a:cs typeface="Calibri" pitchFamily="34" charset="-120"/>
              </a:rPr>
              <a:t>05 · RESULTS — OBJECTIVE 1</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H1 Result: Behaviour Predicts Segment</a:t>
            </a:r>
            <a:endParaRPr lang="en-US" sz="3000" dirty="0"/>
          </a:p>
        </p:txBody>
      </p:sp>
      <p:sp>
        <p:nvSpPr>
          <p:cNvPr id="4" name="Shape 2"/>
          <p:cNvSpPr/>
          <p:nvPr/>
        </p:nvSpPr>
        <p:spPr>
          <a:xfrm>
            <a:off x="548640" y="1600200"/>
            <a:ext cx="6858000" cy="1316736"/>
          </a:xfrm>
          <a:prstGeom prst="roundRect">
            <a:avLst>
              <a:gd name="adj" fmla="val 5556"/>
            </a:avLst>
          </a:prstGeom>
          <a:solidFill>
            <a:srgbClr val="F4F7FE"/>
          </a:solidFill>
          <a:ln/>
        </p:spPr>
      </p:sp>
      <p:sp>
        <p:nvSpPr>
          <p:cNvPr id="5" name="Text 3"/>
          <p:cNvSpPr/>
          <p:nvPr/>
        </p:nvSpPr>
        <p:spPr>
          <a:xfrm>
            <a:off x="777240" y="1691640"/>
            <a:ext cx="3931920" cy="411480"/>
          </a:xfrm>
          <a:prstGeom prst="rect">
            <a:avLst/>
          </a:prstGeom>
          <a:noFill/>
          <a:ln/>
        </p:spPr>
        <p:txBody>
          <a:bodyPr wrap="square" lIns="0" tIns="0" rIns="0" bIns="0"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Spearman Rank Correlation</a:t>
            </a:r>
            <a:endParaRPr lang="en-US" sz="1450" dirty="0"/>
          </a:p>
        </p:txBody>
      </p:sp>
      <p:sp>
        <p:nvSpPr>
          <p:cNvPr id="6" name="Text 4"/>
          <p:cNvSpPr/>
          <p:nvPr/>
        </p:nvSpPr>
        <p:spPr>
          <a:xfrm>
            <a:off x="777240" y="2103120"/>
            <a:ext cx="4663440" cy="731520"/>
          </a:xfrm>
          <a:prstGeom prst="rect">
            <a:avLst/>
          </a:prstGeom>
          <a:noFill/>
          <a:ln/>
        </p:spPr>
        <p:txBody>
          <a:bodyPr wrap="square" lIns="0" tIns="0" rIns="0" bIns="0" rtlCol="0" anchor="ctr"/>
          <a:lstStyle/>
          <a:p>
            <a:pPr marL="0" indent="0">
              <a:buNone/>
            </a:pPr>
            <a:r>
              <a:rPr lang="en-US" sz="1100" dirty="0">
                <a:solidFill>
                  <a:srgbClr val="5A6478"/>
                </a:solidFill>
                <a:latin typeface="Calibri" pitchFamily="34" charset="0"/>
                <a:ea typeface="Calibri" pitchFamily="34" charset="-122"/>
                <a:cs typeface="Calibri" pitchFamily="34" charset="-120"/>
              </a:rPr>
              <a:t>Top |r|: IS_SMARTPHONE (−.068), BUNDLE_SPEND_30D (−.067), ACTIVE_DAYS (−.059)</a:t>
            </a:r>
            <a:endParaRPr lang="en-US" sz="1100" dirty="0"/>
          </a:p>
        </p:txBody>
      </p:sp>
      <p:sp>
        <p:nvSpPr>
          <p:cNvPr id="7" name="Text 5"/>
          <p:cNvSpPr/>
          <p:nvPr/>
        </p:nvSpPr>
        <p:spPr>
          <a:xfrm>
            <a:off x="5486400" y="1691640"/>
            <a:ext cx="1828800" cy="1143000"/>
          </a:xfrm>
          <a:prstGeom prst="rect">
            <a:avLst/>
          </a:prstGeom>
          <a:noFill/>
          <a:ln/>
        </p:spPr>
        <p:txBody>
          <a:bodyPr wrap="square" lIns="0" tIns="0" rIns="0" bIns="0" rtlCol="0" anchor="ctr"/>
          <a:lstStyle/>
          <a:p>
            <a:pPr marL="0" indent="0" algn="r">
              <a:buNone/>
            </a:pPr>
            <a:r>
              <a:rPr lang="en-US" sz="1700" b="1" dirty="0">
                <a:solidFill>
                  <a:srgbClr val="0F6E56"/>
                </a:solidFill>
                <a:latin typeface="Cambria" pitchFamily="34" charset="0"/>
                <a:ea typeface="Cambria" pitchFamily="34" charset="-122"/>
                <a:cs typeface="Cambria" pitchFamily="34" charset="-120"/>
              </a:rPr>
              <a:t>34 / 35 significant</a:t>
            </a:r>
            <a:endParaRPr lang="en-US" sz="1700" dirty="0"/>
          </a:p>
        </p:txBody>
      </p:sp>
      <p:sp>
        <p:nvSpPr>
          <p:cNvPr id="8" name="Shape 6"/>
          <p:cNvSpPr/>
          <p:nvPr/>
        </p:nvSpPr>
        <p:spPr>
          <a:xfrm>
            <a:off x="548640" y="3081528"/>
            <a:ext cx="6858000" cy="1316736"/>
          </a:xfrm>
          <a:prstGeom prst="roundRect">
            <a:avLst>
              <a:gd name="adj" fmla="val 5556"/>
            </a:avLst>
          </a:prstGeom>
          <a:solidFill>
            <a:srgbClr val="F4F7FE"/>
          </a:solidFill>
          <a:ln/>
        </p:spPr>
      </p:sp>
      <p:sp>
        <p:nvSpPr>
          <p:cNvPr id="9" name="Text 7"/>
          <p:cNvSpPr/>
          <p:nvPr/>
        </p:nvSpPr>
        <p:spPr>
          <a:xfrm>
            <a:off x="777240" y="3172968"/>
            <a:ext cx="3931920" cy="411480"/>
          </a:xfrm>
          <a:prstGeom prst="rect">
            <a:avLst/>
          </a:prstGeom>
          <a:noFill/>
          <a:ln/>
        </p:spPr>
        <p:txBody>
          <a:bodyPr wrap="square" lIns="0" tIns="0" rIns="0" bIns="0"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One-Way ANOVA</a:t>
            </a:r>
            <a:endParaRPr lang="en-US" sz="1450" dirty="0"/>
          </a:p>
        </p:txBody>
      </p:sp>
      <p:sp>
        <p:nvSpPr>
          <p:cNvPr id="10" name="Text 8"/>
          <p:cNvSpPr/>
          <p:nvPr/>
        </p:nvSpPr>
        <p:spPr>
          <a:xfrm>
            <a:off x="777240" y="3584448"/>
            <a:ext cx="4663440" cy="731520"/>
          </a:xfrm>
          <a:prstGeom prst="rect">
            <a:avLst/>
          </a:prstGeom>
          <a:noFill/>
          <a:ln/>
        </p:spPr>
        <p:txBody>
          <a:bodyPr wrap="square" lIns="0" tIns="0" rIns="0" bIns="0" rtlCol="0" anchor="ctr"/>
          <a:lstStyle/>
          <a:p>
            <a:pPr marL="0" indent="0">
              <a:buNone/>
            </a:pPr>
            <a:r>
              <a:rPr lang="en-US" sz="1100" dirty="0">
                <a:solidFill>
                  <a:srgbClr val="5A6478"/>
                </a:solidFill>
                <a:latin typeface="Calibri" pitchFamily="34" charset="0"/>
                <a:ea typeface="Calibri" pitchFamily="34" charset="-122"/>
                <a:cs typeface="Calibri" pitchFamily="34" charset="-120"/>
              </a:rPr>
              <a:t>Top F: TOTAL_REVENUE (258,689), CALLS (41,475), VOICE_INTENSITY (27,892)</a:t>
            </a:r>
            <a:endParaRPr lang="en-US" sz="1100" dirty="0"/>
          </a:p>
        </p:txBody>
      </p:sp>
      <p:sp>
        <p:nvSpPr>
          <p:cNvPr id="11" name="Text 9"/>
          <p:cNvSpPr/>
          <p:nvPr/>
        </p:nvSpPr>
        <p:spPr>
          <a:xfrm>
            <a:off x="5486400" y="3172968"/>
            <a:ext cx="1828800" cy="1143000"/>
          </a:xfrm>
          <a:prstGeom prst="rect">
            <a:avLst/>
          </a:prstGeom>
          <a:noFill/>
          <a:ln/>
        </p:spPr>
        <p:txBody>
          <a:bodyPr wrap="square" lIns="0" tIns="0" rIns="0" bIns="0" rtlCol="0" anchor="ctr"/>
          <a:lstStyle/>
          <a:p>
            <a:pPr marL="0" indent="0" algn="r">
              <a:buNone/>
            </a:pPr>
            <a:r>
              <a:rPr lang="en-US" sz="1700" b="1" dirty="0">
                <a:solidFill>
                  <a:srgbClr val="0F6E56"/>
                </a:solidFill>
                <a:latin typeface="Cambria" pitchFamily="34" charset="0"/>
                <a:ea typeface="Cambria" pitchFamily="34" charset="-122"/>
                <a:cs typeface="Cambria" pitchFamily="34" charset="-120"/>
              </a:rPr>
              <a:t>35 / 35 significant</a:t>
            </a:r>
            <a:endParaRPr lang="en-US" sz="1700" dirty="0"/>
          </a:p>
        </p:txBody>
      </p:sp>
      <p:sp>
        <p:nvSpPr>
          <p:cNvPr id="12" name="Shape 10"/>
          <p:cNvSpPr/>
          <p:nvPr/>
        </p:nvSpPr>
        <p:spPr>
          <a:xfrm>
            <a:off x="548640" y="4562856"/>
            <a:ext cx="6858000" cy="1316736"/>
          </a:xfrm>
          <a:prstGeom prst="roundRect">
            <a:avLst>
              <a:gd name="adj" fmla="val 5556"/>
            </a:avLst>
          </a:prstGeom>
          <a:solidFill>
            <a:srgbClr val="F4F7FE"/>
          </a:solidFill>
          <a:ln/>
        </p:spPr>
      </p:sp>
      <p:sp>
        <p:nvSpPr>
          <p:cNvPr id="13" name="Text 11"/>
          <p:cNvSpPr/>
          <p:nvPr/>
        </p:nvSpPr>
        <p:spPr>
          <a:xfrm>
            <a:off x="777240" y="4654296"/>
            <a:ext cx="3931920" cy="411480"/>
          </a:xfrm>
          <a:prstGeom prst="rect">
            <a:avLst/>
          </a:prstGeom>
          <a:noFill/>
          <a:ln/>
        </p:spPr>
        <p:txBody>
          <a:bodyPr wrap="square" lIns="0" tIns="0" rIns="0" bIns="0"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Chi-Square</a:t>
            </a:r>
            <a:endParaRPr lang="en-US" sz="1450" dirty="0"/>
          </a:p>
        </p:txBody>
      </p:sp>
      <p:sp>
        <p:nvSpPr>
          <p:cNvPr id="14" name="Text 12"/>
          <p:cNvSpPr/>
          <p:nvPr/>
        </p:nvSpPr>
        <p:spPr>
          <a:xfrm>
            <a:off x="777240" y="5065776"/>
            <a:ext cx="4663440" cy="731520"/>
          </a:xfrm>
          <a:prstGeom prst="rect">
            <a:avLst/>
          </a:prstGeom>
          <a:noFill/>
          <a:ln/>
        </p:spPr>
        <p:txBody>
          <a:bodyPr wrap="square" lIns="0" tIns="0" rIns="0" bIns="0" rtlCol="0" anchor="ctr"/>
          <a:lstStyle/>
          <a:p>
            <a:pPr marL="0" indent="0">
              <a:buNone/>
            </a:pPr>
            <a:r>
              <a:rPr lang="en-US" sz="1100" dirty="0">
                <a:solidFill>
                  <a:srgbClr val="5A6478"/>
                </a:solidFill>
                <a:latin typeface="Calibri" pitchFamily="34" charset="0"/>
                <a:ea typeface="Calibri" pitchFamily="34" charset="-122"/>
                <a:cs typeface="Calibri" pitchFamily="34" charset="-120"/>
              </a:rPr>
              <a:t>HANDSET_TYPE χ² = 181,567 · MOST_FREQ_CHANNEL χ² = 59,471</a:t>
            </a:r>
            <a:endParaRPr lang="en-US" sz="1100" dirty="0"/>
          </a:p>
        </p:txBody>
      </p:sp>
      <p:sp>
        <p:nvSpPr>
          <p:cNvPr id="15" name="Text 13"/>
          <p:cNvSpPr/>
          <p:nvPr/>
        </p:nvSpPr>
        <p:spPr>
          <a:xfrm>
            <a:off x="5486400" y="4654296"/>
            <a:ext cx="1828800" cy="1143000"/>
          </a:xfrm>
          <a:prstGeom prst="rect">
            <a:avLst/>
          </a:prstGeom>
          <a:noFill/>
          <a:ln/>
        </p:spPr>
        <p:txBody>
          <a:bodyPr wrap="square" lIns="0" tIns="0" rIns="0" bIns="0" rtlCol="0" anchor="ctr"/>
          <a:lstStyle/>
          <a:p>
            <a:pPr marL="0" indent="0" algn="r">
              <a:buNone/>
            </a:pPr>
            <a:r>
              <a:rPr lang="en-US" sz="1700" b="1" dirty="0">
                <a:solidFill>
                  <a:srgbClr val="0F6E56"/>
                </a:solidFill>
                <a:latin typeface="Cambria" pitchFamily="34" charset="0"/>
                <a:ea typeface="Cambria" pitchFamily="34" charset="-122"/>
                <a:cs typeface="Cambria" pitchFamily="34" charset="-120"/>
              </a:rPr>
              <a:t>7 / 7 significant</a:t>
            </a:r>
            <a:endParaRPr lang="en-US" sz="1700" dirty="0"/>
          </a:p>
        </p:txBody>
      </p:sp>
      <p:sp>
        <p:nvSpPr>
          <p:cNvPr id="16" name="Shape 14"/>
          <p:cNvSpPr/>
          <p:nvPr/>
        </p:nvSpPr>
        <p:spPr>
          <a:xfrm>
            <a:off x="7680960" y="1600200"/>
            <a:ext cx="3886200" cy="4434840"/>
          </a:xfrm>
          <a:prstGeom prst="roundRect">
            <a:avLst>
              <a:gd name="adj" fmla="val 1882"/>
            </a:avLst>
          </a:prstGeom>
          <a:solidFill>
            <a:srgbClr val="1E2761"/>
          </a:solidFill>
          <a:ln/>
        </p:spPr>
      </p:sp>
      <p:sp>
        <p:nvSpPr>
          <p:cNvPr id="17" name="Text 15"/>
          <p:cNvSpPr/>
          <p:nvPr/>
        </p:nvSpPr>
        <p:spPr>
          <a:xfrm>
            <a:off x="7955280" y="1828800"/>
            <a:ext cx="3383280" cy="50292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H1₀ REJECTED</a:t>
            </a:r>
            <a:endParaRPr lang="en-US" sz="2200" dirty="0"/>
          </a:p>
        </p:txBody>
      </p:sp>
      <p:sp>
        <p:nvSpPr>
          <p:cNvPr id="18" name="Text 16"/>
          <p:cNvSpPr/>
          <p:nvPr/>
        </p:nvSpPr>
        <p:spPr>
          <a:xfrm>
            <a:off x="7955280" y="2423160"/>
            <a:ext cx="3383280" cy="3474720"/>
          </a:xfrm>
          <a:prstGeom prst="rect">
            <a:avLst/>
          </a:prstGeom>
          <a:noFill/>
          <a:ln/>
        </p:spPr>
        <p:txBody>
          <a:bodyPr wrap="square" lIns="0" tIns="0" rIns="0" bIns="0" rtlCol="0" anchor="ctr"/>
          <a:lstStyle/>
          <a:p>
            <a:pPr marL="0" indent="0">
              <a:spcAft>
                <a:spcPts val="400"/>
              </a:spcAft>
              <a:buNone/>
            </a:pPr>
            <a:r>
              <a:rPr lang="en-US" sz="1200" b="1" dirty="0">
                <a:solidFill>
                  <a:srgbClr val="CADCFC"/>
                </a:solidFill>
                <a:latin typeface="Calibri" pitchFamily="34" charset="0"/>
                <a:ea typeface="Calibri" pitchFamily="34" charset="-122"/>
                <a:cs typeface="Calibri" pitchFamily="34" charset="-120"/>
              </a:rPr>
              <a:t>Multiple behavioural attributes significantly predict bundle segment.</a:t>
            </a:r>
            <a:endParaRPr lang="en-US" sz="1200" dirty="0"/>
          </a:p>
          <a:p>
            <a:pPr marL="0" indent="0">
              <a:spcAft>
                <a:spcPts val="400"/>
              </a:spcAft>
              <a:buNone/>
            </a:pPr>
            <a:endParaRPr lang="en-US" sz="1200" dirty="0"/>
          </a:p>
          <a:p>
            <a:pPr marL="0" indent="0">
              <a:spcAft>
                <a:spcPts val="400"/>
              </a:spcAft>
              <a:buNone/>
            </a:pPr>
            <a:r>
              <a:rPr lang="en-US" sz="1200" dirty="0">
                <a:solidFill>
                  <a:srgbClr val="CADCFC"/>
                </a:solidFill>
                <a:latin typeface="Calibri" pitchFamily="34" charset="0"/>
                <a:ea typeface="Calibri" pitchFamily="34" charset="-122"/>
                <a:cs typeface="Calibri" pitchFamily="34" charset="-120"/>
              </a:rPr>
              <a:t>Honest interpretation: at N = 1.46M, even negligible correlations reach p &lt; 0.05 (Cohen 1988: all |r| &lt; 0.10). We therefore rank features by effect magnitude, not significance alone.</a:t>
            </a:r>
            <a:endParaRPr lang="en-US" sz="1200" dirty="0"/>
          </a:p>
          <a:p>
            <a:pPr marL="0" indent="0">
              <a:spcAft>
                <a:spcPts val="400"/>
              </a:spcAft>
              <a:buNone/>
            </a:pPr>
            <a:endParaRPr lang="en-US" sz="1200" dirty="0"/>
          </a:p>
          <a:p>
            <a:pPr marL="0" indent="0">
              <a:spcAft>
                <a:spcPts val="400"/>
              </a:spcAft>
              <a:buNone/>
            </a:pPr>
            <a:r>
              <a:rPr lang="en-US" sz="1200" i="1" dirty="0">
                <a:solidFill>
                  <a:srgbClr val="FFFFFF"/>
                </a:solidFill>
                <a:latin typeface="Calibri" pitchFamily="34" charset="0"/>
                <a:ea typeface="Calibri" pitchFamily="34" charset="-122"/>
                <a:cs typeface="Calibri" pitchFamily="34" charset="-120"/>
              </a:rPr>
              <a:t>UPGRADE_RATE — the one non-significant feature (r = 0.0004, p = 0.65) — is itself a novel finding.</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320040"/>
          </a:xfrm>
          <a:prstGeom prst="rect">
            <a:avLst/>
          </a:prstGeom>
          <a:noFill/>
          <a:ln/>
        </p:spPr>
        <p:txBody>
          <a:bodyPr wrap="square" lIns="0" tIns="0" rIns="0" bIns="0" rtlCol="0" anchor="ctr"/>
          <a:lstStyle/>
          <a:p>
            <a:pPr marL="0" indent="0">
              <a:buNone/>
            </a:pPr>
            <a:r>
              <a:rPr lang="en-US" sz="1200" b="1" kern="0" spc="200" dirty="0">
                <a:solidFill>
                  <a:srgbClr val="E40000"/>
                </a:solidFill>
                <a:latin typeface="Calibri" pitchFamily="34" charset="0"/>
                <a:ea typeface="Calibri" pitchFamily="34" charset="-122"/>
                <a:cs typeface="Calibri" pitchFamily="34" charset="-120"/>
              </a:rPr>
              <a:t>06 · RESULTS — OBJECTIVE 2</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H2 Result: XGBoost Wins — F1 = 0.661</a:t>
            </a:r>
            <a:endParaRPr lang="en-US" sz="3000" dirty="0"/>
          </a:p>
        </p:txBody>
      </p:sp>
      <p:graphicFrame>
        <p:nvGraphicFramePr>
          <p:cNvPr id="4" name="Chart 0"/>
          <p:cNvGraphicFramePr/>
          <p:nvPr/>
        </p:nvGraphicFramePr>
        <p:xfrm>
          <a:off x="548640" y="1645920"/>
          <a:ext cx="667512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589520" y="1645920"/>
            <a:ext cx="3977640" cy="4297680"/>
          </a:xfrm>
          <a:prstGeom prst="roundRect">
            <a:avLst>
              <a:gd name="adj" fmla="val 1839"/>
            </a:avLst>
          </a:prstGeom>
          <a:solidFill>
            <a:srgbClr val="F4F7FE"/>
          </a:solidFill>
          <a:ln/>
        </p:spPr>
      </p:sp>
      <p:sp>
        <p:nvSpPr>
          <p:cNvPr id="6" name="Text 3"/>
          <p:cNvSpPr/>
          <p:nvPr/>
        </p:nvSpPr>
        <p:spPr>
          <a:xfrm>
            <a:off x="7863840" y="1828800"/>
            <a:ext cx="3474720" cy="3931920"/>
          </a:xfrm>
          <a:prstGeom prst="rect">
            <a:avLst/>
          </a:prstGeom>
          <a:noFill/>
          <a:ln/>
        </p:spPr>
        <p:txBody>
          <a:bodyPr wrap="square" lIns="0" tIns="0" rIns="0" bIns="0" rtlCol="0" anchor="ctr"/>
          <a:lstStyle/>
          <a:p>
            <a:pPr marL="0" indent="0">
              <a:spcAft>
                <a:spcPts val="300"/>
              </a:spcAft>
              <a:buNone/>
            </a:pPr>
            <a:r>
              <a:rPr lang="en-US" sz="1500" b="1" dirty="0">
                <a:solidFill>
                  <a:srgbClr val="1E2761"/>
                </a:solidFill>
                <a:latin typeface="Calibri" pitchFamily="34" charset="0"/>
                <a:ea typeface="Calibri" pitchFamily="34" charset="-122"/>
                <a:cs typeface="Calibri" pitchFamily="34" charset="-120"/>
              </a:rPr>
              <a:t>XGBoost — best on every metric</a:t>
            </a:r>
            <a:endParaRPr lang="en-US" sz="1500" dirty="0"/>
          </a:p>
          <a:p>
            <a:pPr marL="0" indent="0">
              <a:spcAft>
                <a:spcPts val="300"/>
              </a:spcAft>
              <a:buNone/>
            </a:pPr>
            <a:r>
              <a:rPr lang="en-US" sz="1200" dirty="0">
                <a:solidFill>
                  <a:srgbClr val="5A6478"/>
                </a:solidFill>
                <a:latin typeface="Calibri" pitchFamily="34" charset="0"/>
                <a:ea typeface="Calibri" pitchFamily="34" charset="-122"/>
                <a:cs typeface="Calibri" pitchFamily="34" charset="-120"/>
              </a:rPr>
              <a:t>Accuracy 0.680 · Precision 0.670 · Recall 0.680</a:t>
            </a:r>
            <a:endParaRPr lang="en-US" sz="1500" dirty="0"/>
          </a:p>
          <a:p>
            <a:pPr marL="0" indent="0">
              <a:spcAft>
                <a:spcPts val="300"/>
              </a:spcAft>
              <a:buNone/>
            </a:pPr>
            <a:endParaRPr lang="en-US" sz="1500" dirty="0"/>
          </a:p>
          <a:p>
            <a:pPr marL="0" indent="0">
              <a:spcAft>
                <a:spcPts val="300"/>
              </a:spcAft>
              <a:buNone/>
            </a:pPr>
            <a:r>
              <a:rPr lang="en-US" sz="3400" b="1" dirty="0">
                <a:solidFill>
                  <a:srgbClr val="E40000"/>
                </a:solidFill>
                <a:latin typeface="Calibri" pitchFamily="34" charset="0"/>
                <a:ea typeface="Calibri" pitchFamily="34" charset="-122"/>
                <a:cs typeface="Calibri" pitchFamily="34" charset="-120"/>
              </a:rPr>
              <a:t>5.4×</a:t>
            </a:r>
            <a:endParaRPr lang="en-US" sz="1500" dirty="0"/>
          </a:p>
          <a:p>
            <a:pPr marL="0" indent="0">
              <a:spcAft>
                <a:spcPts val="300"/>
              </a:spcAft>
              <a:buNone/>
            </a:pPr>
            <a:r>
              <a:rPr lang="en-US" sz="1200" dirty="0">
                <a:solidFill>
                  <a:srgbClr val="5A6478"/>
                </a:solidFill>
                <a:latin typeface="Calibri" pitchFamily="34" charset="0"/>
                <a:ea typeface="Calibri" pitchFamily="34" charset="-122"/>
                <a:cs typeface="Calibri" pitchFamily="34" charset="-120"/>
              </a:rPr>
              <a:t>better than the 12.5% random baseline for an 8-class task</a:t>
            </a:r>
            <a:endParaRPr lang="en-US" sz="1500" dirty="0"/>
          </a:p>
          <a:p>
            <a:pPr marL="0" indent="0">
              <a:spcAft>
                <a:spcPts val="300"/>
              </a:spcAft>
              <a:buNone/>
            </a:pPr>
            <a:endParaRPr lang="en-US" sz="1500" dirty="0"/>
          </a:p>
          <a:p>
            <a:pPr marL="0" indent="0">
              <a:spcAft>
                <a:spcPts val="300"/>
              </a:spcAft>
              <a:buNone/>
            </a:pPr>
            <a:r>
              <a:rPr lang="en-US" sz="1250" b="1" dirty="0">
                <a:solidFill>
                  <a:srgbClr val="1E2761"/>
                </a:solidFill>
                <a:latin typeface="Calibri" pitchFamily="34" charset="0"/>
                <a:ea typeface="Calibri" pitchFamily="34" charset="-122"/>
                <a:cs typeface="Calibri" pitchFamily="34" charset="-120"/>
              </a:rPr>
              <a:t>F1 range across models = 0.2146 → meaningful hierarchy → H2₀ rejected</a:t>
            </a:r>
            <a:endParaRPr lang="en-US" sz="1500" dirty="0"/>
          </a:p>
          <a:p>
            <a:pPr marL="0" indent="0">
              <a:spcAft>
                <a:spcPts val="300"/>
              </a:spcAft>
              <a:buNone/>
            </a:pPr>
            <a:endParaRPr lang="en-US" sz="1500" dirty="0"/>
          </a:p>
          <a:p>
            <a:pPr marL="0" indent="0">
              <a:spcAft>
                <a:spcPts val="300"/>
              </a:spcAft>
              <a:buNone/>
            </a:pPr>
            <a:r>
              <a:rPr lang="en-US" sz="1100" i="1" dirty="0">
                <a:solidFill>
                  <a:srgbClr val="5A6478"/>
                </a:solidFill>
                <a:latin typeface="Calibri" pitchFamily="34" charset="0"/>
                <a:ea typeface="Calibri" pitchFamily="34" charset="-122"/>
                <a:cs typeface="Calibri" pitchFamily="34" charset="-120"/>
              </a:rPr>
              <a:t>Global benchmark ≈ 0.82 is binary; ours is 8-class with 34-to-777K class imbalance — not directly comparable.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320040"/>
          </a:xfrm>
          <a:prstGeom prst="rect">
            <a:avLst/>
          </a:prstGeom>
          <a:noFill/>
          <a:ln/>
        </p:spPr>
        <p:txBody>
          <a:bodyPr wrap="square" lIns="0" tIns="0" rIns="0" bIns="0" rtlCol="0" anchor="ctr"/>
          <a:lstStyle/>
          <a:p>
            <a:pPr marL="0" indent="0">
              <a:buNone/>
            </a:pPr>
            <a:r>
              <a:rPr lang="en-US" sz="1200" b="1" kern="0" spc="200" dirty="0">
                <a:solidFill>
                  <a:srgbClr val="E40000"/>
                </a:solidFill>
                <a:latin typeface="Calibri" pitchFamily="34" charset="0"/>
                <a:ea typeface="Calibri" pitchFamily="34" charset="-122"/>
                <a:cs typeface="Calibri" pitchFamily="34" charset="-120"/>
              </a:rPr>
              <a:t>07 · FEATURE IMPORTANCE</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What Actually Predicts a Customer's Segment</a:t>
            </a:r>
            <a:endParaRPr lang="en-US" sz="3000" dirty="0"/>
          </a:p>
        </p:txBody>
      </p:sp>
      <p:graphicFrame>
        <p:nvGraphicFramePr>
          <p:cNvPr id="4" name="Chart 0"/>
          <p:cNvGraphicFramePr/>
          <p:nvPr/>
        </p:nvGraphicFramePr>
        <p:xfrm>
          <a:off x="548640" y="1645920"/>
          <a:ext cx="667512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589520" y="1645920"/>
            <a:ext cx="3977640" cy="4297680"/>
          </a:xfrm>
          <a:prstGeom prst="roundRect">
            <a:avLst>
              <a:gd name="adj" fmla="val 1839"/>
            </a:avLst>
          </a:prstGeom>
          <a:solidFill>
            <a:srgbClr val="1E2761"/>
          </a:solidFill>
          <a:ln/>
        </p:spPr>
      </p:sp>
      <p:sp>
        <p:nvSpPr>
          <p:cNvPr id="6" name="Text 3"/>
          <p:cNvSpPr/>
          <p:nvPr/>
        </p:nvSpPr>
        <p:spPr>
          <a:xfrm>
            <a:off x="7863840" y="1828800"/>
            <a:ext cx="3474720" cy="3931920"/>
          </a:xfrm>
          <a:prstGeom prst="rect">
            <a:avLst/>
          </a:prstGeom>
          <a:noFill/>
          <a:ln/>
        </p:spPr>
        <p:txBody>
          <a:bodyPr wrap="square" lIns="0" tIns="0" rIns="0" bIns="0" rtlCol="0" anchor="ctr"/>
          <a:lstStyle/>
          <a:p>
            <a:pPr marL="0" indent="0">
              <a:spcAft>
                <a:spcPts val="300"/>
              </a:spcAft>
              <a:buNone/>
            </a:pPr>
            <a:r>
              <a:rPr lang="en-US" sz="1500" b="1" dirty="0">
                <a:solidFill>
                  <a:srgbClr val="E40000"/>
                </a:solidFill>
                <a:latin typeface="Calibri" pitchFamily="34" charset="0"/>
                <a:ea typeface="Calibri" pitchFamily="34" charset="-122"/>
                <a:cs typeface="Calibri" pitchFamily="34" charset="-120"/>
              </a:rPr>
              <a:t>The headline finding</a:t>
            </a:r>
            <a:endParaRPr lang="en-US" sz="1500" dirty="0"/>
          </a:p>
          <a:p>
            <a:pPr marL="0" indent="0">
              <a:spcAft>
                <a:spcPts val="300"/>
              </a:spcAft>
              <a:buNone/>
            </a:pPr>
            <a:endParaRPr lang="en-US" sz="1500" dirty="0"/>
          </a:p>
          <a:p>
            <a:pPr marL="0" indent="0">
              <a:spcAft>
                <a:spcPts val="300"/>
              </a:spcAft>
              <a:buNone/>
            </a:pPr>
            <a:r>
              <a:rPr lang="en-US" sz="1300" b="1" dirty="0">
                <a:solidFill>
                  <a:srgbClr val="FFFFFF"/>
                </a:solidFill>
                <a:latin typeface="Calibri" pitchFamily="34" charset="0"/>
                <a:ea typeface="Calibri" pitchFamily="34" charset="-122"/>
                <a:cs typeface="Calibri" pitchFamily="34" charset="-120"/>
              </a:rPr>
              <a:t>SPEND_PER_MINUTE — an engineered ratio of revenue to minutes used — ranks 2nd at 6.57%, ahead of raw call counts.</a:t>
            </a:r>
            <a:endParaRPr lang="en-US" sz="1500" dirty="0"/>
          </a:p>
          <a:p>
            <a:pPr marL="0" indent="0">
              <a:spcAft>
                <a:spcPts val="300"/>
              </a:spcAft>
              <a:buNone/>
            </a:pPr>
            <a:endParaRPr lang="en-US" sz="1500" dirty="0"/>
          </a:p>
          <a:p>
            <a:pPr marL="0" indent="0">
              <a:spcAft>
                <a:spcPts val="300"/>
              </a:spcAft>
              <a:buNone/>
            </a:pPr>
            <a:r>
              <a:rPr lang="en-US" sz="1250" dirty="0">
                <a:solidFill>
                  <a:srgbClr val="CADCFC"/>
                </a:solidFill>
                <a:latin typeface="Calibri" pitchFamily="34" charset="0"/>
                <a:ea typeface="Calibri" pitchFamily="34" charset="-122"/>
                <a:cs typeface="Calibri" pitchFamily="34" charset="-120"/>
              </a:rPr>
              <a:t>It is not how much a customer spends, but how efficiently they spend relative to usage. ARPU banding cannot see this.</a:t>
            </a:r>
            <a:endParaRPr lang="en-US" sz="1500" dirty="0"/>
          </a:p>
          <a:p>
            <a:pPr marL="0" indent="0">
              <a:spcAft>
                <a:spcPts val="300"/>
              </a:spcAft>
              <a:buNone/>
            </a:pPr>
            <a:endParaRPr lang="en-US" sz="1500" dirty="0"/>
          </a:p>
          <a:p>
            <a:pPr marL="0" indent="0">
              <a:spcAft>
                <a:spcPts val="300"/>
              </a:spcAft>
              <a:buNone/>
            </a:pPr>
            <a:r>
              <a:rPr lang="en-US" sz="1250" i="1" dirty="0">
                <a:solidFill>
                  <a:srgbClr val="CADCFC"/>
                </a:solidFill>
                <a:latin typeface="Calibri" pitchFamily="34" charset="0"/>
                <a:ea typeface="Calibri" pitchFamily="34" charset="-122"/>
                <a:cs typeface="Calibri" pitchFamily="34" charset="-120"/>
              </a:rPr>
              <a:t>VOICE_INTENSITY (calls/active day, 5.87%) is observable in real time — a deployable trigger signal.</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320040"/>
          </a:xfrm>
          <a:prstGeom prst="rect">
            <a:avLst/>
          </a:prstGeom>
          <a:noFill/>
          <a:ln/>
        </p:spPr>
        <p:txBody>
          <a:bodyPr wrap="square" lIns="0" tIns="0" rIns="0" bIns="0" rtlCol="0" anchor="ctr"/>
          <a:lstStyle/>
          <a:p>
            <a:pPr marL="0" indent="0">
              <a:buNone/>
            </a:pPr>
            <a:r>
              <a:rPr lang="en-US" sz="1200" b="1" kern="0" spc="200" dirty="0">
                <a:solidFill>
                  <a:srgbClr val="E40000"/>
                </a:solidFill>
                <a:latin typeface="Calibri" pitchFamily="34" charset="0"/>
                <a:ea typeface="Calibri" pitchFamily="34" charset="-122"/>
                <a:cs typeface="Calibri" pitchFamily="34" charset="-120"/>
              </a:rPr>
              <a:t>08 · RESULTS — OBJECTIVE 3</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H3: Projected Business Impact</a:t>
            </a:r>
            <a:endParaRPr lang="en-US" sz="3000" dirty="0"/>
          </a:p>
        </p:txBody>
      </p:sp>
      <p:sp>
        <p:nvSpPr>
          <p:cNvPr id="4" name="Shape 2"/>
          <p:cNvSpPr/>
          <p:nvPr/>
        </p:nvSpPr>
        <p:spPr>
          <a:xfrm>
            <a:off x="548640" y="1645920"/>
            <a:ext cx="11018520" cy="1316736"/>
          </a:xfrm>
          <a:prstGeom prst="roundRect">
            <a:avLst>
              <a:gd name="adj" fmla="val 5556"/>
            </a:avLst>
          </a:prstGeom>
          <a:solidFill>
            <a:srgbClr val="F4F7FE"/>
          </a:solidFill>
          <a:ln/>
        </p:spPr>
      </p:sp>
      <p:sp>
        <p:nvSpPr>
          <p:cNvPr id="5" name="Text 3"/>
          <p:cNvSpPr/>
          <p:nvPr/>
        </p:nvSpPr>
        <p:spPr>
          <a:xfrm>
            <a:off x="822960" y="1755648"/>
            <a:ext cx="3291840" cy="109728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Bundle offer conversion</a:t>
            </a:r>
            <a:endParaRPr lang="en-US" sz="1500" dirty="0"/>
          </a:p>
        </p:txBody>
      </p:sp>
      <p:sp>
        <p:nvSpPr>
          <p:cNvPr id="6" name="Text 4"/>
          <p:cNvSpPr/>
          <p:nvPr/>
        </p:nvSpPr>
        <p:spPr>
          <a:xfrm>
            <a:off x="4206240" y="1755648"/>
            <a:ext cx="1554480" cy="1097280"/>
          </a:xfrm>
          <a:prstGeom prst="rect">
            <a:avLst/>
          </a:prstGeom>
          <a:noFill/>
          <a:ln/>
        </p:spPr>
        <p:txBody>
          <a:bodyPr wrap="square" lIns="0" tIns="0" rIns="0" bIns="0" rtlCol="0" anchor="ctr"/>
          <a:lstStyle/>
          <a:p>
            <a:pPr marL="0" indent="0" algn="ctr">
              <a:buNone/>
            </a:pPr>
            <a:r>
              <a:rPr lang="en-US" sz="1500" dirty="0">
                <a:solidFill>
                  <a:srgbClr val="5A6478"/>
                </a:solidFill>
                <a:latin typeface="Calibri" pitchFamily="34" charset="0"/>
                <a:ea typeface="Calibri" pitchFamily="34" charset="-122"/>
                <a:cs typeface="Calibri" pitchFamily="34" charset="-120"/>
              </a:rPr>
              <a:t>~3%</a:t>
            </a:r>
            <a:endParaRPr lang="en-US" sz="1500" dirty="0"/>
          </a:p>
        </p:txBody>
      </p:sp>
      <p:sp>
        <p:nvSpPr>
          <p:cNvPr id="7" name="Text 5"/>
          <p:cNvSpPr/>
          <p:nvPr/>
        </p:nvSpPr>
        <p:spPr>
          <a:xfrm>
            <a:off x="5760720" y="1755648"/>
            <a:ext cx="640080" cy="1097280"/>
          </a:xfrm>
          <a:prstGeom prst="rect">
            <a:avLst/>
          </a:prstGeom>
          <a:noFill/>
          <a:ln/>
        </p:spPr>
        <p:txBody>
          <a:bodyPr wrap="square" lIns="0" tIns="0" rIns="0" bIns="0" rtlCol="0" anchor="ctr"/>
          <a:lstStyle/>
          <a:p>
            <a:pPr marL="0" indent="0" algn="ctr">
              <a:buNone/>
            </a:pPr>
            <a:r>
              <a:rPr lang="en-US" sz="2000" b="1" dirty="0">
                <a:solidFill>
                  <a:srgbClr val="E40000"/>
                </a:solidFill>
                <a:latin typeface="Calibri" pitchFamily="34" charset="0"/>
                <a:ea typeface="Calibri" pitchFamily="34" charset="-122"/>
                <a:cs typeface="Calibri" pitchFamily="34" charset="-120"/>
              </a:rPr>
              <a:t>→</a:t>
            </a:r>
            <a:endParaRPr lang="en-US" sz="2000" dirty="0"/>
          </a:p>
        </p:txBody>
      </p:sp>
      <p:sp>
        <p:nvSpPr>
          <p:cNvPr id="8" name="Text 6"/>
          <p:cNvSpPr/>
          <p:nvPr/>
        </p:nvSpPr>
        <p:spPr>
          <a:xfrm>
            <a:off x="6400800" y="1755648"/>
            <a:ext cx="1737360" cy="1097280"/>
          </a:xfrm>
          <a:prstGeom prst="rect">
            <a:avLst/>
          </a:prstGeom>
          <a:noFill/>
          <a:ln/>
        </p:spPr>
        <p:txBody>
          <a:bodyPr wrap="square" lIns="0" tIns="0" rIns="0" bIns="0" rtlCol="0" anchor="ctr"/>
          <a:lstStyle/>
          <a:p>
            <a:pPr marL="0" indent="0" algn="ctr">
              <a:buNone/>
            </a:pPr>
            <a:r>
              <a:rPr lang="en-US" sz="2200" b="1" dirty="0">
                <a:solidFill>
                  <a:srgbClr val="0F6E56"/>
                </a:solidFill>
                <a:latin typeface="Cambria" pitchFamily="34" charset="0"/>
                <a:ea typeface="Cambria" pitchFamily="34" charset="-122"/>
                <a:cs typeface="Cambria" pitchFamily="34" charset="-120"/>
              </a:rPr>
              <a:t>12–15%</a:t>
            </a:r>
            <a:endParaRPr lang="en-US" sz="2200" dirty="0"/>
          </a:p>
        </p:txBody>
      </p:sp>
      <p:sp>
        <p:nvSpPr>
          <p:cNvPr id="9" name="Text 7"/>
          <p:cNvSpPr/>
          <p:nvPr/>
        </p:nvSpPr>
        <p:spPr>
          <a:xfrm>
            <a:off x="8229600" y="1755648"/>
            <a:ext cx="3200400" cy="1097280"/>
          </a:xfrm>
          <a:prstGeom prst="rect">
            <a:avLst/>
          </a:prstGeom>
          <a:noFill/>
          <a:ln/>
        </p:spPr>
        <p:txBody>
          <a:bodyPr wrap="square" lIns="0" tIns="0" rIns="0" bIns="0" rtlCol="0" anchor="ctr"/>
          <a:lstStyle/>
          <a:p>
            <a:pPr marL="0" indent="0">
              <a:buNone/>
            </a:pPr>
            <a:r>
              <a:rPr lang="en-US" sz="1100" i="1" dirty="0">
                <a:solidFill>
                  <a:srgbClr val="5A6478"/>
                </a:solidFill>
                <a:latin typeface="Calibri" pitchFamily="34" charset="0"/>
                <a:ea typeface="Calibri" pitchFamily="34" charset="-122"/>
                <a:cs typeface="Calibri" pitchFamily="34" charset="-120"/>
              </a:rPr>
              <a:t>4–5× uplift, grounded in model precision of 0.67</a:t>
            </a:r>
            <a:endParaRPr lang="en-US" sz="1100" dirty="0"/>
          </a:p>
        </p:txBody>
      </p:sp>
      <p:sp>
        <p:nvSpPr>
          <p:cNvPr id="10" name="Shape 8"/>
          <p:cNvSpPr/>
          <p:nvPr/>
        </p:nvSpPr>
        <p:spPr>
          <a:xfrm>
            <a:off x="548640" y="3127248"/>
            <a:ext cx="11018520" cy="1316736"/>
          </a:xfrm>
          <a:prstGeom prst="roundRect">
            <a:avLst>
              <a:gd name="adj" fmla="val 5556"/>
            </a:avLst>
          </a:prstGeom>
          <a:solidFill>
            <a:srgbClr val="F4F7FE"/>
          </a:solidFill>
          <a:ln/>
        </p:spPr>
      </p:sp>
      <p:sp>
        <p:nvSpPr>
          <p:cNvPr id="11" name="Text 9"/>
          <p:cNvSpPr/>
          <p:nvPr/>
        </p:nvSpPr>
        <p:spPr>
          <a:xfrm>
            <a:off x="822960" y="3236976"/>
            <a:ext cx="3291840" cy="109728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ARPU</a:t>
            </a:r>
            <a:endParaRPr lang="en-US" sz="1500" dirty="0"/>
          </a:p>
        </p:txBody>
      </p:sp>
      <p:sp>
        <p:nvSpPr>
          <p:cNvPr id="12" name="Text 10"/>
          <p:cNvSpPr/>
          <p:nvPr/>
        </p:nvSpPr>
        <p:spPr>
          <a:xfrm>
            <a:off x="4206240" y="3236976"/>
            <a:ext cx="1554480" cy="1097280"/>
          </a:xfrm>
          <a:prstGeom prst="rect">
            <a:avLst/>
          </a:prstGeom>
          <a:noFill/>
          <a:ln/>
        </p:spPr>
        <p:txBody>
          <a:bodyPr wrap="square" lIns="0" tIns="0" rIns="0" bIns="0" rtlCol="0" anchor="ctr"/>
          <a:lstStyle/>
          <a:p>
            <a:pPr marL="0" indent="0" algn="ctr">
              <a:buNone/>
            </a:pPr>
            <a:r>
              <a:rPr lang="en-US" sz="1500" dirty="0">
                <a:solidFill>
                  <a:srgbClr val="5A6478"/>
                </a:solidFill>
                <a:latin typeface="Calibri" pitchFamily="34" charset="0"/>
                <a:ea typeface="Calibri" pitchFamily="34" charset="-122"/>
                <a:cs typeface="Calibri" pitchFamily="34" charset="-120"/>
              </a:rPr>
              <a:t>index 100</a:t>
            </a:r>
            <a:endParaRPr lang="en-US" sz="1500" dirty="0"/>
          </a:p>
        </p:txBody>
      </p:sp>
      <p:sp>
        <p:nvSpPr>
          <p:cNvPr id="13" name="Text 11"/>
          <p:cNvSpPr/>
          <p:nvPr/>
        </p:nvSpPr>
        <p:spPr>
          <a:xfrm>
            <a:off x="5760720" y="3236976"/>
            <a:ext cx="640080" cy="1097280"/>
          </a:xfrm>
          <a:prstGeom prst="rect">
            <a:avLst/>
          </a:prstGeom>
          <a:noFill/>
          <a:ln/>
        </p:spPr>
        <p:txBody>
          <a:bodyPr wrap="square" lIns="0" tIns="0" rIns="0" bIns="0" rtlCol="0" anchor="ctr"/>
          <a:lstStyle/>
          <a:p>
            <a:pPr marL="0" indent="0" algn="ctr">
              <a:buNone/>
            </a:pPr>
            <a:r>
              <a:rPr lang="en-US" sz="2000" b="1" dirty="0">
                <a:solidFill>
                  <a:srgbClr val="E40000"/>
                </a:solidFill>
                <a:latin typeface="Calibri" pitchFamily="34" charset="0"/>
                <a:ea typeface="Calibri" pitchFamily="34" charset="-122"/>
                <a:cs typeface="Calibri" pitchFamily="34" charset="-120"/>
              </a:rPr>
              <a:t>→</a:t>
            </a:r>
            <a:endParaRPr lang="en-US" sz="2000" dirty="0"/>
          </a:p>
        </p:txBody>
      </p:sp>
      <p:sp>
        <p:nvSpPr>
          <p:cNvPr id="14" name="Text 12"/>
          <p:cNvSpPr/>
          <p:nvPr/>
        </p:nvSpPr>
        <p:spPr>
          <a:xfrm>
            <a:off x="6400800" y="3236976"/>
            <a:ext cx="1737360" cy="1097280"/>
          </a:xfrm>
          <a:prstGeom prst="rect">
            <a:avLst/>
          </a:prstGeom>
          <a:noFill/>
          <a:ln/>
        </p:spPr>
        <p:txBody>
          <a:bodyPr wrap="square" lIns="0" tIns="0" rIns="0" bIns="0" rtlCol="0" anchor="ctr"/>
          <a:lstStyle/>
          <a:p>
            <a:pPr marL="0" indent="0" algn="ctr">
              <a:buNone/>
            </a:pPr>
            <a:r>
              <a:rPr lang="en-US" sz="2200" b="1" dirty="0">
                <a:solidFill>
                  <a:srgbClr val="0F6E56"/>
                </a:solidFill>
                <a:latin typeface="Cambria" pitchFamily="34" charset="0"/>
                <a:ea typeface="Cambria" pitchFamily="34" charset="-122"/>
                <a:cs typeface="Cambria" pitchFamily="34" charset="-120"/>
              </a:rPr>
              <a:t>+9%</a:t>
            </a:r>
            <a:endParaRPr lang="en-US" sz="2200" dirty="0"/>
          </a:p>
        </p:txBody>
      </p:sp>
      <p:sp>
        <p:nvSpPr>
          <p:cNvPr id="15" name="Text 13"/>
          <p:cNvSpPr/>
          <p:nvPr/>
        </p:nvSpPr>
        <p:spPr>
          <a:xfrm>
            <a:off x="8229600" y="3236976"/>
            <a:ext cx="3200400" cy="1097280"/>
          </a:xfrm>
          <a:prstGeom prst="rect">
            <a:avLst/>
          </a:prstGeom>
          <a:noFill/>
          <a:ln/>
        </p:spPr>
        <p:txBody>
          <a:bodyPr wrap="square" lIns="0" tIns="0" rIns="0" bIns="0" rtlCol="0" anchor="ctr"/>
          <a:lstStyle/>
          <a:p>
            <a:pPr marL="0" indent="0">
              <a:buNone/>
            </a:pPr>
            <a:r>
              <a:rPr lang="en-US" sz="1100" i="1" dirty="0">
                <a:solidFill>
                  <a:srgbClr val="5A6478"/>
                </a:solidFill>
                <a:latin typeface="Calibri" pitchFamily="34" charset="0"/>
                <a:ea typeface="Calibri" pitchFamily="34" charset="-122"/>
                <a:cs typeface="Calibri" pitchFamily="34" charset="-120"/>
              </a:rPr>
              <a:t>targeted upsell of efficiency-profile subscribers</a:t>
            </a:r>
            <a:endParaRPr lang="en-US" sz="1100" dirty="0"/>
          </a:p>
        </p:txBody>
      </p:sp>
      <p:sp>
        <p:nvSpPr>
          <p:cNvPr id="16" name="Shape 14"/>
          <p:cNvSpPr/>
          <p:nvPr/>
        </p:nvSpPr>
        <p:spPr>
          <a:xfrm>
            <a:off x="548640" y="4608576"/>
            <a:ext cx="11018520" cy="1316736"/>
          </a:xfrm>
          <a:prstGeom prst="roundRect">
            <a:avLst>
              <a:gd name="adj" fmla="val 5556"/>
            </a:avLst>
          </a:prstGeom>
          <a:solidFill>
            <a:srgbClr val="F4F7FE"/>
          </a:solidFill>
          <a:ln/>
        </p:spPr>
      </p:sp>
      <p:sp>
        <p:nvSpPr>
          <p:cNvPr id="17" name="Text 15"/>
          <p:cNvSpPr/>
          <p:nvPr/>
        </p:nvSpPr>
        <p:spPr>
          <a:xfrm>
            <a:off x="822960" y="4718304"/>
            <a:ext cx="3291840" cy="109728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Recommendation relevance</a:t>
            </a:r>
            <a:endParaRPr lang="en-US" sz="1500" dirty="0"/>
          </a:p>
        </p:txBody>
      </p:sp>
      <p:sp>
        <p:nvSpPr>
          <p:cNvPr id="18" name="Text 16"/>
          <p:cNvSpPr/>
          <p:nvPr/>
        </p:nvSpPr>
        <p:spPr>
          <a:xfrm>
            <a:off x="4206240" y="4718304"/>
            <a:ext cx="1554480" cy="1097280"/>
          </a:xfrm>
          <a:prstGeom prst="rect">
            <a:avLst/>
          </a:prstGeom>
          <a:noFill/>
          <a:ln/>
        </p:spPr>
        <p:txBody>
          <a:bodyPr wrap="square" lIns="0" tIns="0" rIns="0" bIns="0" rtlCol="0" anchor="ctr"/>
          <a:lstStyle/>
          <a:p>
            <a:pPr marL="0" indent="0" algn="ctr">
              <a:buNone/>
            </a:pPr>
            <a:r>
              <a:rPr lang="en-US" sz="1500" dirty="0">
                <a:solidFill>
                  <a:srgbClr val="5A6478"/>
                </a:solidFill>
                <a:latin typeface="Calibri" pitchFamily="34" charset="0"/>
                <a:ea typeface="Calibri" pitchFamily="34" charset="-122"/>
                <a:cs typeface="Calibri" pitchFamily="34" charset="-120"/>
              </a:rPr>
              <a:t>generic menus</a:t>
            </a:r>
            <a:endParaRPr lang="en-US" sz="1500" dirty="0"/>
          </a:p>
        </p:txBody>
      </p:sp>
      <p:sp>
        <p:nvSpPr>
          <p:cNvPr id="19" name="Text 17"/>
          <p:cNvSpPr/>
          <p:nvPr/>
        </p:nvSpPr>
        <p:spPr>
          <a:xfrm>
            <a:off x="5760720" y="4718304"/>
            <a:ext cx="640080" cy="1097280"/>
          </a:xfrm>
          <a:prstGeom prst="rect">
            <a:avLst/>
          </a:prstGeom>
          <a:noFill/>
          <a:ln/>
        </p:spPr>
        <p:txBody>
          <a:bodyPr wrap="square" lIns="0" tIns="0" rIns="0" bIns="0" rtlCol="0" anchor="ctr"/>
          <a:lstStyle/>
          <a:p>
            <a:pPr marL="0" indent="0" algn="ctr">
              <a:buNone/>
            </a:pPr>
            <a:r>
              <a:rPr lang="en-US" sz="2000" b="1" dirty="0">
                <a:solidFill>
                  <a:srgbClr val="E40000"/>
                </a:solidFill>
                <a:latin typeface="Calibri" pitchFamily="34" charset="0"/>
                <a:ea typeface="Calibri" pitchFamily="34" charset="-122"/>
                <a:cs typeface="Calibri" pitchFamily="34" charset="-120"/>
              </a:rPr>
              <a:t>→</a:t>
            </a:r>
            <a:endParaRPr lang="en-US" sz="2000" dirty="0"/>
          </a:p>
        </p:txBody>
      </p:sp>
      <p:sp>
        <p:nvSpPr>
          <p:cNvPr id="20" name="Text 18"/>
          <p:cNvSpPr/>
          <p:nvPr/>
        </p:nvSpPr>
        <p:spPr>
          <a:xfrm>
            <a:off x="6400800" y="4718304"/>
            <a:ext cx="1737360" cy="1097280"/>
          </a:xfrm>
          <a:prstGeom prst="rect">
            <a:avLst/>
          </a:prstGeom>
          <a:noFill/>
          <a:ln/>
        </p:spPr>
        <p:txBody>
          <a:bodyPr wrap="square" lIns="0" tIns="0" rIns="0" bIns="0" rtlCol="0" anchor="ctr"/>
          <a:lstStyle/>
          <a:p>
            <a:pPr marL="0" indent="0" algn="ctr">
              <a:buNone/>
            </a:pPr>
            <a:r>
              <a:rPr lang="en-US" sz="2200" b="1" dirty="0">
                <a:solidFill>
                  <a:srgbClr val="0F6E56"/>
                </a:solidFill>
                <a:latin typeface="Cambria" pitchFamily="34" charset="0"/>
                <a:ea typeface="Cambria" pitchFamily="34" charset="-122"/>
                <a:cs typeface="Cambria" pitchFamily="34" charset="-120"/>
              </a:rPr>
              <a:t>+15–20%</a:t>
            </a:r>
            <a:endParaRPr lang="en-US" sz="2200" dirty="0"/>
          </a:p>
        </p:txBody>
      </p:sp>
      <p:sp>
        <p:nvSpPr>
          <p:cNvPr id="21" name="Text 19"/>
          <p:cNvSpPr/>
          <p:nvPr/>
        </p:nvSpPr>
        <p:spPr>
          <a:xfrm>
            <a:off x="8229600" y="4718304"/>
            <a:ext cx="3200400" cy="1097280"/>
          </a:xfrm>
          <a:prstGeom prst="rect">
            <a:avLst/>
          </a:prstGeom>
          <a:noFill/>
          <a:ln/>
        </p:spPr>
        <p:txBody>
          <a:bodyPr wrap="square" lIns="0" tIns="0" rIns="0" bIns="0" rtlCol="0" anchor="ctr"/>
          <a:lstStyle/>
          <a:p>
            <a:pPr marL="0" indent="0">
              <a:buNone/>
            </a:pPr>
            <a:r>
              <a:rPr lang="en-US" sz="1100" i="1" dirty="0">
                <a:solidFill>
                  <a:srgbClr val="5A6478"/>
                </a:solidFill>
                <a:latin typeface="Calibri" pitchFamily="34" charset="0"/>
                <a:ea typeface="Calibri" pitchFamily="34" charset="-122"/>
                <a:cs typeface="Calibri" pitchFamily="34" charset="-120"/>
              </a:rPr>
              <a:t>benchmarked vs. McKinsey telecom deployments</a:t>
            </a:r>
            <a:endParaRPr lang="en-US" sz="1100" dirty="0"/>
          </a:p>
        </p:txBody>
      </p:sp>
      <p:sp>
        <p:nvSpPr>
          <p:cNvPr id="22" name="Text 20"/>
          <p:cNvSpPr/>
          <p:nvPr/>
        </p:nvSpPr>
        <p:spPr>
          <a:xfrm>
            <a:off x="548640" y="6172200"/>
            <a:ext cx="10972800" cy="365760"/>
          </a:xfrm>
          <a:prstGeom prst="rect">
            <a:avLst/>
          </a:prstGeom>
          <a:noFill/>
          <a:ln/>
        </p:spPr>
        <p:txBody>
          <a:bodyPr wrap="square" lIns="0" tIns="0" rIns="0" bIns="0" rtlCol="0" anchor="ctr"/>
          <a:lstStyle/>
          <a:p>
            <a:pPr marL="0" indent="0">
              <a:buNone/>
            </a:pPr>
            <a:r>
              <a:rPr lang="en-US" sz="1300" b="1" i="1" dirty="0">
                <a:solidFill>
                  <a:srgbClr val="E40000"/>
                </a:solidFill>
                <a:latin typeface="Calibri" pitchFamily="34" charset="0"/>
                <a:ea typeface="Calibri" pitchFamily="34" charset="-122"/>
                <a:cs typeface="Calibri" pitchFamily="34" charset="-120"/>
              </a:rPr>
              <a:t>H3₁ preliminarily supported — full confirmation requires the live A/B test specified in Chapter 6.</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320040"/>
          </a:xfrm>
          <a:prstGeom prst="rect">
            <a:avLst/>
          </a:prstGeom>
          <a:noFill/>
          <a:ln/>
        </p:spPr>
        <p:txBody>
          <a:bodyPr wrap="square" lIns="0" tIns="0" rIns="0" bIns="0" rtlCol="0" anchor="ctr"/>
          <a:lstStyle/>
          <a:p>
            <a:pPr marL="0" indent="0">
              <a:buNone/>
            </a:pPr>
            <a:r>
              <a:rPr lang="en-US" sz="1200" b="1" kern="0" spc="200" dirty="0">
                <a:solidFill>
                  <a:srgbClr val="E40000"/>
                </a:solidFill>
                <a:latin typeface="Calibri" pitchFamily="34" charset="0"/>
                <a:ea typeface="Calibri" pitchFamily="34" charset="-122"/>
                <a:cs typeface="Calibri" pitchFamily="34" charset="-120"/>
              </a:rPr>
              <a:t>09 · RECOMMENDATIONS</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Three Strategic Recommendations for Airtel</a:t>
            </a:r>
            <a:endParaRPr lang="en-US" sz="3000" dirty="0"/>
          </a:p>
        </p:txBody>
      </p:sp>
      <p:sp>
        <p:nvSpPr>
          <p:cNvPr id="4" name="Shape 2"/>
          <p:cNvSpPr/>
          <p:nvPr/>
        </p:nvSpPr>
        <p:spPr>
          <a:xfrm>
            <a:off x="548640" y="1645920"/>
            <a:ext cx="3566160" cy="4297680"/>
          </a:xfrm>
          <a:prstGeom prst="roundRect">
            <a:avLst>
              <a:gd name="adj" fmla="val 2051"/>
            </a:avLst>
          </a:prstGeom>
          <a:solidFill>
            <a:srgbClr val="1E2761"/>
          </a:solidFill>
          <a:ln/>
        </p:spPr>
      </p:sp>
      <p:sp>
        <p:nvSpPr>
          <p:cNvPr id="5" name="Shape 3"/>
          <p:cNvSpPr/>
          <p:nvPr/>
        </p:nvSpPr>
        <p:spPr>
          <a:xfrm>
            <a:off x="777240" y="1874520"/>
            <a:ext cx="566928" cy="566928"/>
          </a:xfrm>
          <a:prstGeom prst="ellipse">
            <a:avLst/>
          </a:prstGeom>
          <a:solidFill>
            <a:srgbClr val="E40000"/>
          </a:solidFill>
          <a:ln/>
        </p:spPr>
      </p:sp>
      <p:sp>
        <p:nvSpPr>
          <p:cNvPr id="6" name="Text 4"/>
          <p:cNvSpPr/>
          <p:nvPr/>
        </p:nvSpPr>
        <p:spPr>
          <a:xfrm>
            <a:off x="777240" y="187452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777240" y="2651760"/>
            <a:ext cx="3108960" cy="868680"/>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VOICE_INTENSITY-triggered engine</a:t>
            </a:r>
            <a:endParaRPr lang="en-US" sz="1550" dirty="0"/>
          </a:p>
        </p:txBody>
      </p:sp>
      <p:sp>
        <p:nvSpPr>
          <p:cNvPr id="8" name="Text 6"/>
          <p:cNvSpPr/>
          <p:nvPr/>
        </p:nvSpPr>
        <p:spPr>
          <a:xfrm>
            <a:off x="777240" y="3566160"/>
            <a:ext cx="3108960" cy="2194560"/>
          </a:xfrm>
          <a:prstGeom prst="rect">
            <a:avLst/>
          </a:prstGeom>
          <a:noFill/>
          <a:ln/>
        </p:spPr>
        <p:txBody>
          <a:bodyPr wrap="square" lIns="0" tIns="0" rIns="0" bIns="0" rtlCol="0" anchor="ctr"/>
          <a:lstStyle/>
          <a:p>
            <a:pPr marL="0" indent="0">
              <a:buNone/>
            </a:pPr>
            <a:r>
              <a:rPr lang="en-US" sz="1150" dirty="0">
                <a:solidFill>
                  <a:srgbClr val="CADCFC"/>
                </a:solidFill>
                <a:latin typeface="Calibri" pitchFamily="34" charset="0"/>
                <a:ea typeface="Calibri" pitchFamily="34" charset="-122"/>
                <a:cs typeface="Calibri" pitchFamily="34" charset="-120"/>
              </a:rPr>
              <a:t>Push a personalised offer when calls/active-day exceed the subscriber's 30-day average by 20% — the moment of purchase intent. Surface higher tiers when SPEND_PER_MINUTE is above segment median.</a:t>
            </a:r>
            <a:endParaRPr lang="en-US" sz="1150" dirty="0"/>
          </a:p>
        </p:txBody>
      </p:sp>
      <p:sp>
        <p:nvSpPr>
          <p:cNvPr id="9" name="Shape 7"/>
          <p:cNvSpPr/>
          <p:nvPr/>
        </p:nvSpPr>
        <p:spPr>
          <a:xfrm>
            <a:off x="4343400" y="1645920"/>
            <a:ext cx="3566160" cy="4297680"/>
          </a:xfrm>
          <a:prstGeom prst="roundRect">
            <a:avLst>
              <a:gd name="adj" fmla="val 2051"/>
            </a:avLst>
          </a:prstGeom>
          <a:solidFill>
            <a:srgbClr val="F4F7FE"/>
          </a:solidFill>
          <a:ln/>
        </p:spPr>
      </p:sp>
      <p:sp>
        <p:nvSpPr>
          <p:cNvPr id="10" name="Shape 8"/>
          <p:cNvSpPr/>
          <p:nvPr/>
        </p:nvSpPr>
        <p:spPr>
          <a:xfrm>
            <a:off x="4572000" y="1874520"/>
            <a:ext cx="566928" cy="566928"/>
          </a:xfrm>
          <a:prstGeom prst="ellipse">
            <a:avLst/>
          </a:prstGeom>
          <a:solidFill>
            <a:srgbClr val="E40000"/>
          </a:solidFill>
          <a:ln/>
        </p:spPr>
      </p:sp>
      <p:sp>
        <p:nvSpPr>
          <p:cNvPr id="11" name="Text 9"/>
          <p:cNvSpPr/>
          <p:nvPr/>
        </p:nvSpPr>
        <p:spPr>
          <a:xfrm>
            <a:off x="4572000" y="187452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10"/>
          <p:cNvSpPr/>
          <p:nvPr/>
        </p:nvSpPr>
        <p:spPr>
          <a:xfrm>
            <a:off x="4572000" y="2651760"/>
            <a:ext cx="3108960" cy="868680"/>
          </a:xfrm>
          <a:prstGeom prst="rect">
            <a:avLst/>
          </a:prstGeom>
          <a:noFill/>
          <a:ln/>
        </p:spPr>
        <p:txBody>
          <a:bodyPr wrap="square" lIns="0" tIns="0" rIns="0" bIns="0" rtlCol="0" anchor="ctr"/>
          <a:lstStyle/>
          <a:p>
            <a:pPr marL="0" indent="0">
              <a:buNone/>
            </a:pPr>
            <a:r>
              <a:rPr lang="en-US" sz="1550" b="1" dirty="0">
                <a:solidFill>
                  <a:srgbClr val="1E2761"/>
                </a:solidFill>
                <a:latin typeface="Calibri" pitchFamily="34" charset="0"/>
                <a:ea typeface="Calibri" pitchFamily="34" charset="-122"/>
                <a:cs typeface="Calibri" pitchFamily="34" charset="-120"/>
              </a:rPr>
              <a:t>Enrich segmentation beyond ARPU</a:t>
            </a:r>
            <a:endParaRPr lang="en-US" sz="1550" dirty="0"/>
          </a:p>
        </p:txBody>
      </p:sp>
      <p:sp>
        <p:nvSpPr>
          <p:cNvPr id="13" name="Text 11"/>
          <p:cNvSpPr/>
          <p:nvPr/>
        </p:nvSpPr>
        <p:spPr>
          <a:xfrm>
            <a:off x="4572000" y="3566160"/>
            <a:ext cx="3108960" cy="2194560"/>
          </a:xfrm>
          <a:prstGeom prst="rect">
            <a:avLst/>
          </a:prstGeom>
          <a:noFill/>
          <a:ln/>
        </p:spPr>
        <p:txBody>
          <a:bodyPr wrap="square" lIns="0" tIns="0" rIns="0" bIns="0" rtlCol="0" anchor="ctr"/>
          <a:lstStyle/>
          <a:p>
            <a:pPr marL="0" indent="0">
              <a:buNone/>
            </a:pPr>
            <a:r>
              <a:rPr lang="en-US" sz="1150" dirty="0">
                <a:solidFill>
                  <a:srgbClr val="5A6478"/>
                </a:solidFill>
                <a:latin typeface="Calibri" pitchFamily="34" charset="0"/>
                <a:ea typeface="Calibri" pitchFamily="34" charset="-122"/>
                <a:cs typeface="Calibri" pitchFamily="34" charset="-120"/>
              </a:rPr>
              <a:t>Add device generation, preferred purchase channel, and region — all confirmed significant, all already in Airtel's existing tables. Zero new data collection cost.</a:t>
            </a:r>
            <a:endParaRPr lang="en-US" sz="1150" dirty="0"/>
          </a:p>
        </p:txBody>
      </p:sp>
      <p:sp>
        <p:nvSpPr>
          <p:cNvPr id="14" name="Shape 12"/>
          <p:cNvSpPr/>
          <p:nvPr/>
        </p:nvSpPr>
        <p:spPr>
          <a:xfrm>
            <a:off x="8138160" y="1645920"/>
            <a:ext cx="3566160" cy="4297680"/>
          </a:xfrm>
          <a:prstGeom prst="roundRect">
            <a:avLst>
              <a:gd name="adj" fmla="val 2051"/>
            </a:avLst>
          </a:prstGeom>
          <a:solidFill>
            <a:srgbClr val="F4F7FE"/>
          </a:solidFill>
          <a:ln/>
        </p:spPr>
      </p:sp>
      <p:sp>
        <p:nvSpPr>
          <p:cNvPr id="15" name="Shape 13"/>
          <p:cNvSpPr/>
          <p:nvPr/>
        </p:nvSpPr>
        <p:spPr>
          <a:xfrm>
            <a:off x="8366760" y="1874520"/>
            <a:ext cx="566928" cy="566928"/>
          </a:xfrm>
          <a:prstGeom prst="ellipse">
            <a:avLst/>
          </a:prstGeom>
          <a:solidFill>
            <a:srgbClr val="E40000"/>
          </a:solidFill>
          <a:ln/>
        </p:spPr>
      </p:sp>
      <p:sp>
        <p:nvSpPr>
          <p:cNvPr id="16" name="Text 14"/>
          <p:cNvSpPr/>
          <p:nvPr/>
        </p:nvSpPr>
        <p:spPr>
          <a:xfrm>
            <a:off x="8366760" y="1874520"/>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7" name="Text 15"/>
          <p:cNvSpPr/>
          <p:nvPr/>
        </p:nvSpPr>
        <p:spPr>
          <a:xfrm>
            <a:off x="8366760" y="2651760"/>
            <a:ext cx="3108960" cy="868680"/>
          </a:xfrm>
          <a:prstGeom prst="rect">
            <a:avLst/>
          </a:prstGeom>
          <a:noFill/>
          <a:ln/>
        </p:spPr>
        <p:txBody>
          <a:bodyPr wrap="square" lIns="0" tIns="0" rIns="0" bIns="0" rtlCol="0" anchor="ctr"/>
          <a:lstStyle/>
          <a:p>
            <a:pPr marL="0" indent="0">
              <a:buNone/>
            </a:pPr>
            <a:r>
              <a:rPr lang="en-US" sz="1550" b="1" dirty="0">
                <a:solidFill>
                  <a:srgbClr val="1E2761"/>
                </a:solidFill>
                <a:latin typeface="Calibri" pitchFamily="34" charset="0"/>
                <a:ea typeface="Calibri" pitchFamily="34" charset="-122"/>
                <a:cs typeface="Calibri" pitchFamily="34" charset="-120"/>
              </a:rPr>
              <a:t>Formal A/B test + model governance</a:t>
            </a:r>
            <a:endParaRPr lang="en-US" sz="1550" dirty="0"/>
          </a:p>
        </p:txBody>
      </p:sp>
      <p:sp>
        <p:nvSpPr>
          <p:cNvPr id="18" name="Text 16"/>
          <p:cNvSpPr/>
          <p:nvPr/>
        </p:nvSpPr>
        <p:spPr>
          <a:xfrm>
            <a:off x="8366760" y="3566160"/>
            <a:ext cx="3108960" cy="2194560"/>
          </a:xfrm>
          <a:prstGeom prst="rect">
            <a:avLst/>
          </a:prstGeom>
          <a:noFill/>
          <a:ln/>
        </p:spPr>
        <p:txBody>
          <a:bodyPr wrap="square" lIns="0" tIns="0" rIns="0" bIns="0" rtlCol="0" anchor="ctr"/>
          <a:lstStyle/>
          <a:p>
            <a:pPr marL="0" indent="0">
              <a:buNone/>
            </a:pPr>
            <a:r>
              <a:rPr lang="en-US" sz="1150" dirty="0">
                <a:solidFill>
                  <a:srgbClr val="5A6478"/>
                </a:solidFill>
                <a:latin typeface="Calibri" pitchFamily="34" charset="0"/>
                <a:ea typeface="Calibri" pitchFamily="34" charset="-122"/>
                <a:cs typeface="Calibri" pitchFamily="34" charset="-120"/>
              </a:rPr>
              <a:t>Randomised treatment/control over 90 days in Kampala &amp; Central; weekly F1 monitoring vs 0.661 baseline; quarterly retraining; closed-loop outcome logging.</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320040"/>
          </a:xfrm>
          <a:prstGeom prst="rect">
            <a:avLst/>
          </a:prstGeom>
          <a:noFill/>
          <a:ln/>
        </p:spPr>
        <p:txBody>
          <a:bodyPr wrap="square" lIns="0" tIns="0" rIns="0" bIns="0" rtlCol="0" anchor="ctr"/>
          <a:lstStyle/>
          <a:p>
            <a:pPr marL="0" indent="0">
              <a:buNone/>
            </a:pPr>
            <a:r>
              <a:rPr lang="en-US" sz="1200" b="1" kern="0" spc="200" dirty="0">
                <a:solidFill>
                  <a:srgbClr val="E40000"/>
                </a:solidFill>
                <a:latin typeface="Calibri" pitchFamily="34" charset="0"/>
                <a:ea typeface="Calibri" pitchFamily="34" charset="-122"/>
                <a:cs typeface="Calibri" pitchFamily="34" charset="-120"/>
              </a:rPr>
              <a:t>10 · LIMITATIONS</a:t>
            </a:r>
            <a:endParaRPr lang="en-US" sz="12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Limitations — Stated Openly</a:t>
            </a:r>
            <a:endParaRPr lang="en-US" sz="3000" dirty="0"/>
          </a:p>
        </p:txBody>
      </p:sp>
      <p:sp>
        <p:nvSpPr>
          <p:cNvPr id="4" name="Shape 2"/>
          <p:cNvSpPr/>
          <p:nvPr/>
        </p:nvSpPr>
        <p:spPr>
          <a:xfrm>
            <a:off x="548640" y="1691640"/>
            <a:ext cx="5394960" cy="1920240"/>
          </a:xfrm>
          <a:prstGeom prst="roundRect">
            <a:avLst>
              <a:gd name="adj" fmla="val 3810"/>
            </a:avLst>
          </a:prstGeom>
          <a:solidFill>
            <a:srgbClr val="F4F7FE"/>
          </a:solidFill>
          <a:ln/>
        </p:spPr>
      </p:sp>
      <p:sp>
        <p:nvSpPr>
          <p:cNvPr id="5" name="Text 3"/>
          <p:cNvSpPr/>
          <p:nvPr/>
        </p:nvSpPr>
        <p:spPr>
          <a:xfrm>
            <a:off x="822960" y="1874520"/>
            <a:ext cx="4846320" cy="457200"/>
          </a:xfrm>
          <a:prstGeom prst="rect">
            <a:avLst/>
          </a:prstGeom>
          <a:noFill/>
          <a:ln/>
        </p:spPr>
        <p:txBody>
          <a:bodyPr wrap="square" lIns="0" tIns="0" rIns="0" bIns="0" rtlCol="0" anchor="ctr"/>
          <a:lstStyle/>
          <a:p>
            <a:pPr marL="0" indent="0">
              <a:buNone/>
            </a:pPr>
            <a:r>
              <a:rPr lang="en-US" sz="1500" b="1" dirty="0">
                <a:solidFill>
                  <a:srgbClr val="E40000"/>
                </a:solidFill>
                <a:latin typeface="Calibri" pitchFamily="34" charset="0"/>
                <a:ea typeface="Calibri" pitchFamily="34" charset="-122"/>
                <a:cs typeface="Calibri" pitchFamily="34" charset="-120"/>
              </a:rPr>
              <a:t>Extreme class imbalance</a:t>
            </a:r>
            <a:endParaRPr lang="en-US" sz="1500" dirty="0"/>
          </a:p>
        </p:txBody>
      </p:sp>
      <p:sp>
        <p:nvSpPr>
          <p:cNvPr id="6" name="Text 4"/>
          <p:cNvSpPr/>
          <p:nvPr/>
        </p:nvSpPr>
        <p:spPr>
          <a:xfrm>
            <a:off x="822960" y="2350008"/>
            <a:ext cx="4892040" cy="1188720"/>
          </a:xfrm>
          <a:prstGeom prst="rect">
            <a:avLst/>
          </a:prstGeom>
          <a:noFill/>
          <a:ln/>
        </p:spPr>
        <p:txBody>
          <a:bodyPr wrap="square" lIns="0" tIns="0" rIns="0" bIns="0" rtlCol="0" anchor="ctr"/>
          <a:lstStyle/>
          <a:p>
            <a:pPr marL="0" indent="0">
              <a:buNone/>
            </a:pPr>
            <a:r>
              <a:rPr lang="en-US" sz="1200" dirty="0">
                <a:solidFill>
                  <a:srgbClr val="5A6478"/>
                </a:solidFill>
                <a:latin typeface="Calibri" pitchFamily="34" charset="0"/>
                <a:ea typeface="Calibri" pitchFamily="34" charset="-122"/>
                <a:cs typeface="Calibri" pitchFamily="34" charset="-120"/>
              </a:rPr>
              <a:t>Diamond n=34 vs Silver n=776,970. Minority-class F1 (Ivory 0.33) trails majority (Silver 0.79) despite capped SMOTE.</a:t>
            </a:r>
            <a:endParaRPr lang="en-US" sz="1200" dirty="0"/>
          </a:p>
        </p:txBody>
      </p:sp>
      <p:sp>
        <p:nvSpPr>
          <p:cNvPr id="7" name="Shape 5"/>
          <p:cNvSpPr/>
          <p:nvPr/>
        </p:nvSpPr>
        <p:spPr>
          <a:xfrm>
            <a:off x="6217920" y="1691640"/>
            <a:ext cx="5394960" cy="1920240"/>
          </a:xfrm>
          <a:prstGeom prst="roundRect">
            <a:avLst>
              <a:gd name="adj" fmla="val 3810"/>
            </a:avLst>
          </a:prstGeom>
          <a:solidFill>
            <a:srgbClr val="F4F7FE"/>
          </a:solidFill>
          <a:ln/>
        </p:spPr>
      </p:sp>
      <p:sp>
        <p:nvSpPr>
          <p:cNvPr id="8" name="Text 6"/>
          <p:cNvSpPr/>
          <p:nvPr/>
        </p:nvSpPr>
        <p:spPr>
          <a:xfrm>
            <a:off x="6492240" y="1874520"/>
            <a:ext cx="4846320" cy="457200"/>
          </a:xfrm>
          <a:prstGeom prst="rect">
            <a:avLst/>
          </a:prstGeom>
          <a:noFill/>
          <a:ln/>
        </p:spPr>
        <p:txBody>
          <a:bodyPr wrap="square" lIns="0" tIns="0" rIns="0" bIns="0" rtlCol="0" anchor="ctr"/>
          <a:lstStyle/>
          <a:p>
            <a:pPr marL="0" indent="0">
              <a:buNone/>
            </a:pPr>
            <a:r>
              <a:rPr lang="en-US" sz="1500" b="1" dirty="0">
                <a:solidFill>
                  <a:srgbClr val="E40000"/>
                </a:solidFill>
                <a:latin typeface="Calibri" pitchFamily="34" charset="0"/>
                <a:ea typeface="Calibri" pitchFamily="34" charset="-122"/>
                <a:cs typeface="Calibri" pitchFamily="34" charset="-120"/>
              </a:rPr>
              <a:t>Bundle catalogue mismatch</a:t>
            </a:r>
            <a:endParaRPr lang="en-US" sz="1500" dirty="0"/>
          </a:p>
        </p:txBody>
      </p:sp>
      <p:sp>
        <p:nvSpPr>
          <p:cNvPr id="9" name="Text 7"/>
          <p:cNvSpPr/>
          <p:nvPr/>
        </p:nvSpPr>
        <p:spPr>
          <a:xfrm>
            <a:off x="6492240" y="2350008"/>
            <a:ext cx="4892040" cy="1188720"/>
          </a:xfrm>
          <a:prstGeom prst="rect">
            <a:avLst/>
          </a:prstGeom>
          <a:noFill/>
          <a:ln/>
        </p:spPr>
        <p:txBody>
          <a:bodyPr wrap="square" lIns="0" tIns="0" rIns="0" bIns="0" rtlCol="0" anchor="ctr"/>
          <a:lstStyle/>
          <a:p>
            <a:pPr marL="0" indent="0">
              <a:buNone/>
            </a:pPr>
            <a:r>
              <a:rPr lang="en-US" sz="1200" dirty="0">
                <a:solidFill>
                  <a:srgbClr val="5A6478"/>
                </a:solidFill>
                <a:latin typeface="Calibri" pitchFamily="34" charset="0"/>
                <a:ea typeface="Calibri" pitchFamily="34" charset="-122"/>
                <a:cs typeface="Calibri" pitchFamily="34" charset="-120"/>
              </a:rPr>
              <a:t>267 of 738 bundle IDs matched purchase records — retired/promo bundles missing from current catalogue. Fix: historical catalogue join.</a:t>
            </a:r>
            <a:endParaRPr lang="en-US" sz="1200" dirty="0"/>
          </a:p>
        </p:txBody>
      </p:sp>
      <p:sp>
        <p:nvSpPr>
          <p:cNvPr id="10" name="Shape 8"/>
          <p:cNvSpPr/>
          <p:nvPr/>
        </p:nvSpPr>
        <p:spPr>
          <a:xfrm>
            <a:off x="548640" y="3840480"/>
            <a:ext cx="5394960" cy="1920240"/>
          </a:xfrm>
          <a:prstGeom prst="roundRect">
            <a:avLst>
              <a:gd name="adj" fmla="val 3810"/>
            </a:avLst>
          </a:prstGeom>
          <a:solidFill>
            <a:srgbClr val="F4F7FE"/>
          </a:solidFill>
          <a:ln/>
        </p:spPr>
      </p:sp>
      <p:sp>
        <p:nvSpPr>
          <p:cNvPr id="11" name="Text 9"/>
          <p:cNvSpPr/>
          <p:nvPr/>
        </p:nvSpPr>
        <p:spPr>
          <a:xfrm>
            <a:off x="822960" y="4023360"/>
            <a:ext cx="4846320" cy="457200"/>
          </a:xfrm>
          <a:prstGeom prst="rect">
            <a:avLst/>
          </a:prstGeom>
          <a:noFill/>
          <a:ln/>
        </p:spPr>
        <p:txBody>
          <a:bodyPr wrap="square" lIns="0" tIns="0" rIns="0" bIns="0" rtlCol="0" anchor="ctr"/>
          <a:lstStyle/>
          <a:p>
            <a:pPr marL="0" indent="0">
              <a:buNone/>
            </a:pPr>
            <a:r>
              <a:rPr lang="en-US" sz="1500" b="1" dirty="0">
                <a:solidFill>
                  <a:srgbClr val="E40000"/>
                </a:solidFill>
                <a:latin typeface="Calibri" pitchFamily="34" charset="0"/>
                <a:ea typeface="Calibri" pitchFamily="34" charset="-122"/>
                <a:cs typeface="Calibri" pitchFamily="34" charset="-120"/>
              </a:rPr>
              <a:t>Geographic scope</a:t>
            </a:r>
            <a:endParaRPr lang="en-US" sz="1500" dirty="0"/>
          </a:p>
        </p:txBody>
      </p:sp>
      <p:sp>
        <p:nvSpPr>
          <p:cNvPr id="12" name="Text 10"/>
          <p:cNvSpPr/>
          <p:nvPr/>
        </p:nvSpPr>
        <p:spPr>
          <a:xfrm>
            <a:off x="822960" y="4498848"/>
            <a:ext cx="4892040" cy="1188720"/>
          </a:xfrm>
          <a:prstGeom prst="rect">
            <a:avLst/>
          </a:prstGeom>
          <a:noFill/>
          <a:ln/>
        </p:spPr>
        <p:txBody>
          <a:bodyPr wrap="square" lIns="0" tIns="0" rIns="0" bIns="0" rtlCol="0" anchor="ctr"/>
          <a:lstStyle/>
          <a:p>
            <a:pPr marL="0" indent="0">
              <a:buNone/>
            </a:pPr>
            <a:r>
              <a:rPr lang="en-US" sz="1200" dirty="0">
                <a:solidFill>
                  <a:srgbClr val="5A6478"/>
                </a:solidFill>
                <a:latin typeface="Calibri" pitchFamily="34" charset="0"/>
                <a:ea typeface="Calibri" pitchFamily="34" charset="-122"/>
                <a:cs typeface="Calibri" pitchFamily="34" charset="-120"/>
              </a:rPr>
              <a:t>Kampala + Central regions only — rural behaviour may differ; national generalisation untested.</a:t>
            </a:r>
            <a:endParaRPr lang="en-US" sz="1200" dirty="0"/>
          </a:p>
        </p:txBody>
      </p:sp>
      <p:sp>
        <p:nvSpPr>
          <p:cNvPr id="13" name="Shape 11"/>
          <p:cNvSpPr/>
          <p:nvPr/>
        </p:nvSpPr>
        <p:spPr>
          <a:xfrm>
            <a:off x="6217920" y="3840480"/>
            <a:ext cx="5394960" cy="1920240"/>
          </a:xfrm>
          <a:prstGeom prst="roundRect">
            <a:avLst>
              <a:gd name="adj" fmla="val 3810"/>
            </a:avLst>
          </a:prstGeom>
          <a:solidFill>
            <a:srgbClr val="F4F7FE"/>
          </a:solidFill>
          <a:ln/>
        </p:spPr>
      </p:sp>
      <p:sp>
        <p:nvSpPr>
          <p:cNvPr id="14" name="Text 12"/>
          <p:cNvSpPr/>
          <p:nvPr/>
        </p:nvSpPr>
        <p:spPr>
          <a:xfrm>
            <a:off x="6492240" y="4023360"/>
            <a:ext cx="4846320" cy="457200"/>
          </a:xfrm>
          <a:prstGeom prst="rect">
            <a:avLst/>
          </a:prstGeom>
          <a:noFill/>
          <a:ln/>
        </p:spPr>
        <p:txBody>
          <a:bodyPr wrap="square" lIns="0" tIns="0" rIns="0" bIns="0" rtlCol="0" anchor="ctr"/>
          <a:lstStyle/>
          <a:p>
            <a:pPr marL="0" indent="0">
              <a:buNone/>
            </a:pPr>
            <a:r>
              <a:rPr lang="en-US" sz="1500" b="1" dirty="0">
                <a:solidFill>
                  <a:srgbClr val="E40000"/>
                </a:solidFill>
                <a:latin typeface="Calibri" pitchFamily="34" charset="0"/>
                <a:ea typeface="Calibri" pitchFamily="34" charset="-122"/>
                <a:cs typeface="Calibri" pitchFamily="34" charset="-120"/>
              </a:rPr>
              <a:t>No live deployment yet</a:t>
            </a:r>
            <a:endParaRPr lang="en-US" sz="1500" dirty="0"/>
          </a:p>
        </p:txBody>
      </p:sp>
      <p:sp>
        <p:nvSpPr>
          <p:cNvPr id="15" name="Text 13"/>
          <p:cNvSpPr/>
          <p:nvPr/>
        </p:nvSpPr>
        <p:spPr>
          <a:xfrm>
            <a:off x="6492240" y="4498848"/>
            <a:ext cx="4892040" cy="1188720"/>
          </a:xfrm>
          <a:prstGeom prst="rect">
            <a:avLst/>
          </a:prstGeom>
          <a:noFill/>
          <a:ln/>
        </p:spPr>
        <p:txBody>
          <a:bodyPr wrap="square" lIns="0" tIns="0" rIns="0" bIns="0" rtlCol="0" anchor="ctr"/>
          <a:lstStyle/>
          <a:p>
            <a:pPr marL="0" indent="0">
              <a:buNone/>
            </a:pPr>
            <a:r>
              <a:rPr lang="en-US" sz="1200" dirty="0">
                <a:solidFill>
                  <a:srgbClr val="5A6478"/>
                </a:solidFill>
                <a:latin typeface="Calibri" pitchFamily="34" charset="0"/>
                <a:ea typeface="Calibri" pitchFamily="34" charset="-122"/>
                <a:cs typeface="Calibri" pitchFamily="34" charset="-120"/>
              </a:rPr>
              <a:t>Impact figures are projections from hold-out precision + external benchmarks; the A/B test is the confirmatory step.</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731520" y="502920"/>
            <a:ext cx="10058400" cy="320040"/>
          </a:xfrm>
          <a:prstGeom prst="rect">
            <a:avLst/>
          </a:prstGeom>
          <a:noFill/>
          <a:ln/>
        </p:spPr>
        <p:txBody>
          <a:bodyPr wrap="square" lIns="0" tIns="0" rIns="0" bIns="0" rtlCol="0" anchor="ctr"/>
          <a:lstStyle/>
          <a:p>
            <a:pPr marL="0" indent="0">
              <a:buNone/>
            </a:pPr>
            <a:r>
              <a:rPr lang="en-US" sz="1200" b="1" kern="0" spc="200" dirty="0">
                <a:solidFill>
                  <a:srgbClr val="E40000"/>
                </a:solidFill>
                <a:latin typeface="Calibri" pitchFamily="34" charset="0"/>
                <a:ea typeface="Calibri" pitchFamily="34" charset="-122"/>
                <a:cs typeface="Calibri" pitchFamily="34" charset="-120"/>
              </a:rPr>
              <a:t>11 · CONTRIBUTION</a:t>
            </a:r>
            <a:endParaRPr lang="en-US" sz="1200" dirty="0"/>
          </a:p>
        </p:txBody>
      </p:sp>
      <p:sp>
        <p:nvSpPr>
          <p:cNvPr id="3" name="Text 1"/>
          <p:cNvSpPr/>
          <p:nvPr/>
        </p:nvSpPr>
        <p:spPr>
          <a:xfrm>
            <a:off x="731520" y="960120"/>
            <a:ext cx="10698480" cy="137160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The first empirically validated ML bundle recommendation framework built on real Ugandan telecom data</a:t>
            </a:r>
            <a:endParaRPr lang="en-US" sz="2800" dirty="0"/>
          </a:p>
        </p:txBody>
      </p:sp>
      <p:sp>
        <p:nvSpPr>
          <p:cNvPr id="4" name="Text 2"/>
          <p:cNvSpPr/>
          <p:nvPr/>
        </p:nvSpPr>
        <p:spPr>
          <a:xfrm>
            <a:off x="731520" y="2606040"/>
            <a:ext cx="5303520" cy="548640"/>
          </a:xfrm>
          <a:prstGeom prst="rect">
            <a:avLst/>
          </a:prstGeom>
          <a:noFill/>
          <a:ln/>
        </p:spPr>
        <p:txBody>
          <a:bodyPr wrap="square" lIns="0" tIns="0" rIns="0" bIns="0" rtlCol="0" anchor="ctr"/>
          <a:lstStyle/>
          <a:p>
            <a:pPr marL="0" indent="0">
              <a:buNone/>
            </a:pPr>
            <a:r>
              <a:rPr lang="en-US" sz="2400" b="1" dirty="0">
                <a:solidFill>
                  <a:srgbClr val="E40000"/>
                </a:solidFill>
                <a:latin typeface="Cambria" pitchFamily="34" charset="0"/>
                <a:ea typeface="Cambria" pitchFamily="34" charset="-122"/>
                <a:cs typeface="Cambria" pitchFamily="34" charset="-120"/>
              </a:rPr>
              <a:t>1.46M</a:t>
            </a:r>
            <a:endParaRPr lang="en-US" sz="2400" dirty="0"/>
          </a:p>
        </p:txBody>
      </p:sp>
      <p:sp>
        <p:nvSpPr>
          <p:cNvPr id="5" name="Text 3"/>
          <p:cNvSpPr/>
          <p:nvPr/>
        </p:nvSpPr>
        <p:spPr>
          <a:xfrm>
            <a:off x="731520" y="3172968"/>
            <a:ext cx="5303520" cy="68580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real subscribers — not synthetic, not public benchmarks</a:t>
            </a:r>
            <a:endParaRPr lang="en-US" sz="1300" dirty="0"/>
          </a:p>
        </p:txBody>
      </p:sp>
      <p:sp>
        <p:nvSpPr>
          <p:cNvPr id="6" name="Text 4"/>
          <p:cNvSpPr/>
          <p:nvPr/>
        </p:nvSpPr>
        <p:spPr>
          <a:xfrm>
            <a:off x="6309360" y="2606040"/>
            <a:ext cx="5303520" cy="548640"/>
          </a:xfrm>
          <a:prstGeom prst="rect">
            <a:avLst/>
          </a:prstGeom>
          <a:noFill/>
          <a:ln/>
        </p:spPr>
        <p:txBody>
          <a:bodyPr wrap="square" lIns="0" tIns="0" rIns="0" bIns="0" rtlCol="0" anchor="ctr"/>
          <a:lstStyle/>
          <a:p>
            <a:pPr marL="0" indent="0">
              <a:buNone/>
            </a:pPr>
            <a:r>
              <a:rPr lang="en-US" sz="2400" b="1" dirty="0">
                <a:solidFill>
                  <a:srgbClr val="E40000"/>
                </a:solidFill>
                <a:latin typeface="Cambria" pitchFamily="34" charset="0"/>
                <a:ea typeface="Cambria" pitchFamily="34" charset="-122"/>
                <a:cs typeface="Cambria" pitchFamily="34" charset="-120"/>
              </a:rPr>
              <a:t>SPEND_PER_MINUTE</a:t>
            </a:r>
            <a:endParaRPr lang="en-US" sz="2400" dirty="0"/>
          </a:p>
        </p:txBody>
      </p:sp>
      <p:sp>
        <p:nvSpPr>
          <p:cNvPr id="7" name="Text 5"/>
          <p:cNvSpPr/>
          <p:nvPr/>
        </p:nvSpPr>
        <p:spPr>
          <a:xfrm>
            <a:off x="6309360" y="3172968"/>
            <a:ext cx="5303520" cy="68580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novel efficiency signal that outranks raw activity — challenges ARPU banding</a:t>
            </a:r>
            <a:endParaRPr lang="en-US" sz="1300" dirty="0"/>
          </a:p>
        </p:txBody>
      </p:sp>
      <p:sp>
        <p:nvSpPr>
          <p:cNvPr id="8" name="Text 6"/>
          <p:cNvSpPr/>
          <p:nvPr/>
        </p:nvSpPr>
        <p:spPr>
          <a:xfrm>
            <a:off x="731520" y="4160520"/>
            <a:ext cx="5303520" cy="548640"/>
          </a:xfrm>
          <a:prstGeom prst="rect">
            <a:avLst/>
          </a:prstGeom>
          <a:noFill/>
          <a:ln/>
        </p:spPr>
        <p:txBody>
          <a:bodyPr wrap="square" lIns="0" tIns="0" rIns="0" bIns="0" rtlCol="0" anchor="ctr"/>
          <a:lstStyle/>
          <a:p>
            <a:pPr marL="0" indent="0">
              <a:buNone/>
            </a:pPr>
            <a:r>
              <a:rPr lang="en-US" sz="2400" b="1" dirty="0">
                <a:solidFill>
                  <a:srgbClr val="E40000"/>
                </a:solidFill>
                <a:latin typeface="Cambria" pitchFamily="34" charset="0"/>
                <a:ea typeface="Cambria" pitchFamily="34" charset="-122"/>
                <a:cs typeface="Cambria" pitchFamily="34" charset="-120"/>
              </a:rPr>
              <a:t>F1 = 0.661</a:t>
            </a:r>
            <a:endParaRPr lang="en-US" sz="2400" dirty="0"/>
          </a:p>
        </p:txBody>
      </p:sp>
      <p:sp>
        <p:nvSpPr>
          <p:cNvPr id="9" name="Text 7"/>
          <p:cNvSpPr/>
          <p:nvPr/>
        </p:nvSpPr>
        <p:spPr>
          <a:xfrm>
            <a:off x="731520" y="4727448"/>
            <a:ext cx="5303520" cy="68580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8-class XGBoost, 5.4× over random — full code open on GitHub</a:t>
            </a:r>
            <a:endParaRPr lang="en-US" sz="1300" dirty="0"/>
          </a:p>
        </p:txBody>
      </p:sp>
      <p:sp>
        <p:nvSpPr>
          <p:cNvPr id="10" name="Text 8"/>
          <p:cNvSpPr/>
          <p:nvPr/>
        </p:nvSpPr>
        <p:spPr>
          <a:xfrm>
            <a:off x="6309360" y="4160520"/>
            <a:ext cx="5303520" cy="548640"/>
          </a:xfrm>
          <a:prstGeom prst="rect">
            <a:avLst/>
          </a:prstGeom>
          <a:noFill/>
          <a:ln/>
        </p:spPr>
        <p:txBody>
          <a:bodyPr wrap="square" lIns="0" tIns="0" rIns="0" bIns="0" rtlCol="0" anchor="ctr"/>
          <a:lstStyle/>
          <a:p>
            <a:pPr marL="0" indent="0">
              <a:buNone/>
            </a:pPr>
            <a:r>
              <a:rPr lang="en-US" sz="2400" b="1" dirty="0">
                <a:solidFill>
                  <a:srgbClr val="E40000"/>
                </a:solidFill>
                <a:latin typeface="Cambria" pitchFamily="34" charset="0"/>
                <a:ea typeface="Cambria" pitchFamily="34" charset="-122"/>
                <a:cs typeface="Cambria" pitchFamily="34" charset="-120"/>
              </a:rPr>
              <a:t>Deployable</a:t>
            </a:r>
            <a:endParaRPr lang="en-US" sz="2400" dirty="0"/>
          </a:p>
        </p:txBody>
      </p:sp>
      <p:sp>
        <p:nvSpPr>
          <p:cNvPr id="11" name="Text 9"/>
          <p:cNvSpPr/>
          <p:nvPr/>
        </p:nvSpPr>
        <p:spPr>
          <a:xfrm>
            <a:off x="6309360" y="4727448"/>
            <a:ext cx="5303520" cy="68580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real-time trigger design using signals Airtel already collects</a:t>
            </a:r>
            <a:endParaRPr lang="en-US" sz="1300" dirty="0"/>
          </a:p>
        </p:txBody>
      </p:sp>
      <p:sp>
        <p:nvSpPr>
          <p:cNvPr id="12" name="Text 10"/>
          <p:cNvSpPr/>
          <p:nvPr/>
        </p:nvSpPr>
        <p:spPr>
          <a:xfrm>
            <a:off x="731520" y="5989320"/>
            <a:ext cx="10058400" cy="457200"/>
          </a:xfrm>
          <a:prstGeom prst="rect">
            <a:avLst/>
          </a:prstGeom>
          <a:noFill/>
          <a:ln/>
        </p:spPr>
        <p:txBody>
          <a:bodyPr wrap="square" lIns="0" tIns="0" rIns="0" bIns="0" rtlCol="0" anchor="ctr"/>
          <a:lstStyle/>
          <a:p>
            <a:pPr marL="0" indent="0">
              <a:buNone/>
            </a:pPr>
            <a:r>
              <a:rPr lang="en-US" sz="1700" i="1" dirty="0">
                <a:solidFill>
                  <a:srgbClr val="FFFFFF"/>
                </a:solidFill>
                <a:latin typeface="Calibri" pitchFamily="34" charset="0"/>
                <a:ea typeface="Calibri" pitchFamily="34" charset="-122"/>
                <a:cs typeface="Calibri" pitchFamily="34" charset="-120"/>
              </a:rPr>
              <a:t>Thank you. I welcome the panel's questions.</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844</TotalTime>
  <Words>1857</Words>
  <Application>Microsoft Macintosh PowerPoint</Application>
  <PresentationFormat>Widescreen</PresentationFormat>
  <Paragraphs>179</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Microsoft Office User</cp:lastModifiedBy>
  <cp:revision>2</cp:revision>
  <dcterms:created xsi:type="dcterms:W3CDTF">2026-07-21T00:37:08Z</dcterms:created>
  <dcterms:modified xsi:type="dcterms:W3CDTF">2026-07-21T14:50:11Z</dcterms:modified>
</cp:coreProperties>
</file>